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4" d="100"/>
          <a:sy n="144" d="100"/>
        </p:scale>
        <p:origin x="65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0944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a todos. Hoy vamos a hablar de cómo la confianza digital puede ser más que una promesa. Les presentamos NextAgent, una herramienta que les permite crear su propio Agente de IA Verificable sin escribir una sola línea de código. Con NextAgent, estamos democratizando la capacidad de construir agentes de IA que no solo son inteligentes, sino también confiables. Esto es crucial en un mundo donde la interacción con la inteligencia artificial es cada vez más común.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empezar, quiero hacerles una pregunta directa: ¿en quién confían cuando chatean con un bot? El problema principal hoy es que la mayoría de los bots son anónimos e inverificables. Un bot puede hacerse pasar por un banco o una clínica sin ninguna prueba de legitimidad, dejando al usuario sin saber quién está detrás o qué harán con sus datos. Crear un agente confiable hoy exige un conocimiento técnico muy profundo, una barrera enorme para la mayoría. La confianza en agentes de IA no debería ser ciega; debería ser verificable. Y esto nos lleva a la solución que proponemos.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NextAgent entra en juego, democratizando la confianza para cualquier agente de IA con un solo clic. Con nuestra plataforma, cualquier persona puede crear, configurar y publicar su propio Agente de IA verificable en menos de 10 minutos, sin necesidad de escribir código. Esto significa que el agente tiene su propia identidad digital verificable, una credencial firmada por EAFIT que valida su legitimidad, y todas las conversaciones están protegidas con comunicación cifrada. Imaginen a un plomero que crea su agente en 10 minutos; sus clientes pueden escanear un código QR, chatear en Hologram y verificar que ese agente es legítimo antes de compartir cualquier información. Pero, ¿cómo logramos esto? La respuesta está en nuestra arquitectura.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arquitectura es el corazón de NextAgent, ocultando una complejidad técnica avanzada detrás de solo tres pasos simples para el usuario. Para la audiencia técnica, esto implica el uso de Kubernetes, Helm, DID y credencialización, todo orquestado por GitHub Actions. Pero para el usuario final, toda esa complejidad es invisible. Simplemente llenan un formulario visual para crear su agente, hacen clic en 'Publicar' para desplegarlo en Kubernetes y emitir la credencial, y luego comparten un código QR para que el agente sea verificable en Hologram. La clave es que la complejidad técnica se ejecuta automáticamente, pero la confianza permanece visible para el usuario final. Y esto nos lleva a cómo hacemos que estos agentes sean realmente útiles.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inteligencia artificial en NextAgent es útil, contextual y conectada, no es solo un chatbot genérico. Cada agente combina el poder del lenguaje natural con documentos propios y herramientas en tiempo real. Usamos GPT-4o-mini para interpretar instrucciones y generar respuestas naturales, pero lo complementamos con RAG, que permite al agente consultar documentos cargados por el usuario antes de responder. Por ejemplo, un médico puede subir su tarifario y el agente responderá con precios reales. Además, el MCP conecta herramientas externas en tiempo real, como Open-Meteo para el clima o Wikipedia para conocimiento general. La diferencia clave es que sin RAG, el bot sabe de todo pero no conoce tu negocio. Con RAG y MCP, el agente actúa sobre tu contexto y consulta el mundo real.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Hemos hablado de cómo un agente de IA puede ser útil y contextual; ahora, veamos los resultados concretos de NextAgent en producción. Pasamos de un proceso que tomaba horas de trabajo técnico especializado a uno que cualquier persona puede completar en solo diez minutos. Esto significa que la complejidad de la infraestructura, la credencialización y la conexión con Hologram están completamente automatizadas detrás de una interfaz accesible. La plataforma web está desplegada en EAFIT, con funcionalidades clave como el registro, la creación de agentes, la publicación automática en Kubernetes y la emisión de credenciales verificables, todo funcionando. Incluso las integraciones con clima y Wikipedia ya están operativas, y el CI/CD está automatizado. A continuación, les mostraremos esto en acción con una demostración en vivo.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hemos visto los resultados en producción, es momento de la demostración, porque ver es creer. En los próximos dos o tres minutos, les mostraré cómo un agente pasa de nuestra plataforma a una conversación verificable en Hologram. Abriremos la plataforma en producción, les mostraré el dashboard con los agentes creados, y luego nos enfocaremos en el agente Alice, viendo su estado, URL y el código QR. Escanearemos ese QR con Hologram desde mi teléfono, chatearemos en vivo preguntando sobre el clima o Wikipedia, y finalmente, les mostraré el distintivo de identidad verificable. Recuerden, todo lo que está detrás de la interfaz, como Kubernetes, Helm, DID y las credenciales criptográficas, ocurre automáticamente con un solo clic en 'Publicar'.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de ver la demo, es importante reflexionar sobre lo que aprendimos construyendo esta plataforma de confianza digital verificable. El verdadero reto no fue solo integrar tecnologías avanzadas, sino convertirlas en una experiencia usable, segura y reproducible para cualquier usuario. En el desarrollo web, dominamos React, Node.js y Express para crear una aplicación robusta con autenticación y APIs. En cuanto a Docker y el despliegue, aprendimos a crear contenedores trazables que pasan del desarrollo local a la producción sin problemas. También comprendimos a fondo el ciclo de DID, credenciales verificables y DIDComm, aplicándolo a agentes de IA reales. Finalmente, nuestro CI/CD con GitHub Actions, Kubernetes y Helm nos permitió automatizar todo el proceso de despliegue y verificación. Nuestro aprendizaje central es claro: la tecnología más avanzada pierde su valor si el usuario no puede usarla fácilmente.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obstáculo técnico que enfrentamos se convirtió en una oportunidad para fortalecer NextAgent. No vemos estos retos como fallas, sino como pruebas de fuego que hicieron nuestro producto más robusto. Por ejemplo, el tiempo de propagación del DID, que puede tardar varios minutos, lo resolvimos con un bucle de sondeo inteligente que espera pacientemente y notifica al usuario. Esto nos asegura que la credencial se emita correctamente. Otro desafío fue el bloqueo de Helm, que podía detener despliegues futuros. Implementamos una limpieza automática antes de cada despliegue, garantizando un proceso continuo y sin interrupciones. Estos ejemplos demuestran que los errores en producción nos enseñan mucho más que cualquier tutorial, haciendo que nuestro sistema sea más confiable. Y ahora, veamos cómo todo esto nos proyecta hacia el futuro.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visión para NextAgent es clara: queremos que publicar un agente de IA verificable sea tan sencillo como publicar una página web. A corto plazo, nos enfocaremos en completar el flujo base, incluyendo un QR de invitación OOB directo y la migración a una base de datos relacional para mayor escalabilidad. A mediano plazo, planeamos integrar métricas de uso y más herramientas externas, como CRM y WhatsApp, además de ofrecer soporte multi-organización. Y a largo plazo, imaginamos un marketplace de agentes verificables y una aplicación móvil para su gestión. Si logramos que cualquier profesional pueda tener su agente verificable en solo diez minutos, el ecosistema de Hologram y Verana podría crecer de decenas a miles de agentes. Este es el impacto potencial que buscamos.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NextAgent demuestra que la confianza digital no debería requerir un doctorado en tecnología. Hemos construido una plataforma donde la verificación es accesible para todos. Aquí tienen los enlaces clave para explorar la plataforma en vivo, revisar nuestro código fuente y chatear con el agente Alice. Queremos agradecer a la Beca IA Ser ANDI, NODO EAFIT y Verana Foundation por su apoyo. Estamos convencidos de que hemos construido una solución verificada por EAFIT y, sobre todo, construida con confianza. Ahora, estamos listos para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14350" y="1530688"/>
            <a:ext cx="4643438" cy="155377"/>
          </a:xfrm>
          <a:prstGeom prst="rect">
            <a:avLst/>
          </a:prstGeom>
          <a:noFill/>
          <a:ln/>
        </p:spPr>
        <p:txBody>
          <a:bodyPr wrap="square" lIns="0" tIns="0" rIns="0" bIns="0" rtlCol="0" anchor="t">
            <a:spAutoFit/>
          </a:bodyPr>
          <a:lstStyle/>
          <a:p>
            <a:pPr marL="0" indent="0" algn="l">
              <a:buNone/>
            </a:pPr>
            <a:r>
              <a:rPr lang="en-US" sz="900" b="1" kern="0" spc="3" dirty="0">
                <a:solidFill>
                  <a:srgbClr val="22E6A8"/>
                </a:solidFill>
                <a:latin typeface="Inter Bold" pitchFamily="34" charset="0"/>
                <a:ea typeface="Inter Bold" pitchFamily="34" charset="-122"/>
                <a:cs typeface="Inter Bold" pitchFamily="34" charset="-120"/>
              </a:rPr>
              <a:t>AGENTES IA VERIFICABLES</a:t>
            </a:r>
            <a:endParaRPr lang="en-US" sz="900" dirty="0"/>
          </a:p>
        </p:txBody>
      </p:sp>
      <p:sp>
        <p:nvSpPr>
          <p:cNvPr id="5" name="Text 1"/>
          <p:cNvSpPr/>
          <p:nvPr/>
        </p:nvSpPr>
        <p:spPr>
          <a:xfrm>
            <a:off x="514350" y="1871802"/>
            <a:ext cx="4643438" cy="565193"/>
          </a:xfrm>
          <a:prstGeom prst="rect">
            <a:avLst/>
          </a:prstGeom>
          <a:noFill/>
          <a:ln/>
        </p:spPr>
        <p:txBody>
          <a:bodyPr wrap="none" lIns="0" tIns="0" rIns="0" bIns="0" rtlCol="0" anchor="t">
            <a:spAutoFit/>
          </a:bodyPr>
          <a:lstStyle/>
          <a:p>
            <a:pPr marL="0" indent="0" algn="l">
              <a:lnSpc>
                <a:spcPct val="73600"/>
              </a:lnSpc>
              <a:buNone/>
            </a:pPr>
            <a:r>
              <a:rPr lang="en-US" sz="4450" b="1" kern="0" spc="-4" dirty="0">
                <a:solidFill>
                  <a:srgbClr val="E6FBFF"/>
                </a:solidFill>
                <a:latin typeface="Space Grotesk Bold" pitchFamily="34" charset="0"/>
                <a:ea typeface="Space Grotesk Bold" pitchFamily="34" charset="-122"/>
                <a:cs typeface="Space Grotesk Bold" pitchFamily="34" charset="-120"/>
              </a:rPr>
              <a:t>NextAgent</a:t>
            </a:r>
            <a:endParaRPr lang="en-US" sz="4450" dirty="0"/>
          </a:p>
        </p:txBody>
      </p:sp>
      <p:sp>
        <p:nvSpPr>
          <p:cNvPr id="6" name="Text 2"/>
          <p:cNvSpPr/>
          <p:nvPr/>
        </p:nvSpPr>
        <p:spPr>
          <a:xfrm>
            <a:off x="514350" y="2622733"/>
            <a:ext cx="4643438" cy="505755"/>
          </a:xfrm>
          <a:prstGeom prst="rect">
            <a:avLst/>
          </a:prstGeom>
          <a:noFill/>
          <a:ln/>
        </p:spPr>
        <p:txBody>
          <a:bodyPr wrap="square" lIns="0" tIns="0" rIns="0" bIns="0" rtlCol="0" anchor="t">
            <a:spAutoFit/>
          </a:bodyPr>
          <a:lstStyle/>
          <a:p>
            <a:pPr marL="0" indent="0" algn="l">
              <a:lnSpc>
                <a:spcPct val="94400"/>
              </a:lnSpc>
              <a:buNone/>
            </a:pPr>
            <a:r>
              <a:rPr lang="en-US" sz="1600" dirty="0">
                <a:solidFill>
                  <a:srgbClr val="B7C8D9"/>
                </a:solidFill>
                <a:latin typeface="Space Grotesk Medium" pitchFamily="34" charset="0"/>
                <a:ea typeface="Space Grotesk Medium" pitchFamily="34" charset="-122"/>
                <a:cs typeface="Space Grotesk Medium" pitchFamily="34" charset="-120"/>
              </a:rPr>
              <a:t>Crea tu propio Agente de IA Verificable — sin escribir una línea de código</a:t>
            </a:r>
            <a:endParaRPr lang="en-US" sz="1600" dirty="0"/>
          </a:p>
        </p:txBody>
      </p:sp>
      <p:sp>
        <p:nvSpPr>
          <p:cNvPr id="7" name="Text 3"/>
          <p:cNvSpPr/>
          <p:nvPr/>
        </p:nvSpPr>
        <p:spPr>
          <a:xfrm>
            <a:off x="514350" y="3685701"/>
            <a:ext cx="4643438" cy="398599"/>
          </a:xfrm>
          <a:prstGeom prst="rect">
            <a:avLst/>
          </a:prstGeom>
          <a:noFill/>
          <a:ln/>
        </p:spPr>
        <p:txBody>
          <a:bodyPr wrap="square" lIns="0" tIns="0" rIns="0" bIns="0" rtlCol="0" anchor="t">
            <a:spAutoFit/>
          </a:bodyPr>
          <a:lstStyle/>
          <a:p>
            <a:pPr marL="0" indent="0" algn="l">
              <a:lnSpc>
                <a:spcPct val="124000"/>
              </a:lnSpc>
              <a:buNone/>
            </a:pPr>
            <a:r>
              <a:rPr lang="en-US" sz="900" b="1" dirty="0">
                <a:solidFill>
                  <a:srgbClr val="E6FBFF"/>
                </a:solidFill>
                <a:latin typeface="Inter Bold" pitchFamily="34" charset="0"/>
                <a:ea typeface="Inter Bold" pitchFamily="34" charset="-122"/>
                <a:cs typeface="Inter Bold" pitchFamily="34" charset="-120"/>
              </a:rPr>
              <a:t>Oscar David Rojas Bedoya · Yesid Alejandro Peláez Posada</a:t>
            </a:r>
            <a:r>
              <a:rPr lang="en-US" sz="950" dirty="0">
                <a:solidFill>
                  <a:srgbClr val="B7C8D9"/>
                </a:solidFill>
                <a:latin typeface="Inter" pitchFamily="34" charset="0"/>
                <a:ea typeface="Inter" pitchFamily="34" charset="-122"/>
                <a:cs typeface="Inter" pitchFamily="34" charset="-120"/>
              </a:rPr>
              <a:t>
Beca IA Ser ANDI · NODO EAFIT · Verana Foundation · Mayo 2026</a:t>
            </a:r>
            <a:endParaRPr lang="en-US" sz="900" dirty="0"/>
          </a:p>
        </p:txBody>
      </p:sp>
      <p:sp>
        <p:nvSpPr>
          <p:cNvPr id="8" name="Shape 4"/>
          <p:cNvSpPr/>
          <p:nvPr/>
        </p:nvSpPr>
        <p:spPr>
          <a:xfrm>
            <a:off x="5704982" y="1243013"/>
            <a:ext cx="2571750" cy="3071813"/>
          </a:xfrm>
          <a:prstGeom prst="rect">
            <a:avLst/>
          </a:prstGeom>
          <a:solidFill>
            <a:srgbClr val="22E6A8">
              <a:alpha val="10000"/>
            </a:srgbClr>
          </a:solidFill>
          <a:ln w="18288">
            <a:solidFill>
              <a:srgbClr val="00D4FF">
                <a:alpha val="55000"/>
              </a:srgbClr>
            </a:solidFill>
            <a:prstDash val="solid"/>
          </a:ln>
        </p:spPr>
      </p:sp>
      <p:sp>
        <p:nvSpPr>
          <p:cNvPr id="9" name="Shape 5"/>
          <p:cNvSpPr/>
          <p:nvPr/>
        </p:nvSpPr>
        <p:spPr>
          <a:xfrm>
            <a:off x="6472935" y="2225278"/>
            <a:ext cx="1035844" cy="1107281"/>
          </a:xfrm>
          <a:prstGeom prst="rect">
            <a:avLst/>
          </a:prstGeom>
          <a:solidFill>
            <a:srgbClr val="07111F">
              <a:alpha val="62000"/>
            </a:srgbClr>
          </a:solidFill>
          <a:ln w="18288">
            <a:solidFill>
              <a:srgbClr val="00D4FF"/>
            </a:solidFill>
            <a:prstDash val="solid"/>
          </a:ln>
        </p:spPr>
      </p:sp>
      <p:sp>
        <p:nvSpPr>
          <p:cNvPr id="10" name="Shape 6"/>
          <p:cNvSpPr/>
          <p:nvPr/>
        </p:nvSpPr>
        <p:spPr>
          <a:xfrm>
            <a:off x="6930135" y="1925241"/>
            <a:ext cx="21431" cy="242888"/>
          </a:xfrm>
          <a:prstGeom prst="rect">
            <a:avLst/>
          </a:prstGeom>
          <a:solidFill>
            <a:srgbClr val="22E6A8"/>
          </a:solidFill>
          <a:ln/>
        </p:spPr>
      </p:sp>
      <p:sp>
        <p:nvSpPr>
          <p:cNvPr id="11" name="Shape 7"/>
          <p:cNvSpPr/>
          <p:nvPr/>
        </p:nvSpPr>
        <p:spPr>
          <a:xfrm>
            <a:off x="6872985" y="1839516"/>
            <a:ext cx="128588" cy="128588"/>
          </a:xfrm>
          <a:prstGeom prst="ellipse">
            <a:avLst/>
          </a:prstGeom>
          <a:solidFill>
            <a:srgbClr val="22E6A8"/>
          </a:solidFill>
          <a:ln/>
        </p:spPr>
      </p:sp>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796" y="169449"/>
            <a:ext cx="1341369" cy="13413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00063" y="385763"/>
            <a:ext cx="8143875" cy="128588"/>
          </a:xfrm>
          <a:prstGeom prst="rect">
            <a:avLst/>
          </a:prstGeom>
          <a:noFill/>
          <a:ln/>
        </p:spPr>
        <p:txBody>
          <a:bodyPr wrap="square" lIns="0" tIns="0" rIns="0" bIns="0" rtlCol="0" anchor="t">
            <a:spAutoFit/>
          </a:bodyPr>
          <a:lstStyle/>
          <a:p>
            <a:pPr marL="0" indent="0" algn="l">
              <a:buNone/>
            </a:pPr>
            <a:r>
              <a:rPr lang="en-US" sz="750" b="1" kern="0" spc="2" dirty="0">
                <a:solidFill>
                  <a:srgbClr val="22E6A8"/>
                </a:solidFill>
                <a:latin typeface="Inter ExtraBold" pitchFamily="34" charset="0"/>
                <a:ea typeface="Inter ExtraBold" pitchFamily="34" charset="-122"/>
                <a:cs typeface="Inter ExtraBold" pitchFamily="34" charset="-120"/>
              </a:rPr>
              <a:t>EL PROBLEMA</a:t>
            </a:r>
            <a:endParaRPr lang="en-US" sz="750" dirty="0"/>
          </a:p>
        </p:txBody>
      </p:sp>
      <p:sp>
        <p:nvSpPr>
          <p:cNvPr id="5" name="Text 1"/>
          <p:cNvSpPr/>
          <p:nvPr/>
        </p:nvSpPr>
        <p:spPr>
          <a:xfrm>
            <a:off x="500063" y="614363"/>
            <a:ext cx="7000875" cy="690042"/>
          </a:xfrm>
          <a:prstGeom prst="rect">
            <a:avLst/>
          </a:prstGeom>
          <a:noFill/>
          <a:ln/>
        </p:spPr>
        <p:txBody>
          <a:bodyPr wrap="square" lIns="0" tIns="0" rIns="0" bIns="0" rtlCol="0" anchor="t">
            <a:spAutoFit/>
          </a:bodyPr>
          <a:lstStyle/>
          <a:p>
            <a:pPr marL="0" indent="0" algn="l">
              <a:lnSpc>
                <a:spcPct val="84000"/>
              </a:lnSpc>
              <a:buNone/>
            </a:pPr>
            <a:r>
              <a:rPr lang="en-US" sz="2350" b="1" kern="0" spc="-1" dirty="0">
                <a:solidFill>
                  <a:srgbClr val="E6FBFF"/>
                </a:solidFill>
                <a:latin typeface="Space Grotesk Bold" pitchFamily="34" charset="0"/>
                <a:ea typeface="Space Grotesk Bold" pitchFamily="34" charset="-122"/>
                <a:cs typeface="Space Grotesk Bold" pitchFamily="34" charset="-120"/>
              </a:rPr>
              <a:t>Bots sin identidad convierten la confianza digital en una apuesta</a:t>
            </a:r>
            <a:endParaRPr lang="en-US" sz="2350" dirty="0"/>
          </a:p>
        </p:txBody>
      </p:sp>
      <p:sp>
        <p:nvSpPr>
          <p:cNvPr id="6" name="Text 2"/>
          <p:cNvSpPr/>
          <p:nvPr/>
        </p:nvSpPr>
        <p:spPr>
          <a:xfrm>
            <a:off x="500063" y="1504429"/>
            <a:ext cx="8143875" cy="282178"/>
          </a:xfrm>
          <a:prstGeom prst="rect">
            <a:avLst/>
          </a:prstGeom>
          <a:noFill/>
          <a:ln/>
        </p:spPr>
        <p:txBody>
          <a:bodyPr wrap="square" lIns="0" tIns="0" rIns="0" bIns="0" rtlCol="0" anchor="t">
            <a:spAutoFit/>
          </a:bodyPr>
          <a:lstStyle/>
          <a:p>
            <a:pPr marL="0" indent="0" algn="l">
              <a:buNone/>
            </a:pPr>
            <a:r>
              <a:rPr lang="en-US" sz="1650" dirty="0">
                <a:solidFill>
                  <a:srgbClr val="E6FBFF"/>
                </a:solidFill>
                <a:latin typeface="Space Grotesk Medium" pitchFamily="34" charset="0"/>
                <a:ea typeface="Space Grotesk Medium" pitchFamily="34" charset="-122"/>
                <a:cs typeface="Space Grotesk Medium" pitchFamily="34" charset="-120"/>
              </a:rPr>
              <a:t>¿En quién confías cuando chateas con un bot?</a:t>
            </a:r>
            <a:endParaRPr lang="en-US" sz="1650" dirty="0"/>
          </a:p>
        </p:txBody>
      </p:sp>
      <p:sp>
        <p:nvSpPr>
          <p:cNvPr id="7" name="Shape 3"/>
          <p:cNvSpPr/>
          <p:nvPr/>
        </p:nvSpPr>
        <p:spPr>
          <a:xfrm>
            <a:off x="500063" y="2043782"/>
            <a:ext cx="3871913" cy="2250281"/>
          </a:xfrm>
          <a:prstGeom prst="rect">
            <a:avLst/>
          </a:prstGeom>
          <a:solidFill>
            <a:srgbClr val="07111F">
              <a:alpha val="3000"/>
            </a:srgbClr>
          </a:solidFill>
          <a:ln/>
        </p:spPr>
      </p:sp>
      <p:sp>
        <p:nvSpPr>
          <p:cNvPr id="8" name="Shape 4"/>
          <p:cNvSpPr/>
          <p:nvPr/>
        </p:nvSpPr>
        <p:spPr>
          <a:xfrm>
            <a:off x="500063" y="2043782"/>
            <a:ext cx="3871913" cy="14288"/>
          </a:xfrm>
          <a:prstGeom prst="rect">
            <a:avLst/>
          </a:prstGeom>
          <a:solidFill>
            <a:srgbClr val="FF7A92"/>
          </a:solidFill>
          <a:ln/>
        </p:spPr>
      </p:sp>
      <p:sp>
        <p:nvSpPr>
          <p:cNvPr id="9" name="Text 5"/>
          <p:cNvSpPr/>
          <p:nvPr/>
        </p:nvSpPr>
        <p:spPr>
          <a:xfrm>
            <a:off x="700088" y="2229520"/>
            <a:ext cx="3500438" cy="226814"/>
          </a:xfrm>
          <a:prstGeom prst="rect">
            <a:avLst/>
          </a:prstGeom>
          <a:noFill/>
          <a:ln/>
        </p:spPr>
        <p:txBody>
          <a:bodyPr wrap="square" lIns="0" tIns="0" rIns="0" bIns="0" rtlCol="0" anchor="t">
            <a:spAutoFit/>
          </a:bodyPr>
          <a:lstStyle/>
          <a:p>
            <a:pPr marL="0" indent="0" algn="l">
              <a:buNone/>
            </a:pPr>
            <a:r>
              <a:rPr lang="en-US" sz="1250" b="1" dirty="0">
                <a:solidFill>
                  <a:srgbClr val="FF6B88"/>
                </a:solidFill>
                <a:latin typeface="Space Grotesk Bold" pitchFamily="34" charset="0"/>
                <a:ea typeface="Space Grotesk Bold" pitchFamily="34" charset="-122"/>
                <a:cs typeface="Space Grotesk Bold" pitchFamily="34" charset="-120"/>
              </a:rPr>
              <a:t>Riesgo para el usuario</a:t>
            </a:r>
            <a:endParaRPr lang="en-US" sz="1250" dirty="0"/>
          </a:p>
        </p:txBody>
      </p:sp>
      <p:sp>
        <p:nvSpPr>
          <p:cNvPr id="10" name="Text 6"/>
          <p:cNvSpPr/>
          <p:nvPr/>
        </p:nvSpPr>
        <p:spPr>
          <a:xfrm>
            <a:off x="700088" y="2599209"/>
            <a:ext cx="3500438" cy="366452"/>
          </a:xfrm>
          <a:prstGeom prst="rect">
            <a:avLst/>
          </a:prstGeom>
          <a:noFill/>
          <a:ln/>
        </p:spPr>
        <p:txBody>
          <a:bodyPr wrap="square" lIns="204089" tIns="0" rIns="0" bIns="0" rtlCol="0" anchor="t">
            <a:spAutoFit/>
          </a:bodyPr>
          <a:lstStyle/>
          <a:p>
            <a:pPr marL="0" indent="0" algn="l">
              <a:lnSpc>
                <a:spcPct val="108000"/>
              </a:lnSpc>
              <a:buNone/>
            </a:pPr>
            <a:r>
              <a:rPr lang="en-US" sz="1000" dirty="0">
                <a:solidFill>
                  <a:srgbClr val="B7C8D9"/>
                </a:solidFill>
                <a:latin typeface="Inter" pitchFamily="34" charset="0"/>
                <a:ea typeface="Inter" pitchFamily="34" charset="-122"/>
                <a:cs typeface="Inter" pitchFamily="34" charset="-120"/>
              </a:rPr>
              <a:t>Cualquiera puede crear un bot que suplante a un banco, médico o empresa.</a:t>
            </a:r>
            <a:endParaRPr lang="en-US" sz="1000" dirty="0"/>
          </a:p>
        </p:txBody>
      </p:sp>
      <p:sp>
        <p:nvSpPr>
          <p:cNvPr id="11" name="Text 7"/>
          <p:cNvSpPr/>
          <p:nvPr/>
        </p:nvSpPr>
        <p:spPr>
          <a:xfrm>
            <a:off x="700088" y="3072817"/>
            <a:ext cx="3500438" cy="366452"/>
          </a:xfrm>
          <a:prstGeom prst="rect">
            <a:avLst/>
          </a:prstGeom>
          <a:noFill/>
          <a:ln/>
        </p:spPr>
        <p:txBody>
          <a:bodyPr wrap="square" lIns="204089" tIns="0" rIns="0" bIns="0" rtlCol="0" anchor="t">
            <a:spAutoFit/>
          </a:bodyPr>
          <a:lstStyle/>
          <a:p>
            <a:pPr marL="0" indent="0" algn="l">
              <a:lnSpc>
                <a:spcPct val="108000"/>
              </a:lnSpc>
              <a:buNone/>
            </a:pPr>
            <a:r>
              <a:rPr lang="en-US" sz="1000" dirty="0">
                <a:solidFill>
                  <a:srgbClr val="B7C8D9"/>
                </a:solidFill>
                <a:latin typeface="Inter" pitchFamily="34" charset="0"/>
                <a:ea typeface="Inter" pitchFamily="34" charset="-122"/>
                <a:cs typeface="Inter" pitchFamily="34" charset="-120"/>
              </a:rPr>
              <a:t>No hay prueba visible de quién opera el agente ni de cómo usa los datos.</a:t>
            </a:r>
            <a:endParaRPr lang="en-US" sz="1000" dirty="0"/>
          </a:p>
        </p:txBody>
      </p:sp>
      <p:sp>
        <p:nvSpPr>
          <p:cNvPr id="12" name="Text 8"/>
          <p:cNvSpPr/>
          <p:nvPr/>
        </p:nvSpPr>
        <p:spPr>
          <a:xfrm>
            <a:off x="700088" y="3546425"/>
            <a:ext cx="3500438" cy="366452"/>
          </a:xfrm>
          <a:prstGeom prst="rect">
            <a:avLst/>
          </a:prstGeom>
          <a:noFill/>
          <a:ln/>
        </p:spPr>
        <p:txBody>
          <a:bodyPr wrap="square" lIns="204089" tIns="0" rIns="0" bIns="0" rtlCol="0" anchor="t">
            <a:spAutoFit/>
          </a:bodyPr>
          <a:lstStyle/>
          <a:p>
            <a:pPr marL="0" indent="0" algn="l">
              <a:lnSpc>
                <a:spcPct val="108000"/>
              </a:lnSpc>
              <a:buNone/>
            </a:pPr>
            <a:r>
              <a:rPr lang="en-US" sz="1000" dirty="0">
                <a:solidFill>
                  <a:srgbClr val="B7C8D9"/>
                </a:solidFill>
                <a:latin typeface="Inter" pitchFamily="34" charset="0"/>
                <a:ea typeface="Inter" pitchFamily="34" charset="-122"/>
                <a:cs typeface="Inter" pitchFamily="34" charset="-120"/>
              </a:rPr>
              <a:t>La confianza queda basada en apariencia, no en verificación.</a:t>
            </a:r>
            <a:endParaRPr lang="en-US" sz="1000" dirty="0"/>
          </a:p>
        </p:txBody>
      </p:sp>
      <p:sp>
        <p:nvSpPr>
          <p:cNvPr id="13" name="Shape 9"/>
          <p:cNvSpPr/>
          <p:nvPr/>
        </p:nvSpPr>
        <p:spPr>
          <a:xfrm>
            <a:off x="4772025" y="2043782"/>
            <a:ext cx="3871913" cy="2250281"/>
          </a:xfrm>
          <a:prstGeom prst="rect">
            <a:avLst/>
          </a:prstGeom>
          <a:solidFill>
            <a:srgbClr val="07111F">
              <a:alpha val="3000"/>
            </a:srgbClr>
          </a:solidFill>
          <a:ln/>
        </p:spPr>
      </p:sp>
      <p:sp>
        <p:nvSpPr>
          <p:cNvPr id="14" name="Shape 10"/>
          <p:cNvSpPr/>
          <p:nvPr/>
        </p:nvSpPr>
        <p:spPr>
          <a:xfrm>
            <a:off x="4772025" y="2043782"/>
            <a:ext cx="3871913" cy="14288"/>
          </a:xfrm>
          <a:prstGeom prst="rect">
            <a:avLst/>
          </a:prstGeom>
          <a:solidFill>
            <a:srgbClr val="73E7FF"/>
          </a:solidFill>
          <a:ln/>
        </p:spPr>
      </p:sp>
      <p:sp>
        <p:nvSpPr>
          <p:cNvPr id="15" name="Text 11"/>
          <p:cNvSpPr/>
          <p:nvPr/>
        </p:nvSpPr>
        <p:spPr>
          <a:xfrm>
            <a:off x="700088" y="2627784"/>
            <a:ext cx="66080" cy="115695"/>
          </a:xfrm>
          <a:prstGeom prst="rect">
            <a:avLst/>
          </a:prstGeom>
          <a:noFill/>
          <a:ln/>
        </p:spPr>
        <p:txBody>
          <a:bodyPr wrap="none" lIns="0" tIns="0" rIns="0" bIns="0" rtlCol="0" anchor="t">
            <a:spAutoFit/>
          </a:bodyPr>
          <a:lstStyle/>
          <a:p>
            <a:pPr marL="0" indent="0" algn="l">
              <a:lnSpc>
                <a:spcPct val="108000"/>
              </a:lnSpc>
              <a:buNone/>
            </a:pPr>
            <a:r>
              <a:rPr lang="en-US" sz="600" dirty="0">
                <a:solidFill>
                  <a:srgbClr val="FF6B88"/>
                </a:solidFill>
                <a:latin typeface="Inter" pitchFamily="34" charset="0"/>
                <a:ea typeface="Inter" pitchFamily="34" charset="-122"/>
                <a:cs typeface="Inter" pitchFamily="34" charset="-120"/>
              </a:rPr>
              <a:t>◆</a:t>
            </a:r>
            <a:endParaRPr lang="en-US" sz="600" dirty="0"/>
          </a:p>
        </p:txBody>
      </p:sp>
      <p:sp>
        <p:nvSpPr>
          <p:cNvPr id="16" name="Text 12"/>
          <p:cNvSpPr/>
          <p:nvPr/>
        </p:nvSpPr>
        <p:spPr>
          <a:xfrm>
            <a:off x="700088" y="3101392"/>
            <a:ext cx="66080" cy="115695"/>
          </a:xfrm>
          <a:prstGeom prst="rect">
            <a:avLst/>
          </a:prstGeom>
          <a:noFill/>
          <a:ln/>
        </p:spPr>
        <p:txBody>
          <a:bodyPr wrap="none" lIns="0" tIns="0" rIns="0" bIns="0" rtlCol="0" anchor="t">
            <a:spAutoFit/>
          </a:bodyPr>
          <a:lstStyle/>
          <a:p>
            <a:pPr marL="0" indent="0" algn="l">
              <a:lnSpc>
                <a:spcPct val="108000"/>
              </a:lnSpc>
              <a:buNone/>
            </a:pPr>
            <a:r>
              <a:rPr lang="en-US" sz="600" dirty="0">
                <a:solidFill>
                  <a:srgbClr val="FF6B88"/>
                </a:solidFill>
                <a:latin typeface="Inter" pitchFamily="34" charset="0"/>
                <a:ea typeface="Inter" pitchFamily="34" charset="-122"/>
                <a:cs typeface="Inter" pitchFamily="34" charset="-120"/>
              </a:rPr>
              <a:t>◆</a:t>
            </a:r>
            <a:endParaRPr lang="en-US" sz="600" dirty="0"/>
          </a:p>
        </p:txBody>
      </p:sp>
      <p:sp>
        <p:nvSpPr>
          <p:cNvPr id="17" name="Text 13"/>
          <p:cNvSpPr/>
          <p:nvPr/>
        </p:nvSpPr>
        <p:spPr>
          <a:xfrm>
            <a:off x="700088" y="3575000"/>
            <a:ext cx="66080" cy="115695"/>
          </a:xfrm>
          <a:prstGeom prst="rect">
            <a:avLst/>
          </a:prstGeom>
          <a:noFill/>
          <a:ln/>
        </p:spPr>
        <p:txBody>
          <a:bodyPr wrap="none" lIns="0" tIns="0" rIns="0" bIns="0" rtlCol="0" anchor="t">
            <a:spAutoFit/>
          </a:bodyPr>
          <a:lstStyle/>
          <a:p>
            <a:pPr marL="0" indent="0" algn="l">
              <a:lnSpc>
                <a:spcPct val="108000"/>
              </a:lnSpc>
              <a:buNone/>
            </a:pPr>
            <a:r>
              <a:rPr lang="en-US" sz="600" dirty="0">
                <a:solidFill>
                  <a:srgbClr val="FF6B88"/>
                </a:solidFill>
                <a:latin typeface="Inter" pitchFamily="34" charset="0"/>
                <a:ea typeface="Inter" pitchFamily="34" charset="-122"/>
                <a:cs typeface="Inter" pitchFamily="34" charset="-120"/>
              </a:rPr>
              <a:t>◆</a:t>
            </a:r>
            <a:endParaRPr lang="en-US" sz="600" dirty="0"/>
          </a:p>
        </p:txBody>
      </p:sp>
      <p:sp>
        <p:nvSpPr>
          <p:cNvPr id="18" name="Text 14"/>
          <p:cNvSpPr/>
          <p:nvPr/>
        </p:nvSpPr>
        <p:spPr>
          <a:xfrm>
            <a:off x="4972050" y="2229520"/>
            <a:ext cx="3500438" cy="226814"/>
          </a:xfrm>
          <a:prstGeom prst="rect">
            <a:avLst/>
          </a:prstGeom>
          <a:noFill/>
          <a:ln/>
        </p:spPr>
        <p:txBody>
          <a:bodyPr wrap="square" lIns="0" tIns="0" rIns="0" bIns="0" rtlCol="0" anchor="t">
            <a:spAutoFit/>
          </a:bodyPr>
          <a:lstStyle/>
          <a:p>
            <a:pPr marL="0" indent="0" algn="l">
              <a:buNone/>
            </a:pPr>
            <a:r>
              <a:rPr lang="en-US" sz="1250" b="1" dirty="0">
                <a:solidFill>
                  <a:srgbClr val="00D4FF"/>
                </a:solidFill>
                <a:latin typeface="Space Grotesk Bold" pitchFamily="34" charset="0"/>
                <a:ea typeface="Space Grotesk Bold" pitchFamily="34" charset="-122"/>
                <a:cs typeface="Space Grotesk Bold" pitchFamily="34" charset="-120"/>
              </a:rPr>
              <a:t>Barrera para crear agentes confiables</a:t>
            </a:r>
            <a:endParaRPr lang="en-US" sz="1250" dirty="0"/>
          </a:p>
        </p:txBody>
      </p:sp>
      <p:sp>
        <p:nvSpPr>
          <p:cNvPr id="19" name="Text 15"/>
          <p:cNvSpPr/>
          <p:nvPr/>
        </p:nvSpPr>
        <p:spPr>
          <a:xfrm>
            <a:off x="4972050" y="2599209"/>
            <a:ext cx="3500438" cy="366452"/>
          </a:xfrm>
          <a:prstGeom prst="rect">
            <a:avLst/>
          </a:prstGeom>
          <a:noFill/>
          <a:ln/>
        </p:spPr>
        <p:txBody>
          <a:bodyPr wrap="square" lIns="204089" tIns="0" rIns="0" bIns="0" rtlCol="0" anchor="t">
            <a:spAutoFit/>
          </a:bodyPr>
          <a:lstStyle/>
          <a:p>
            <a:pPr marL="0" indent="0" algn="l">
              <a:lnSpc>
                <a:spcPct val="108000"/>
              </a:lnSpc>
              <a:buNone/>
            </a:pPr>
            <a:r>
              <a:rPr lang="en-US" sz="1000" dirty="0">
                <a:solidFill>
                  <a:srgbClr val="B7C8D9"/>
                </a:solidFill>
                <a:latin typeface="Inter" pitchFamily="34" charset="0"/>
                <a:ea typeface="Inter" pitchFamily="34" charset="-122"/>
                <a:cs typeface="Inter" pitchFamily="34" charset="-120"/>
              </a:rPr>
              <a:t>Requiere manejar </a:t>
            </a:r>
            <a:r>
              <a:rPr lang="en-US" sz="950" b="1" dirty="0">
                <a:solidFill>
                  <a:srgbClr val="00D4FF"/>
                </a:solidFill>
                <a:latin typeface="Inter ExtraBold" pitchFamily="34" charset="0"/>
                <a:ea typeface="Inter ExtraBold" pitchFamily="34" charset="-122"/>
                <a:cs typeface="Inter ExtraBold" pitchFamily="34" charset="-120"/>
              </a:rPr>
              <a:t>Docker, Kubernetes, DIDComm, W3C VC, Helm y CI/CD</a:t>
            </a:r>
            <a:r>
              <a:rPr lang="en-US" sz="1000" dirty="0">
                <a:solidFill>
                  <a:srgbClr val="B7C8D9"/>
                </a:solidFill>
                <a:latin typeface="Inter" pitchFamily="34" charset="0"/>
                <a:ea typeface="Inter" pitchFamily="34" charset="-122"/>
                <a:cs typeface="Inter" pitchFamily="34" charset="-120"/>
              </a:rPr>
              <a:t>.</a:t>
            </a:r>
            <a:endParaRPr lang="en-US" sz="1000" dirty="0"/>
          </a:p>
        </p:txBody>
      </p:sp>
      <p:sp>
        <p:nvSpPr>
          <p:cNvPr id="20" name="Text 16"/>
          <p:cNvSpPr/>
          <p:nvPr/>
        </p:nvSpPr>
        <p:spPr>
          <a:xfrm>
            <a:off x="4972050" y="3072817"/>
            <a:ext cx="3500438" cy="183226"/>
          </a:xfrm>
          <a:prstGeom prst="rect">
            <a:avLst/>
          </a:prstGeom>
          <a:noFill/>
          <a:ln/>
        </p:spPr>
        <p:txBody>
          <a:bodyPr wrap="none" lIns="204089" tIns="0" rIns="0" bIns="0" rtlCol="0" anchor="t">
            <a:spAutoFit/>
          </a:bodyPr>
          <a:lstStyle/>
          <a:p>
            <a:pPr marL="0" indent="0" algn="l">
              <a:lnSpc>
                <a:spcPct val="108000"/>
              </a:lnSpc>
              <a:buNone/>
            </a:pPr>
            <a:r>
              <a:rPr lang="en-US" sz="1000" dirty="0">
                <a:solidFill>
                  <a:srgbClr val="B7C8D9"/>
                </a:solidFill>
                <a:latin typeface="Inter" pitchFamily="34" charset="0"/>
                <a:ea typeface="Inter" pitchFamily="34" charset="-122"/>
                <a:cs typeface="Inter" pitchFamily="34" charset="-120"/>
              </a:rPr>
              <a:t>Implica semanas de trabajo técnico especializado.</a:t>
            </a:r>
            <a:endParaRPr lang="en-US" sz="1000" dirty="0"/>
          </a:p>
        </p:txBody>
      </p:sp>
      <p:sp>
        <p:nvSpPr>
          <p:cNvPr id="21" name="Text 17"/>
          <p:cNvSpPr/>
          <p:nvPr/>
        </p:nvSpPr>
        <p:spPr>
          <a:xfrm>
            <a:off x="4972050" y="3363199"/>
            <a:ext cx="3500438" cy="366452"/>
          </a:xfrm>
          <a:prstGeom prst="rect">
            <a:avLst/>
          </a:prstGeom>
          <a:noFill/>
          <a:ln/>
        </p:spPr>
        <p:txBody>
          <a:bodyPr wrap="square" lIns="204089" tIns="0" rIns="0" bIns="0" rtlCol="0" anchor="t">
            <a:spAutoFit/>
          </a:bodyPr>
          <a:lstStyle/>
          <a:p>
            <a:pPr marL="0" indent="0" algn="l">
              <a:lnSpc>
                <a:spcPct val="108000"/>
              </a:lnSpc>
              <a:buNone/>
            </a:pPr>
            <a:r>
              <a:rPr lang="en-US" sz="1000" dirty="0">
                <a:solidFill>
                  <a:srgbClr val="B7C8D9"/>
                </a:solidFill>
                <a:latin typeface="Inter" pitchFamily="34" charset="0"/>
                <a:ea typeface="Inter" pitchFamily="34" charset="-122"/>
                <a:cs typeface="Inter" pitchFamily="34" charset="-120"/>
              </a:rPr>
              <a:t>La identidad verificable queda fuera del alcance de la mayoría de personas.</a:t>
            </a:r>
            <a:endParaRPr lang="en-US" sz="1000" dirty="0"/>
          </a:p>
        </p:txBody>
      </p:sp>
      <p:sp>
        <p:nvSpPr>
          <p:cNvPr id="22" name="Text 18"/>
          <p:cNvSpPr/>
          <p:nvPr/>
        </p:nvSpPr>
        <p:spPr>
          <a:xfrm>
            <a:off x="500063" y="4494088"/>
            <a:ext cx="8143875" cy="557213"/>
          </a:xfrm>
          <a:prstGeom prst="rect">
            <a:avLst/>
          </a:prstGeom>
          <a:noFill/>
          <a:ln/>
        </p:spPr>
        <p:txBody>
          <a:bodyPr wrap="square" lIns="0" tIns="0" rIns="0" bIns="0" rtlCol="0" anchor="t">
            <a:spAutoFit/>
          </a:bodyPr>
          <a:lstStyle/>
          <a:p>
            <a:pPr marL="0" indent="0" algn="l">
              <a:lnSpc>
                <a:spcPct val="100000"/>
              </a:lnSpc>
              <a:buNone/>
            </a:pPr>
            <a:r>
              <a:rPr lang="en-US" sz="1100" b="1" dirty="0">
                <a:solidFill>
                  <a:srgbClr val="E6FBFF"/>
                </a:solidFill>
                <a:latin typeface="Inter Bold" pitchFamily="34" charset="0"/>
                <a:ea typeface="Inter Bold" pitchFamily="34" charset="-122"/>
                <a:cs typeface="Inter Bold" pitchFamily="34" charset="-120"/>
              </a:rPr>
              <a:t>Insight clave: la confianza en agentes de IA no debería ser ciega; debería ser verificable.</a:t>
            </a:r>
            <a:endParaRPr lang="en-US" sz="1100" dirty="0"/>
          </a:p>
        </p:txBody>
      </p:sp>
      <p:sp>
        <p:nvSpPr>
          <p:cNvPr id="23" name="Text 19"/>
          <p:cNvSpPr/>
          <p:nvPr/>
        </p:nvSpPr>
        <p:spPr>
          <a:xfrm>
            <a:off x="4972050" y="2627784"/>
            <a:ext cx="66080" cy="115695"/>
          </a:xfrm>
          <a:prstGeom prst="rect">
            <a:avLst/>
          </a:prstGeom>
          <a:noFill/>
          <a:ln/>
        </p:spPr>
        <p:txBody>
          <a:bodyPr wrap="none" lIns="0" tIns="0" rIns="0" bIns="0" rtlCol="0" anchor="t">
            <a:spAutoFit/>
          </a:bodyPr>
          <a:lstStyle/>
          <a:p>
            <a:pPr marL="0" indent="0" algn="l">
              <a:lnSpc>
                <a:spcPct val="108000"/>
              </a:lnSpc>
              <a:buNone/>
            </a:pPr>
            <a:r>
              <a:rPr lang="en-US" sz="600" dirty="0">
                <a:solidFill>
                  <a:srgbClr val="22E6A8"/>
                </a:solidFill>
                <a:latin typeface="Inter" pitchFamily="34" charset="0"/>
                <a:ea typeface="Inter" pitchFamily="34" charset="-122"/>
                <a:cs typeface="Inter" pitchFamily="34" charset="-120"/>
              </a:rPr>
              <a:t>◆</a:t>
            </a:r>
            <a:endParaRPr lang="en-US" sz="600" dirty="0"/>
          </a:p>
        </p:txBody>
      </p:sp>
      <p:sp>
        <p:nvSpPr>
          <p:cNvPr id="24" name="Text 20"/>
          <p:cNvSpPr/>
          <p:nvPr/>
        </p:nvSpPr>
        <p:spPr>
          <a:xfrm>
            <a:off x="4972050" y="3101392"/>
            <a:ext cx="66080" cy="115695"/>
          </a:xfrm>
          <a:prstGeom prst="rect">
            <a:avLst/>
          </a:prstGeom>
          <a:noFill/>
          <a:ln/>
        </p:spPr>
        <p:txBody>
          <a:bodyPr wrap="none" lIns="0" tIns="0" rIns="0" bIns="0" rtlCol="0" anchor="t">
            <a:spAutoFit/>
          </a:bodyPr>
          <a:lstStyle/>
          <a:p>
            <a:pPr marL="0" indent="0" algn="l">
              <a:lnSpc>
                <a:spcPct val="108000"/>
              </a:lnSpc>
              <a:buNone/>
            </a:pPr>
            <a:r>
              <a:rPr lang="en-US" sz="600" dirty="0">
                <a:solidFill>
                  <a:srgbClr val="22E6A8"/>
                </a:solidFill>
                <a:latin typeface="Inter" pitchFamily="34" charset="0"/>
                <a:ea typeface="Inter" pitchFamily="34" charset="-122"/>
                <a:cs typeface="Inter" pitchFamily="34" charset="-120"/>
              </a:rPr>
              <a:t>◆</a:t>
            </a:r>
            <a:endParaRPr lang="en-US" sz="600" dirty="0"/>
          </a:p>
        </p:txBody>
      </p:sp>
      <p:sp>
        <p:nvSpPr>
          <p:cNvPr id="25" name="Text 21"/>
          <p:cNvSpPr/>
          <p:nvPr/>
        </p:nvSpPr>
        <p:spPr>
          <a:xfrm>
            <a:off x="4972050" y="3391774"/>
            <a:ext cx="66080" cy="115695"/>
          </a:xfrm>
          <a:prstGeom prst="rect">
            <a:avLst/>
          </a:prstGeom>
          <a:noFill/>
          <a:ln/>
        </p:spPr>
        <p:txBody>
          <a:bodyPr wrap="none" lIns="0" tIns="0" rIns="0" bIns="0" rtlCol="0" anchor="t">
            <a:spAutoFit/>
          </a:bodyPr>
          <a:lstStyle/>
          <a:p>
            <a:pPr marL="0" indent="0" algn="l">
              <a:lnSpc>
                <a:spcPct val="108000"/>
              </a:lnSpc>
              <a:buNone/>
            </a:pPr>
            <a:r>
              <a:rPr lang="en-US" sz="600" dirty="0">
                <a:solidFill>
                  <a:srgbClr val="22E6A8"/>
                </a:solidFill>
                <a:latin typeface="Inter" pitchFamily="34" charset="0"/>
                <a:ea typeface="Inter" pitchFamily="34" charset="-122"/>
                <a:cs typeface="Inter" pitchFamily="34" charset="-120"/>
              </a:rPr>
              <a:t>◆</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00063" y="357188"/>
            <a:ext cx="8143875" cy="128588"/>
          </a:xfrm>
          <a:prstGeom prst="rect">
            <a:avLst/>
          </a:prstGeom>
          <a:noFill/>
          <a:ln/>
        </p:spPr>
        <p:txBody>
          <a:bodyPr wrap="square" lIns="0" tIns="0" rIns="0" bIns="0" rtlCol="0" anchor="t">
            <a:spAutoFit/>
          </a:bodyPr>
          <a:lstStyle/>
          <a:p>
            <a:pPr marL="0" indent="0" algn="l">
              <a:buNone/>
            </a:pPr>
            <a:r>
              <a:rPr lang="en-US" sz="750" b="1" kern="0" spc="2" dirty="0">
                <a:solidFill>
                  <a:srgbClr val="22E6A8"/>
                </a:solidFill>
                <a:latin typeface="Inter ExtraBold" pitchFamily="34" charset="0"/>
                <a:ea typeface="Inter ExtraBold" pitchFamily="34" charset="-122"/>
                <a:cs typeface="Inter ExtraBold" pitchFamily="34" charset="-120"/>
              </a:rPr>
              <a:t>LA SOLUCIÓN PROPUESTA</a:t>
            </a:r>
            <a:endParaRPr lang="en-US" sz="750" dirty="0"/>
          </a:p>
        </p:txBody>
      </p:sp>
      <p:sp>
        <p:nvSpPr>
          <p:cNvPr id="5" name="Text 1"/>
          <p:cNvSpPr/>
          <p:nvPr/>
        </p:nvSpPr>
        <p:spPr>
          <a:xfrm>
            <a:off x="500063" y="585788"/>
            <a:ext cx="7000875" cy="660071"/>
          </a:xfrm>
          <a:prstGeom prst="rect">
            <a:avLst/>
          </a:prstGeom>
          <a:noFill/>
          <a:ln/>
        </p:spPr>
        <p:txBody>
          <a:bodyPr wrap="square" lIns="0" tIns="0" rIns="0" bIns="0" rtlCol="0" anchor="t">
            <a:spAutoFit/>
          </a:bodyPr>
          <a:lstStyle/>
          <a:p>
            <a:pPr marL="0" indent="0" algn="l">
              <a:lnSpc>
                <a:spcPct val="84000"/>
              </a:lnSpc>
              <a:buNone/>
            </a:pPr>
            <a:r>
              <a:rPr lang="en-US" sz="2250" b="1" kern="0" spc="-1" dirty="0">
                <a:solidFill>
                  <a:srgbClr val="E6FBFF"/>
                </a:solidFill>
                <a:latin typeface="Space Grotesk Bold" pitchFamily="34" charset="0"/>
                <a:ea typeface="Space Grotesk Bold" pitchFamily="34" charset="-122"/>
                <a:cs typeface="Space Grotesk Bold" pitchFamily="34" charset="-120"/>
              </a:rPr>
              <a:t>NextAgent democratiza la identidad verificable para agentes IA</a:t>
            </a:r>
            <a:endParaRPr lang="en-US" sz="2250" dirty="0"/>
          </a:p>
        </p:txBody>
      </p:sp>
      <p:sp>
        <p:nvSpPr>
          <p:cNvPr id="6" name="Shape 2"/>
          <p:cNvSpPr/>
          <p:nvPr/>
        </p:nvSpPr>
        <p:spPr>
          <a:xfrm>
            <a:off x="500063" y="1460171"/>
            <a:ext cx="8143875" cy="750094"/>
          </a:xfrm>
          <a:prstGeom prst="rect">
            <a:avLst/>
          </a:prstGeom>
          <a:solidFill>
            <a:srgbClr val="00D4FF">
              <a:alpha val="6000"/>
            </a:srgbClr>
          </a:solidFill>
          <a:ln/>
        </p:spPr>
      </p:sp>
      <p:sp>
        <p:nvSpPr>
          <p:cNvPr id="7" name="Shape 3"/>
          <p:cNvSpPr/>
          <p:nvPr/>
        </p:nvSpPr>
        <p:spPr>
          <a:xfrm>
            <a:off x="500063" y="1460171"/>
            <a:ext cx="8143875" cy="14288"/>
          </a:xfrm>
          <a:prstGeom prst="rect">
            <a:avLst/>
          </a:prstGeom>
          <a:solidFill>
            <a:srgbClr val="22E6A8"/>
          </a:solidFill>
          <a:ln/>
        </p:spPr>
      </p:sp>
      <p:sp>
        <p:nvSpPr>
          <p:cNvPr id="8" name="Shape 4"/>
          <p:cNvSpPr/>
          <p:nvPr/>
        </p:nvSpPr>
        <p:spPr>
          <a:xfrm>
            <a:off x="500063" y="2203121"/>
            <a:ext cx="8143875" cy="7144"/>
          </a:xfrm>
          <a:prstGeom prst="rect">
            <a:avLst/>
          </a:prstGeom>
          <a:solidFill>
            <a:srgbClr val="B2F6E1"/>
          </a:solidFill>
          <a:ln/>
        </p:spPr>
      </p:sp>
      <p:sp>
        <p:nvSpPr>
          <p:cNvPr id="9" name="Text 5"/>
          <p:cNvSpPr/>
          <p:nvPr/>
        </p:nvSpPr>
        <p:spPr>
          <a:xfrm>
            <a:off x="714375" y="1582480"/>
            <a:ext cx="7715250" cy="467564"/>
          </a:xfrm>
          <a:prstGeom prst="rect">
            <a:avLst/>
          </a:prstGeom>
          <a:noFill/>
          <a:ln/>
        </p:spPr>
        <p:txBody>
          <a:bodyPr wrap="square" lIns="0" tIns="0" rIns="0" bIns="0" rtlCol="0" anchor="t">
            <a:spAutoFit/>
          </a:bodyPr>
          <a:lstStyle/>
          <a:p>
            <a:pPr marL="0" indent="0" algn="l">
              <a:lnSpc>
                <a:spcPct val="97600"/>
              </a:lnSpc>
              <a:buNone/>
            </a:pPr>
            <a:r>
              <a:rPr lang="en-US" sz="1550" dirty="0">
                <a:solidFill>
                  <a:srgbClr val="E6FBFF"/>
                </a:solidFill>
                <a:latin typeface="Space Grotesk Medium" pitchFamily="34" charset="0"/>
                <a:ea typeface="Space Grotesk Medium" pitchFamily="34" charset="-122"/>
                <a:cs typeface="Space Grotesk Medium" pitchFamily="34" charset="-120"/>
              </a:rPr>
              <a:t>Cualquier persona puede crear, configurar y publicar su </a:t>
            </a:r>
            <a:r>
              <a:rPr lang="en-US" sz="1550" dirty="0" err="1">
                <a:solidFill>
                  <a:srgbClr val="E6FBFF"/>
                </a:solidFill>
                <a:latin typeface="Space Grotesk Medium" pitchFamily="34" charset="0"/>
                <a:ea typeface="Space Grotesk Medium" pitchFamily="34" charset="-122"/>
                <a:cs typeface="Space Grotesk Medium" pitchFamily="34" charset="-120"/>
              </a:rPr>
              <a:t>propio</a:t>
            </a:r>
            <a:r>
              <a:rPr lang="en-US" sz="1550" dirty="0">
                <a:solidFill>
                  <a:srgbClr val="E6FBFF"/>
                </a:solidFill>
                <a:latin typeface="Space Grotesk Medium" pitchFamily="34" charset="0"/>
                <a:ea typeface="Space Grotesk Medium" pitchFamily="34" charset="-122"/>
                <a:cs typeface="Space Grotesk Medium" pitchFamily="34" charset="-120"/>
              </a:rPr>
              <a:t> </a:t>
            </a:r>
            <a:r>
              <a:rPr lang="en-US" sz="1450" b="1" dirty="0" smtClean="0">
                <a:solidFill>
                  <a:srgbClr val="22E6A8"/>
                </a:solidFill>
                <a:latin typeface="Space Grotesk Bold" pitchFamily="34" charset="0"/>
                <a:ea typeface="Space Grotesk Bold" pitchFamily="34" charset="-122"/>
                <a:cs typeface="Space Grotesk Bold" pitchFamily="34" charset="-120"/>
              </a:rPr>
              <a:t> </a:t>
            </a:r>
            <a:r>
              <a:rPr lang="en-US" sz="1450" b="1" dirty="0">
                <a:solidFill>
                  <a:srgbClr val="22E6A8"/>
                </a:solidFill>
                <a:latin typeface="Space Grotesk Bold" pitchFamily="34" charset="0"/>
                <a:ea typeface="Space Grotesk Bold" pitchFamily="34" charset="-122"/>
                <a:cs typeface="Space Grotesk Bold" pitchFamily="34" charset="-120"/>
              </a:rPr>
              <a:t>AI Agent verificable</a:t>
            </a:r>
            <a:r>
              <a:rPr lang="en-US" sz="1550" dirty="0">
                <a:solidFill>
                  <a:srgbClr val="E6FBFF"/>
                </a:solidFill>
                <a:latin typeface="Space Grotesk Medium" pitchFamily="34" charset="0"/>
                <a:ea typeface="Space Grotesk Medium" pitchFamily="34" charset="-122"/>
                <a:cs typeface="Space Grotesk Medium" pitchFamily="34" charset="-120"/>
              </a:rPr>
              <a:t> en menos de 10 minutos, sin escribir código.</a:t>
            </a:r>
            <a:endParaRPr lang="en-US" sz="1550" dirty="0"/>
          </a:p>
        </p:txBody>
      </p:sp>
      <p:sp>
        <p:nvSpPr>
          <p:cNvPr id="10" name="Shape 6"/>
          <p:cNvSpPr/>
          <p:nvPr/>
        </p:nvSpPr>
        <p:spPr>
          <a:xfrm>
            <a:off x="500063" y="2453153"/>
            <a:ext cx="1896666" cy="1271588"/>
          </a:xfrm>
          <a:prstGeom prst="rect">
            <a:avLst/>
          </a:prstGeom>
          <a:solidFill>
            <a:srgbClr val="00D4FF">
              <a:alpha val="4000"/>
            </a:srgbClr>
          </a:solidFill>
          <a:ln/>
        </p:spPr>
      </p:sp>
      <p:sp>
        <p:nvSpPr>
          <p:cNvPr id="11" name="Shape 7"/>
          <p:cNvSpPr/>
          <p:nvPr/>
        </p:nvSpPr>
        <p:spPr>
          <a:xfrm>
            <a:off x="500063" y="2453153"/>
            <a:ext cx="1896666" cy="7144"/>
          </a:xfrm>
          <a:prstGeom prst="rect">
            <a:avLst/>
          </a:prstGeom>
          <a:solidFill>
            <a:srgbClr val="61E4FF"/>
          </a:solidFill>
          <a:ln/>
        </p:spPr>
      </p:sp>
      <p:sp>
        <p:nvSpPr>
          <p:cNvPr id="12" name="Text 8"/>
          <p:cNvSpPr/>
          <p:nvPr/>
        </p:nvSpPr>
        <p:spPr>
          <a:xfrm>
            <a:off x="628650" y="2596028"/>
            <a:ext cx="1653778" cy="255389"/>
          </a:xfrm>
          <a:prstGeom prst="rect">
            <a:avLst/>
          </a:prstGeom>
          <a:noFill/>
          <a:ln/>
        </p:spPr>
        <p:txBody>
          <a:bodyPr wrap="square" lIns="0" tIns="0" rIns="0" bIns="0" rtlCol="0" anchor="t">
            <a:spAutoFit/>
          </a:bodyPr>
          <a:lstStyle/>
          <a:p>
            <a:pPr marL="0" indent="0" algn="l">
              <a:buNone/>
            </a:pPr>
            <a:r>
              <a:rPr lang="en-US" sz="1500" dirty="0">
                <a:solidFill>
                  <a:srgbClr val="00D4FF"/>
                </a:solidFill>
                <a:latin typeface="Space Grotesk Medium" pitchFamily="34" charset="0"/>
                <a:ea typeface="Space Grotesk Medium" pitchFamily="34" charset="-122"/>
                <a:cs typeface="Space Grotesk Medium" pitchFamily="34" charset="-120"/>
              </a:rPr>
              <a:t>01</a:t>
            </a:r>
            <a:endParaRPr lang="en-US" sz="1500" dirty="0"/>
          </a:p>
        </p:txBody>
      </p:sp>
      <p:sp>
        <p:nvSpPr>
          <p:cNvPr id="13" name="Text 9"/>
          <p:cNvSpPr/>
          <p:nvPr/>
        </p:nvSpPr>
        <p:spPr>
          <a:xfrm>
            <a:off x="628650" y="2937142"/>
            <a:ext cx="1653778" cy="157163"/>
          </a:xfrm>
          <a:prstGeom prst="rect">
            <a:avLst/>
          </a:prstGeom>
          <a:noFill/>
          <a:ln/>
        </p:spPr>
        <p:txBody>
          <a:bodyPr wrap="none" lIns="0" tIns="0" rIns="0" bIns="0" rtlCol="0" anchor="t">
            <a:spAutoFit/>
          </a:bodyPr>
          <a:lstStyle/>
          <a:p>
            <a:pPr marL="0" indent="0" algn="l">
              <a:lnSpc>
                <a:spcPct val="88000"/>
              </a:lnSpc>
              <a:buNone/>
            </a:pPr>
            <a:r>
              <a:rPr lang="en-US" sz="1000" b="1" dirty="0">
                <a:solidFill>
                  <a:srgbClr val="E6FBFF"/>
                </a:solidFill>
                <a:latin typeface="Space Grotesk Bold" pitchFamily="34" charset="0"/>
                <a:ea typeface="Space Grotesk Bold" pitchFamily="34" charset="-122"/>
                <a:cs typeface="Space Grotesk Bold" pitchFamily="34" charset="-120"/>
              </a:rPr>
              <a:t>Identidad DID propia</a:t>
            </a:r>
            <a:endParaRPr lang="en-US" sz="1000" dirty="0"/>
          </a:p>
        </p:txBody>
      </p:sp>
      <p:sp>
        <p:nvSpPr>
          <p:cNvPr id="14" name="Text 10"/>
          <p:cNvSpPr/>
          <p:nvPr/>
        </p:nvSpPr>
        <p:spPr>
          <a:xfrm>
            <a:off x="628650" y="3187173"/>
            <a:ext cx="1653778" cy="462865"/>
          </a:xfrm>
          <a:prstGeom prst="rect">
            <a:avLst/>
          </a:prstGeom>
          <a:noFill/>
          <a:ln/>
        </p:spPr>
        <p:txBody>
          <a:bodyPr wrap="square" lIns="0" tIns="0" rIns="0" bIns="0" rtlCol="0" anchor="t">
            <a:spAutoFit/>
          </a:bodyPr>
          <a:lstStyle/>
          <a:p>
            <a:pPr marL="0" indent="0" algn="l">
              <a:lnSpc>
                <a:spcPct val="108000"/>
              </a:lnSpc>
              <a:buNone/>
            </a:pPr>
            <a:r>
              <a:rPr lang="en-US" sz="850" dirty="0">
                <a:solidFill>
                  <a:srgbClr val="B7C8D9"/>
                </a:solidFill>
                <a:latin typeface="Inter" pitchFamily="34" charset="0"/>
                <a:ea typeface="Inter" pitchFamily="34" charset="-122"/>
                <a:cs typeface="Inter" pitchFamily="34" charset="-120"/>
              </a:rPr>
              <a:t>El agente puede demostrar quién es en una red verificable.</a:t>
            </a:r>
            <a:endParaRPr lang="en-US" sz="850" dirty="0"/>
          </a:p>
        </p:txBody>
      </p:sp>
      <p:sp>
        <p:nvSpPr>
          <p:cNvPr id="15" name="Shape 11"/>
          <p:cNvSpPr/>
          <p:nvPr/>
        </p:nvSpPr>
        <p:spPr>
          <a:xfrm>
            <a:off x="2582466" y="2453153"/>
            <a:ext cx="1896666" cy="1271588"/>
          </a:xfrm>
          <a:prstGeom prst="rect">
            <a:avLst/>
          </a:prstGeom>
          <a:solidFill>
            <a:srgbClr val="00D4FF">
              <a:alpha val="4000"/>
            </a:srgbClr>
          </a:solidFill>
          <a:ln/>
        </p:spPr>
      </p:sp>
      <p:sp>
        <p:nvSpPr>
          <p:cNvPr id="16" name="Shape 12"/>
          <p:cNvSpPr/>
          <p:nvPr/>
        </p:nvSpPr>
        <p:spPr>
          <a:xfrm>
            <a:off x="2582466" y="2453153"/>
            <a:ext cx="1896666" cy="7144"/>
          </a:xfrm>
          <a:prstGeom prst="rect">
            <a:avLst/>
          </a:prstGeom>
          <a:solidFill>
            <a:srgbClr val="61E4FF"/>
          </a:solidFill>
          <a:ln/>
        </p:spPr>
      </p:sp>
      <p:sp>
        <p:nvSpPr>
          <p:cNvPr id="17" name="Text 13"/>
          <p:cNvSpPr/>
          <p:nvPr/>
        </p:nvSpPr>
        <p:spPr>
          <a:xfrm>
            <a:off x="2711053" y="2596028"/>
            <a:ext cx="1653778" cy="255389"/>
          </a:xfrm>
          <a:prstGeom prst="rect">
            <a:avLst/>
          </a:prstGeom>
          <a:noFill/>
          <a:ln/>
        </p:spPr>
        <p:txBody>
          <a:bodyPr wrap="square" lIns="0" tIns="0" rIns="0" bIns="0" rtlCol="0" anchor="t">
            <a:spAutoFit/>
          </a:bodyPr>
          <a:lstStyle/>
          <a:p>
            <a:pPr marL="0" indent="0" algn="l">
              <a:buNone/>
            </a:pPr>
            <a:r>
              <a:rPr lang="en-US" sz="1500" dirty="0">
                <a:solidFill>
                  <a:srgbClr val="00D4FF"/>
                </a:solidFill>
                <a:latin typeface="Space Grotesk Medium" pitchFamily="34" charset="0"/>
                <a:ea typeface="Space Grotesk Medium" pitchFamily="34" charset="-122"/>
                <a:cs typeface="Space Grotesk Medium" pitchFamily="34" charset="-120"/>
              </a:rPr>
              <a:t>02</a:t>
            </a:r>
            <a:endParaRPr lang="en-US" sz="1500" dirty="0"/>
          </a:p>
        </p:txBody>
      </p:sp>
      <p:sp>
        <p:nvSpPr>
          <p:cNvPr id="18" name="Text 14"/>
          <p:cNvSpPr/>
          <p:nvPr/>
        </p:nvSpPr>
        <p:spPr>
          <a:xfrm>
            <a:off x="2711053" y="2937142"/>
            <a:ext cx="1653778" cy="157163"/>
          </a:xfrm>
          <a:prstGeom prst="rect">
            <a:avLst/>
          </a:prstGeom>
          <a:noFill/>
          <a:ln/>
        </p:spPr>
        <p:txBody>
          <a:bodyPr wrap="none" lIns="0" tIns="0" rIns="0" bIns="0" rtlCol="0" anchor="t">
            <a:spAutoFit/>
          </a:bodyPr>
          <a:lstStyle/>
          <a:p>
            <a:pPr marL="0" indent="0" algn="l">
              <a:lnSpc>
                <a:spcPct val="88000"/>
              </a:lnSpc>
              <a:buNone/>
            </a:pPr>
            <a:r>
              <a:rPr lang="en-US" sz="1000" b="1" dirty="0">
                <a:solidFill>
                  <a:srgbClr val="E6FBFF"/>
                </a:solidFill>
                <a:latin typeface="Space Grotesk Bold" pitchFamily="34" charset="0"/>
                <a:ea typeface="Space Grotesk Bold" pitchFamily="34" charset="-122"/>
                <a:cs typeface="Space Grotesk Bold" pitchFamily="34" charset="-120"/>
              </a:rPr>
              <a:t>Credencial EAFIT</a:t>
            </a:r>
            <a:endParaRPr lang="en-US" sz="1000" dirty="0"/>
          </a:p>
        </p:txBody>
      </p:sp>
      <p:sp>
        <p:nvSpPr>
          <p:cNvPr id="19" name="Text 15"/>
          <p:cNvSpPr/>
          <p:nvPr/>
        </p:nvSpPr>
        <p:spPr>
          <a:xfrm>
            <a:off x="2711053" y="3187173"/>
            <a:ext cx="1653778" cy="308577"/>
          </a:xfrm>
          <a:prstGeom prst="rect">
            <a:avLst/>
          </a:prstGeom>
          <a:noFill/>
          <a:ln/>
        </p:spPr>
        <p:txBody>
          <a:bodyPr wrap="square" lIns="0" tIns="0" rIns="0" bIns="0" rtlCol="0" anchor="t">
            <a:spAutoFit/>
          </a:bodyPr>
          <a:lstStyle/>
          <a:p>
            <a:pPr marL="0" indent="0" algn="l">
              <a:lnSpc>
                <a:spcPct val="108000"/>
              </a:lnSpc>
              <a:buNone/>
            </a:pPr>
            <a:r>
              <a:rPr lang="en-US" sz="850" dirty="0">
                <a:solidFill>
                  <a:srgbClr val="B7C8D9"/>
                </a:solidFill>
                <a:latin typeface="Inter" pitchFamily="34" charset="0"/>
                <a:ea typeface="Inter" pitchFamily="34" charset="-122"/>
                <a:cs typeface="Inter" pitchFamily="34" charset="-120"/>
              </a:rPr>
              <a:t>La legitimidad se firma por una institución de confianza.</a:t>
            </a:r>
            <a:endParaRPr lang="en-US" sz="850" dirty="0"/>
          </a:p>
        </p:txBody>
      </p:sp>
      <p:sp>
        <p:nvSpPr>
          <p:cNvPr id="20" name="Shape 16"/>
          <p:cNvSpPr/>
          <p:nvPr/>
        </p:nvSpPr>
        <p:spPr>
          <a:xfrm>
            <a:off x="4664869" y="2453153"/>
            <a:ext cx="1896666" cy="1271588"/>
          </a:xfrm>
          <a:prstGeom prst="rect">
            <a:avLst/>
          </a:prstGeom>
          <a:solidFill>
            <a:srgbClr val="00D4FF">
              <a:alpha val="4000"/>
            </a:srgbClr>
          </a:solidFill>
          <a:ln/>
        </p:spPr>
      </p:sp>
      <p:sp>
        <p:nvSpPr>
          <p:cNvPr id="21" name="Shape 17"/>
          <p:cNvSpPr/>
          <p:nvPr/>
        </p:nvSpPr>
        <p:spPr>
          <a:xfrm>
            <a:off x="4664869" y="2453153"/>
            <a:ext cx="1896666" cy="7144"/>
          </a:xfrm>
          <a:prstGeom prst="rect">
            <a:avLst/>
          </a:prstGeom>
          <a:solidFill>
            <a:srgbClr val="61E4FF"/>
          </a:solidFill>
          <a:ln/>
        </p:spPr>
      </p:sp>
      <p:sp>
        <p:nvSpPr>
          <p:cNvPr id="22" name="Text 18"/>
          <p:cNvSpPr/>
          <p:nvPr/>
        </p:nvSpPr>
        <p:spPr>
          <a:xfrm>
            <a:off x="4793456" y="2596028"/>
            <a:ext cx="1653778" cy="255389"/>
          </a:xfrm>
          <a:prstGeom prst="rect">
            <a:avLst/>
          </a:prstGeom>
          <a:noFill/>
          <a:ln/>
        </p:spPr>
        <p:txBody>
          <a:bodyPr wrap="square" lIns="0" tIns="0" rIns="0" bIns="0" rtlCol="0" anchor="t">
            <a:spAutoFit/>
          </a:bodyPr>
          <a:lstStyle/>
          <a:p>
            <a:pPr marL="0" indent="0" algn="l">
              <a:buNone/>
            </a:pPr>
            <a:r>
              <a:rPr lang="en-US" sz="1500" dirty="0">
                <a:solidFill>
                  <a:srgbClr val="00D4FF"/>
                </a:solidFill>
                <a:latin typeface="Space Grotesk Medium" pitchFamily="34" charset="0"/>
                <a:ea typeface="Space Grotesk Medium" pitchFamily="34" charset="-122"/>
                <a:cs typeface="Space Grotesk Medium" pitchFamily="34" charset="-120"/>
              </a:rPr>
              <a:t>03</a:t>
            </a:r>
            <a:endParaRPr lang="en-US" sz="1500" dirty="0"/>
          </a:p>
        </p:txBody>
      </p:sp>
      <p:sp>
        <p:nvSpPr>
          <p:cNvPr id="23" name="Text 19"/>
          <p:cNvSpPr/>
          <p:nvPr/>
        </p:nvSpPr>
        <p:spPr>
          <a:xfrm>
            <a:off x="4793456" y="2937142"/>
            <a:ext cx="1653778" cy="157163"/>
          </a:xfrm>
          <a:prstGeom prst="rect">
            <a:avLst/>
          </a:prstGeom>
          <a:noFill/>
          <a:ln/>
        </p:spPr>
        <p:txBody>
          <a:bodyPr wrap="none" lIns="0" tIns="0" rIns="0" bIns="0" rtlCol="0" anchor="t">
            <a:spAutoFit/>
          </a:bodyPr>
          <a:lstStyle/>
          <a:p>
            <a:pPr marL="0" indent="0" algn="l">
              <a:lnSpc>
                <a:spcPct val="88000"/>
              </a:lnSpc>
              <a:buNone/>
            </a:pPr>
            <a:r>
              <a:rPr lang="en-US" sz="1000" b="1" dirty="0">
                <a:solidFill>
                  <a:srgbClr val="E6FBFF"/>
                </a:solidFill>
                <a:latin typeface="Space Grotesk Bold" pitchFamily="34" charset="0"/>
                <a:ea typeface="Space Grotesk Bold" pitchFamily="34" charset="-122"/>
                <a:cs typeface="Space Grotesk Bold" pitchFamily="34" charset="-120"/>
              </a:rPr>
              <a:t>DIDComm cifrado</a:t>
            </a:r>
            <a:endParaRPr lang="en-US" sz="1000" dirty="0"/>
          </a:p>
        </p:txBody>
      </p:sp>
      <p:sp>
        <p:nvSpPr>
          <p:cNvPr id="24" name="Text 20"/>
          <p:cNvSpPr/>
          <p:nvPr/>
        </p:nvSpPr>
        <p:spPr>
          <a:xfrm>
            <a:off x="4793456" y="3187173"/>
            <a:ext cx="1653778" cy="462865"/>
          </a:xfrm>
          <a:prstGeom prst="rect">
            <a:avLst/>
          </a:prstGeom>
          <a:noFill/>
          <a:ln/>
        </p:spPr>
        <p:txBody>
          <a:bodyPr wrap="square" lIns="0" tIns="0" rIns="0" bIns="0" rtlCol="0" anchor="t">
            <a:spAutoFit/>
          </a:bodyPr>
          <a:lstStyle/>
          <a:p>
            <a:pPr marL="0" indent="0" algn="l">
              <a:lnSpc>
                <a:spcPct val="108000"/>
              </a:lnSpc>
              <a:buNone/>
            </a:pPr>
            <a:r>
              <a:rPr lang="en-US" sz="850" dirty="0">
                <a:solidFill>
                  <a:srgbClr val="B7C8D9"/>
                </a:solidFill>
                <a:latin typeface="Inter" pitchFamily="34" charset="0"/>
                <a:ea typeface="Inter" pitchFamily="34" charset="-122"/>
                <a:cs typeface="Inter" pitchFamily="34" charset="-120"/>
              </a:rPr>
              <a:t>Las conversaciones se protegen con comunicación segura.</a:t>
            </a:r>
            <a:endParaRPr lang="en-US" sz="850" dirty="0"/>
          </a:p>
        </p:txBody>
      </p:sp>
      <p:sp>
        <p:nvSpPr>
          <p:cNvPr id="25" name="Shape 21"/>
          <p:cNvSpPr/>
          <p:nvPr/>
        </p:nvSpPr>
        <p:spPr>
          <a:xfrm>
            <a:off x="6747272" y="2453153"/>
            <a:ext cx="1896666" cy="1271588"/>
          </a:xfrm>
          <a:prstGeom prst="rect">
            <a:avLst/>
          </a:prstGeom>
          <a:solidFill>
            <a:srgbClr val="00D4FF">
              <a:alpha val="4000"/>
            </a:srgbClr>
          </a:solidFill>
          <a:ln/>
        </p:spPr>
      </p:sp>
      <p:sp>
        <p:nvSpPr>
          <p:cNvPr id="26" name="Shape 22"/>
          <p:cNvSpPr/>
          <p:nvPr/>
        </p:nvSpPr>
        <p:spPr>
          <a:xfrm>
            <a:off x="6747272" y="2453153"/>
            <a:ext cx="1896666" cy="7144"/>
          </a:xfrm>
          <a:prstGeom prst="rect">
            <a:avLst/>
          </a:prstGeom>
          <a:solidFill>
            <a:srgbClr val="61E4FF"/>
          </a:solidFill>
          <a:ln/>
        </p:spPr>
      </p:sp>
      <p:sp>
        <p:nvSpPr>
          <p:cNvPr id="27" name="Text 23"/>
          <p:cNvSpPr/>
          <p:nvPr/>
        </p:nvSpPr>
        <p:spPr>
          <a:xfrm>
            <a:off x="6875859" y="2596028"/>
            <a:ext cx="1653778" cy="255389"/>
          </a:xfrm>
          <a:prstGeom prst="rect">
            <a:avLst/>
          </a:prstGeom>
          <a:noFill/>
          <a:ln/>
        </p:spPr>
        <p:txBody>
          <a:bodyPr wrap="square" lIns="0" tIns="0" rIns="0" bIns="0" rtlCol="0" anchor="t">
            <a:spAutoFit/>
          </a:bodyPr>
          <a:lstStyle/>
          <a:p>
            <a:pPr marL="0" indent="0" algn="l">
              <a:buNone/>
            </a:pPr>
            <a:r>
              <a:rPr lang="en-US" sz="1500" dirty="0">
                <a:solidFill>
                  <a:srgbClr val="00D4FF"/>
                </a:solidFill>
                <a:latin typeface="Space Grotesk Medium" pitchFamily="34" charset="0"/>
                <a:ea typeface="Space Grotesk Medium" pitchFamily="34" charset="-122"/>
                <a:cs typeface="Space Grotesk Medium" pitchFamily="34" charset="-120"/>
              </a:rPr>
              <a:t>04</a:t>
            </a:r>
            <a:endParaRPr lang="en-US" sz="1500" dirty="0"/>
          </a:p>
        </p:txBody>
      </p:sp>
      <p:sp>
        <p:nvSpPr>
          <p:cNvPr id="28" name="Text 24"/>
          <p:cNvSpPr/>
          <p:nvPr/>
        </p:nvSpPr>
        <p:spPr>
          <a:xfrm>
            <a:off x="6875859" y="2937142"/>
            <a:ext cx="1653778" cy="157163"/>
          </a:xfrm>
          <a:prstGeom prst="rect">
            <a:avLst/>
          </a:prstGeom>
          <a:noFill/>
          <a:ln/>
        </p:spPr>
        <p:txBody>
          <a:bodyPr wrap="none" lIns="0" tIns="0" rIns="0" bIns="0" rtlCol="0" anchor="t">
            <a:spAutoFit/>
          </a:bodyPr>
          <a:lstStyle/>
          <a:p>
            <a:pPr marL="0" indent="0" algn="l">
              <a:lnSpc>
                <a:spcPct val="88000"/>
              </a:lnSpc>
              <a:buNone/>
            </a:pPr>
            <a:r>
              <a:rPr lang="en-US" sz="1000" b="1" dirty="0">
                <a:solidFill>
                  <a:srgbClr val="E6FBFF"/>
                </a:solidFill>
                <a:latin typeface="Space Grotesk Bold" pitchFamily="34" charset="0"/>
                <a:ea typeface="Space Grotesk Bold" pitchFamily="34" charset="-122"/>
                <a:cs typeface="Space Grotesk Bold" pitchFamily="34" charset="-120"/>
              </a:rPr>
              <a:t>Sin código</a:t>
            </a:r>
            <a:endParaRPr lang="en-US" sz="1000" dirty="0"/>
          </a:p>
        </p:txBody>
      </p:sp>
      <p:sp>
        <p:nvSpPr>
          <p:cNvPr id="29" name="Text 25"/>
          <p:cNvSpPr/>
          <p:nvPr/>
        </p:nvSpPr>
        <p:spPr>
          <a:xfrm>
            <a:off x="6875859" y="3187173"/>
            <a:ext cx="1653778" cy="462865"/>
          </a:xfrm>
          <a:prstGeom prst="rect">
            <a:avLst/>
          </a:prstGeom>
          <a:noFill/>
          <a:ln/>
        </p:spPr>
        <p:txBody>
          <a:bodyPr wrap="square" lIns="0" tIns="0" rIns="0" bIns="0" rtlCol="0" anchor="t">
            <a:spAutoFit/>
          </a:bodyPr>
          <a:lstStyle/>
          <a:p>
            <a:pPr marL="0" indent="0" algn="l">
              <a:lnSpc>
                <a:spcPct val="108000"/>
              </a:lnSpc>
              <a:buNone/>
            </a:pPr>
            <a:r>
              <a:rPr lang="en-US" sz="850" dirty="0">
                <a:solidFill>
                  <a:srgbClr val="B7C8D9"/>
                </a:solidFill>
                <a:latin typeface="Inter" pitchFamily="34" charset="0"/>
                <a:ea typeface="Inter" pitchFamily="34" charset="-122"/>
                <a:cs typeface="Inter" pitchFamily="34" charset="-120"/>
              </a:rPr>
              <a:t>La configuración ocurre desde una interfaz visual accesible.</a:t>
            </a:r>
            <a:endParaRPr lang="en-US" sz="850" dirty="0"/>
          </a:p>
        </p:txBody>
      </p:sp>
      <p:sp>
        <p:nvSpPr>
          <p:cNvPr id="30" name="Text 26"/>
          <p:cNvSpPr/>
          <p:nvPr/>
        </p:nvSpPr>
        <p:spPr>
          <a:xfrm>
            <a:off x="500063" y="4146221"/>
            <a:ext cx="1357313" cy="421481"/>
          </a:xfrm>
          <a:prstGeom prst="rect">
            <a:avLst/>
          </a:prstGeom>
          <a:noFill/>
          <a:ln/>
        </p:spPr>
        <p:txBody>
          <a:bodyPr wrap="square" lIns="0" tIns="0" rIns="0" bIns="0" rtlCol="0" anchor="t">
            <a:spAutoFit/>
          </a:bodyPr>
          <a:lstStyle/>
          <a:p>
            <a:pPr marL="0" indent="0" algn="l">
              <a:buNone/>
            </a:pPr>
            <a:r>
              <a:rPr lang="en-US" sz="1200" dirty="0">
                <a:solidFill>
                  <a:srgbClr val="00D4FF"/>
                </a:solidFill>
                <a:latin typeface="Space Grotesk Medium" pitchFamily="34" charset="0"/>
                <a:ea typeface="Space Grotesk Medium" pitchFamily="34" charset="-122"/>
                <a:cs typeface="Space Grotesk Medium" pitchFamily="34" charset="-120"/>
              </a:rPr>
              <a:t>Ejemplo concreto</a:t>
            </a:r>
            <a:endParaRPr lang="en-US" sz="1200" dirty="0"/>
          </a:p>
        </p:txBody>
      </p:sp>
      <p:sp>
        <p:nvSpPr>
          <p:cNvPr id="31" name="Text 27"/>
          <p:cNvSpPr/>
          <p:nvPr/>
        </p:nvSpPr>
        <p:spPr>
          <a:xfrm>
            <a:off x="2028825" y="4164081"/>
            <a:ext cx="6615113" cy="385763"/>
          </a:xfrm>
          <a:prstGeom prst="rect">
            <a:avLst/>
          </a:prstGeom>
          <a:noFill/>
          <a:ln/>
        </p:spPr>
        <p:txBody>
          <a:bodyPr wrap="square" lIns="0" tIns="0" rIns="0" bIns="0" rtlCol="0" anchor="t">
            <a:spAutoFit/>
          </a:bodyPr>
          <a:lstStyle/>
          <a:p>
            <a:pPr marL="0" indent="0" algn="l">
              <a:lnSpc>
                <a:spcPct val="108000"/>
              </a:lnSpc>
              <a:buNone/>
            </a:pPr>
            <a:r>
              <a:rPr lang="en-US" sz="1050" dirty="0">
                <a:solidFill>
                  <a:srgbClr val="B7C8D9"/>
                </a:solidFill>
                <a:latin typeface="Inter" pitchFamily="34" charset="0"/>
                <a:ea typeface="Inter" pitchFamily="34" charset="-122"/>
                <a:cs typeface="Inter" pitchFamily="34" charset="-120"/>
              </a:rPr>
              <a:t>Un plomero crea su agente en 10 minutos. Sus clientes escanean un QR, chatean en Hologram y saben que el agente es </a:t>
            </a:r>
            <a:r>
              <a:rPr lang="en-US" sz="1000" b="1" dirty="0">
                <a:solidFill>
                  <a:srgbClr val="E6FBFF"/>
                </a:solidFill>
                <a:latin typeface="Inter Bold" pitchFamily="34" charset="0"/>
                <a:ea typeface="Inter Bold" pitchFamily="34" charset="-122"/>
                <a:cs typeface="Inter Bold" pitchFamily="34" charset="-120"/>
              </a:rPr>
              <a:t>legítimo y verificable</a:t>
            </a:r>
            <a:r>
              <a:rPr lang="en-US" sz="1050" dirty="0">
                <a:solidFill>
                  <a:srgbClr val="B7C8D9"/>
                </a:solidFill>
                <a:latin typeface="Inter" pitchFamily="34" charset="0"/>
                <a:ea typeface="Inter" pitchFamily="34" charset="-122"/>
                <a:cs typeface="Inter" pitchFamily="34" charset="-120"/>
              </a:rPr>
              <a: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57200" y="328613"/>
            <a:ext cx="8229600" cy="128588"/>
          </a:xfrm>
          <a:prstGeom prst="rect">
            <a:avLst/>
          </a:prstGeom>
          <a:noFill/>
          <a:ln/>
        </p:spPr>
        <p:txBody>
          <a:bodyPr wrap="square" lIns="0" tIns="0" rIns="0" bIns="0" rtlCol="0" anchor="t">
            <a:spAutoFit/>
          </a:bodyPr>
          <a:lstStyle/>
          <a:p>
            <a:pPr marL="0" indent="0" algn="l">
              <a:buNone/>
            </a:pPr>
            <a:r>
              <a:rPr lang="en-US" sz="750" b="1" kern="0" spc="2" dirty="0">
                <a:solidFill>
                  <a:srgbClr val="22E6A8"/>
                </a:solidFill>
                <a:latin typeface="Inter ExtraBold" pitchFamily="34" charset="0"/>
                <a:ea typeface="Inter ExtraBold" pitchFamily="34" charset="-122"/>
                <a:cs typeface="Inter ExtraBold" pitchFamily="34" charset="-120"/>
              </a:rPr>
              <a:t>ARQUITECTURA</a:t>
            </a:r>
            <a:endParaRPr lang="en-US" sz="750" dirty="0"/>
          </a:p>
        </p:txBody>
      </p:sp>
      <p:sp>
        <p:nvSpPr>
          <p:cNvPr id="5" name="Text 1"/>
          <p:cNvSpPr/>
          <p:nvPr/>
        </p:nvSpPr>
        <p:spPr>
          <a:xfrm>
            <a:off x="457200" y="542925"/>
            <a:ext cx="7286625" cy="630045"/>
          </a:xfrm>
          <a:prstGeom prst="rect">
            <a:avLst/>
          </a:prstGeom>
          <a:noFill/>
          <a:ln/>
        </p:spPr>
        <p:txBody>
          <a:bodyPr wrap="square" lIns="0" tIns="0" rIns="0" bIns="0" rtlCol="0" anchor="t">
            <a:spAutoFit/>
          </a:bodyPr>
          <a:lstStyle/>
          <a:p>
            <a:pPr marL="0" indent="0" algn="l">
              <a:lnSpc>
                <a:spcPct val="84000"/>
              </a:lnSpc>
              <a:buNone/>
            </a:pPr>
            <a:r>
              <a:rPr lang="en-US" sz="2100" b="1" kern="0" spc="-1" dirty="0">
                <a:solidFill>
                  <a:srgbClr val="E6FBFF"/>
                </a:solidFill>
                <a:latin typeface="Space Grotesk Bold" pitchFamily="34" charset="0"/>
                <a:ea typeface="Space Grotesk Bold" pitchFamily="34" charset="-122"/>
                <a:cs typeface="Space Grotesk Bold" pitchFamily="34" charset="-120"/>
              </a:rPr>
              <a:t>NextAgent oculta Kubernetes, DID y credenciales detrás de tres acciones</a:t>
            </a:r>
            <a:endParaRPr lang="en-US" sz="2100" dirty="0"/>
          </a:p>
        </p:txBody>
      </p:sp>
      <p:sp>
        <p:nvSpPr>
          <p:cNvPr id="6" name="Text 2"/>
          <p:cNvSpPr/>
          <p:nvPr/>
        </p:nvSpPr>
        <p:spPr>
          <a:xfrm>
            <a:off x="457200" y="1258695"/>
            <a:ext cx="6929438" cy="366452"/>
          </a:xfrm>
          <a:prstGeom prst="rect">
            <a:avLst/>
          </a:prstGeom>
          <a:noFill/>
          <a:ln/>
        </p:spPr>
        <p:txBody>
          <a:bodyPr wrap="square" lIns="0" tIns="0" rIns="0" bIns="0" rtlCol="0" anchor="t">
            <a:spAutoFit/>
          </a:bodyPr>
          <a:lstStyle/>
          <a:p>
            <a:pPr marL="0" indent="0" algn="l">
              <a:lnSpc>
                <a:spcPct val="108000"/>
              </a:lnSpc>
              <a:buNone/>
            </a:pPr>
            <a:r>
              <a:rPr lang="en-US" sz="1000" dirty="0">
                <a:solidFill>
                  <a:srgbClr val="B7C8D9"/>
                </a:solidFill>
                <a:latin typeface="Inter" pitchFamily="34" charset="0"/>
                <a:ea typeface="Inter" pitchFamily="34" charset="-122"/>
                <a:cs typeface="Inter" pitchFamily="34" charset="-120"/>
              </a:rPr>
              <a:t>La plataforma conecta Hologram, Verana, servicios de IA y CI/CD para convertir un despliegue verificable en una experiencia visual de bajo esfuerzo.</a:t>
            </a:r>
            <a:endParaRPr lang="en-US" sz="1000" dirty="0"/>
          </a:p>
        </p:txBody>
      </p:sp>
      <p:sp>
        <p:nvSpPr>
          <p:cNvPr id="7" name="Shape 3"/>
          <p:cNvSpPr/>
          <p:nvPr/>
        </p:nvSpPr>
        <p:spPr>
          <a:xfrm>
            <a:off x="457200" y="1753735"/>
            <a:ext cx="4857750" cy="3000375"/>
          </a:xfrm>
          <a:prstGeom prst="rect">
            <a:avLst/>
          </a:prstGeom>
          <a:solidFill>
            <a:srgbClr val="07111F">
              <a:alpha val="2000"/>
            </a:srgbClr>
          </a:solidFill>
          <a:ln/>
        </p:spPr>
      </p:sp>
      <p:sp>
        <p:nvSpPr>
          <p:cNvPr id="8" name="Shape 4"/>
          <p:cNvSpPr/>
          <p:nvPr/>
        </p:nvSpPr>
        <p:spPr>
          <a:xfrm>
            <a:off x="457200" y="1753735"/>
            <a:ext cx="4857750" cy="14288"/>
          </a:xfrm>
          <a:prstGeom prst="rect">
            <a:avLst/>
          </a:prstGeom>
          <a:solidFill>
            <a:srgbClr val="61E4FF"/>
          </a:solidFill>
          <a:ln/>
        </p:spPr>
      </p:sp>
      <p:sp>
        <p:nvSpPr>
          <p:cNvPr id="9" name="Shape 5"/>
          <p:cNvSpPr/>
          <p:nvPr/>
        </p:nvSpPr>
        <p:spPr>
          <a:xfrm>
            <a:off x="1600200" y="1853747"/>
            <a:ext cx="2571750" cy="389334"/>
          </a:xfrm>
          <a:prstGeom prst="rect">
            <a:avLst/>
          </a:prstGeom>
          <a:solidFill>
            <a:srgbClr val="07111F">
              <a:alpha val="70000"/>
            </a:srgbClr>
          </a:solidFill>
          <a:ln w="9144">
            <a:solidFill>
              <a:srgbClr val="22E6A8">
                <a:alpha val="58000"/>
              </a:srgbClr>
            </a:solidFill>
            <a:prstDash val="solid"/>
          </a:ln>
        </p:spPr>
      </p:sp>
      <p:sp>
        <p:nvSpPr>
          <p:cNvPr id="10" name="Text 6"/>
          <p:cNvSpPr/>
          <p:nvPr/>
        </p:nvSpPr>
        <p:spPr>
          <a:xfrm>
            <a:off x="1700213" y="1910897"/>
            <a:ext cx="2371725" cy="164306"/>
          </a:xfrm>
          <a:prstGeom prst="rect">
            <a:avLst/>
          </a:prstGeom>
          <a:noFill/>
          <a:ln/>
        </p:spPr>
        <p:txBody>
          <a:bodyPr wrap="square" lIns="0" tIns="0" rIns="0" bIns="0" rtlCol="0" anchor="t">
            <a:spAutoFit/>
          </a:bodyPr>
          <a:lstStyle/>
          <a:p>
            <a:pPr marL="0" indent="0" algn="l">
              <a:buNone/>
            </a:pPr>
            <a:r>
              <a:rPr lang="en-US" sz="900" b="1" dirty="0">
                <a:solidFill>
                  <a:srgbClr val="E6FBFF"/>
                </a:solidFill>
                <a:latin typeface="Space Grotesk Bold" pitchFamily="34" charset="0"/>
                <a:ea typeface="Space Grotesk Bold" pitchFamily="34" charset="-122"/>
                <a:cs typeface="Space Grotesk Bold" pitchFamily="34" charset="-120"/>
              </a:rPr>
              <a:t>Usuario final — App Hologram</a:t>
            </a:r>
            <a:endParaRPr lang="en-US" sz="900" dirty="0"/>
          </a:p>
        </p:txBody>
      </p:sp>
      <p:sp>
        <p:nvSpPr>
          <p:cNvPr id="11" name="Text 7"/>
          <p:cNvSpPr/>
          <p:nvPr/>
        </p:nvSpPr>
        <p:spPr>
          <a:xfrm>
            <a:off x="1700213" y="2103779"/>
            <a:ext cx="2371725"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B7C8D9"/>
                </a:solidFill>
                <a:latin typeface="Inter" pitchFamily="34" charset="0"/>
                <a:ea typeface="Inter" pitchFamily="34" charset="-122"/>
                <a:cs typeface="Inter" pitchFamily="34" charset="-120"/>
              </a:rPr>
              <a:t>Escanea QR y ve credencial firmada por EAFIT</a:t>
            </a:r>
            <a:endParaRPr lang="en-US" sz="750" dirty="0"/>
          </a:p>
        </p:txBody>
      </p:sp>
      <p:sp>
        <p:nvSpPr>
          <p:cNvPr id="12" name="Text 8"/>
          <p:cNvSpPr/>
          <p:nvPr/>
        </p:nvSpPr>
        <p:spPr>
          <a:xfrm>
            <a:off x="585788" y="2271657"/>
            <a:ext cx="4600575" cy="105370"/>
          </a:xfrm>
          <a:prstGeom prst="rect">
            <a:avLst/>
          </a:prstGeom>
          <a:noFill/>
          <a:ln/>
        </p:spPr>
        <p:txBody>
          <a:bodyPr wrap="square" lIns="0" tIns="0" rIns="0" bIns="0" rtlCol="0" anchor="t">
            <a:spAutoFit/>
          </a:bodyPr>
          <a:lstStyle/>
          <a:p>
            <a:pPr marL="0" indent="0" algn="ctr">
              <a:buNone/>
            </a:pPr>
            <a:r>
              <a:rPr lang="en-US" sz="600" dirty="0">
                <a:solidFill>
                  <a:srgbClr val="00D4FF"/>
                </a:solidFill>
                <a:latin typeface="Inter" pitchFamily="34" charset="0"/>
                <a:ea typeface="Inter" pitchFamily="34" charset="-122"/>
                <a:cs typeface="Inter" pitchFamily="34" charset="-120"/>
              </a:rPr>
              <a:t>DIDComm cifrado · WSS</a:t>
            </a:r>
            <a:endParaRPr lang="en-US" sz="600" dirty="0"/>
          </a:p>
        </p:txBody>
      </p:sp>
      <p:sp>
        <p:nvSpPr>
          <p:cNvPr id="13" name="Shape 9"/>
          <p:cNvSpPr/>
          <p:nvPr/>
        </p:nvSpPr>
        <p:spPr>
          <a:xfrm>
            <a:off x="1493044" y="2705640"/>
            <a:ext cx="2786063" cy="389334"/>
          </a:xfrm>
          <a:prstGeom prst="rect">
            <a:avLst/>
          </a:prstGeom>
          <a:solidFill>
            <a:srgbClr val="07111F">
              <a:alpha val="70000"/>
            </a:srgbClr>
          </a:solidFill>
          <a:ln w="9144">
            <a:solidFill>
              <a:srgbClr val="00D4FF">
                <a:alpha val="44000"/>
              </a:srgbClr>
            </a:solidFill>
            <a:prstDash val="solid"/>
          </a:ln>
        </p:spPr>
      </p:sp>
      <p:sp>
        <p:nvSpPr>
          <p:cNvPr id="14" name="Text 10"/>
          <p:cNvSpPr/>
          <p:nvPr/>
        </p:nvSpPr>
        <p:spPr>
          <a:xfrm>
            <a:off x="1593056" y="2762790"/>
            <a:ext cx="2586038" cy="164306"/>
          </a:xfrm>
          <a:prstGeom prst="rect">
            <a:avLst/>
          </a:prstGeom>
          <a:noFill/>
          <a:ln/>
        </p:spPr>
        <p:txBody>
          <a:bodyPr wrap="square" lIns="0" tIns="0" rIns="0" bIns="0" rtlCol="0" anchor="t">
            <a:spAutoFit/>
          </a:bodyPr>
          <a:lstStyle/>
          <a:p>
            <a:pPr marL="0" indent="0" algn="l">
              <a:buNone/>
            </a:pPr>
            <a:r>
              <a:rPr lang="en-US" sz="900" b="1" dirty="0">
                <a:solidFill>
                  <a:srgbClr val="E6FBFF"/>
                </a:solidFill>
                <a:latin typeface="Space Grotesk Bold" pitchFamily="34" charset="0"/>
                <a:ea typeface="Space Grotesk Bold" pitchFamily="34" charset="-122"/>
                <a:cs typeface="Space Grotesk Bold" pitchFamily="34" charset="-120"/>
              </a:rPr>
              <a:t>Red Verana</a:t>
            </a:r>
            <a:endParaRPr lang="en-US" sz="900" dirty="0"/>
          </a:p>
        </p:txBody>
      </p:sp>
      <p:sp>
        <p:nvSpPr>
          <p:cNvPr id="15" name="Text 11"/>
          <p:cNvSpPr/>
          <p:nvPr/>
        </p:nvSpPr>
        <p:spPr>
          <a:xfrm>
            <a:off x="1593056" y="2955671"/>
            <a:ext cx="2586038"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B7C8D9"/>
                </a:solidFill>
                <a:latin typeface="Inter" pitchFamily="34" charset="0"/>
                <a:ea typeface="Inter" pitchFamily="34" charset="-122"/>
                <a:cs typeface="Inter" pitchFamily="34" charset="-120"/>
              </a:rPr>
              <a:t>DID · Credenciales verificables · confianza distribuida</a:t>
            </a:r>
            <a:endParaRPr lang="en-US" sz="750" dirty="0"/>
          </a:p>
        </p:txBody>
      </p:sp>
      <p:sp>
        <p:nvSpPr>
          <p:cNvPr id="16" name="Shape 12"/>
          <p:cNvSpPr/>
          <p:nvPr/>
        </p:nvSpPr>
        <p:spPr>
          <a:xfrm>
            <a:off x="585788" y="3450934"/>
            <a:ext cx="4357688" cy="1092994"/>
          </a:xfrm>
          <a:prstGeom prst="rect">
            <a:avLst/>
          </a:prstGeom>
          <a:solidFill>
            <a:srgbClr val="22E6A8">
              <a:alpha val="4000"/>
            </a:srgbClr>
          </a:solidFill>
          <a:ln w="9144">
            <a:solidFill>
              <a:srgbClr val="22E6A8">
                <a:alpha val="48000"/>
              </a:srgbClr>
            </a:solidFill>
            <a:prstDash val="solid"/>
          </a:ln>
        </p:spPr>
      </p:sp>
      <p:sp>
        <p:nvSpPr>
          <p:cNvPr id="17" name="Text 13"/>
          <p:cNvSpPr/>
          <p:nvPr/>
        </p:nvSpPr>
        <p:spPr>
          <a:xfrm>
            <a:off x="685800" y="3536659"/>
            <a:ext cx="4157663" cy="164306"/>
          </a:xfrm>
          <a:prstGeom prst="rect">
            <a:avLst/>
          </a:prstGeom>
          <a:noFill/>
          <a:ln/>
        </p:spPr>
        <p:txBody>
          <a:bodyPr wrap="square" lIns="0" tIns="0" rIns="0" bIns="0" rtlCol="0" anchor="t">
            <a:spAutoFit/>
          </a:bodyPr>
          <a:lstStyle/>
          <a:p>
            <a:pPr marL="0" indent="0" algn="l">
              <a:buNone/>
            </a:pPr>
            <a:r>
              <a:rPr lang="en-US" sz="950" dirty="0">
                <a:solidFill>
                  <a:srgbClr val="22E6A8"/>
                </a:solidFill>
                <a:latin typeface="Space Grotesk Medium" pitchFamily="34" charset="0"/>
                <a:ea typeface="Space Grotesk Medium" pitchFamily="34" charset="-122"/>
                <a:cs typeface="Space Grotesk Medium" pitchFamily="34" charset="-120"/>
              </a:rPr>
              <a:t>Kubernetes — Cluster EAFIT · team-g</a:t>
            </a:r>
            <a:endParaRPr lang="en-US" sz="950" dirty="0"/>
          </a:p>
        </p:txBody>
      </p:sp>
      <p:sp>
        <p:nvSpPr>
          <p:cNvPr id="18" name="Shape 14"/>
          <p:cNvSpPr/>
          <p:nvPr/>
        </p:nvSpPr>
        <p:spPr>
          <a:xfrm>
            <a:off x="685800" y="3786690"/>
            <a:ext cx="1328738" cy="428625"/>
          </a:xfrm>
          <a:prstGeom prst="rect">
            <a:avLst/>
          </a:prstGeom>
          <a:solidFill>
            <a:srgbClr val="00D4FF">
              <a:alpha val="6000"/>
            </a:srgbClr>
          </a:solidFill>
          <a:ln/>
        </p:spPr>
      </p:sp>
      <p:sp>
        <p:nvSpPr>
          <p:cNvPr id="19" name="Shape 15"/>
          <p:cNvSpPr/>
          <p:nvPr/>
        </p:nvSpPr>
        <p:spPr>
          <a:xfrm>
            <a:off x="685800" y="3786690"/>
            <a:ext cx="1328738" cy="7144"/>
          </a:xfrm>
          <a:prstGeom prst="rect">
            <a:avLst/>
          </a:prstGeom>
          <a:solidFill>
            <a:srgbClr val="73E7FF"/>
          </a:solidFill>
          <a:ln/>
        </p:spPr>
      </p:sp>
      <p:sp>
        <p:nvSpPr>
          <p:cNvPr id="20" name="Text 16"/>
          <p:cNvSpPr/>
          <p:nvPr/>
        </p:nvSpPr>
        <p:spPr>
          <a:xfrm>
            <a:off x="757238" y="3843840"/>
            <a:ext cx="1200150" cy="137517"/>
          </a:xfrm>
          <a:prstGeom prst="rect">
            <a:avLst/>
          </a:prstGeom>
          <a:noFill/>
          <a:ln/>
        </p:spPr>
        <p:txBody>
          <a:bodyPr wrap="none" lIns="0" tIns="0" rIns="0" bIns="0" rtlCol="0" anchor="t">
            <a:spAutoFit/>
          </a:bodyPr>
          <a:lstStyle/>
          <a:p>
            <a:pPr marL="0" indent="0" algn="l">
              <a:buNone/>
            </a:pPr>
            <a:r>
              <a:rPr lang="en-US" sz="750" b="1" dirty="0">
                <a:solidFill>
                  <a:srgbClr val="E6FBFF"/>
                </a:solidFill>
                <a:latin typeface="Space Grotesk Bold" pitchFamily="34" charset="0"/>
                <a:ea typeface="Space Grotesk Bold" pitchFamily="34" charset="-122"/>
                <a:cs typeface="Space Grotesk Bold" pitchFamily="34" charset="-120"/>
              </a:rPr>
              <a:t>NextAgent Web</a:t>
            </a:r>
            <a:endParaRPr lang="en-US" sz="750" dirty="0"/>
          </a:p>
        </p:txBody>
      </p:sp>
      <p:sp>
        <p:nvSpPr>
          <p:cNvPr id="21" name="Text 17"/>
          <p:cNvSpPr/>
          <p:nvPr/>
        </p:nvSpPr>
        <p:spPr>
          <a:xfrm>
            <a:off x="757238" y="4024219"/>
            <a:ext cx="1200150" cy="102859"/>
          </a:xfrm>
          <a:prstGeom prst="rect">
            <a:avLst/>
          </a:prstGeom>
          <a:noFill/>
          <a:ln/>
        </p:spPr>
        <p:txBody>
          <a:bodyPr wrap="none" lIns="0" tIns="0" rIns="0" bIns="0" rtlCol="0" anchor="t">
            <a:spAutoFit/>
          </a:bodyPr>
          <a:lstStyle/>
          <a:p>
            <a:pPr marL="0" indent="0" algn="l">
              <a:lnSpc>
                <a:spcPct val="96000"/>
              </a:lnSpc>
              <a:buNone/>
            </a:pPr>
            <a:r>
              <a:rPr lang="en-US" sz="600" dirty="0">
                <a:solidFill>
                  <a:srgbClr val="B7C8D9"/>
                </a:solidFill>
                <a:latin typeface="Inter" pitchFamily="34" charset="0"/>
                <a:ea typeface="Inter" pitchFamily="34" charset="-122"/>
                <a:cs typeface="Inter" pitchFamily="34" charset="-120"/>
              </a:rPr>
              <a:t>React + Express</a:t>
            </a:r>
            <a:endParaRPr lang="en-US" sz="600" dirty="0"/>
          </a:p>
        </p:txBody>
      </p:sp>
      <p:sp>
        <p:nvSpPr>
          <p:cNvPr id="22" name="Shape 18"/>
          <p:cNvSpPr/>
          <p:nvPr/>
        </p:nvSpPr>
        <p:spPr>
          <a:xfrm>
            <a:off x="2100263" y="3786690"/>
            <a:ext cx="1328738" cy="428625"/>
          </a:xfrm>
          <a:prstGeom prst="rect">
            <a:avLst/>
          </a:prstGeom>
          <a:solidFill>
            <a:srgbClr val="00D4FF">
              <a:alpha val="6000"/>
            </a:srgbClr>
          </a:solidFill>
          <a:ln/>
        </p:spPr>
      </p:sp>
      <p:sp>
        <p:nvSpPr>
          <p:cNvPr id="23" name="Shape 19"/>
          <p:cNvSpPr/>
          <p:nvPr/>
        </p:nvSpPr>
        <p:spPr>
          <a:xfrm>
            <a:off x="2100263" y="3786690"/>
            <a:ext cx="1328738" cy="7144"/>
          </a:xfrm>
          <a:prstGeom prst="rect">
            <a:avLst/>
          </a:prstGeom>
          <a:solidFill>
            <a:srgbClr val="73E7FF"/>
          </a:solidFill>
          <a:ln/>
        </p:spPr>
      </p:sp>
      <p:sp>
        <p:nvSpPr>
          <p:cNvPr id="24" name="Text 20"/>
          <p:cNvSpPr/>
          <p:nvPr/>
        </p:nvSpPr>
        <p:spPr>
          <a:xfrm>
            <a:off x="2171700" y="3843840"/>
            <a:ext cx="1200150" cy="137517"/>
          </a:xfrm>
          <a:prstGeom prst="rect">
            <a:avLst/>
          </a:prstGeom>
          <a:noFill/>
          <a:ln/>
        </p:spPr>
        <p:txBody>
          <a:bodyPr wrap="none" lIns="0" tIns="0" rIns="0" bIns="0" rtlCol="0" anchor="t">
            <a:spAutoFit/>
          </a:bodyPr>
          <a:lstStyle/>
          <a:p>
            <a:pPr marL="0" indent="0" algn="l">
              <a:buNone/>
            </a:pPr>
            <a:r>
              <a:rPr lang="en-US" sz="750" b="1" dirty="0">
                <a:solidFill>
                  <a:srgbClr val="E6FBFF"/>
                </a:solidFill>
                <a:latin typeface="Space Grotesk Bold" pitchFamily="34" charset="0"/>
                <a:ea typeface="Space Grotesk Bold" pitchFamily="34" charset="-122"/>
                <a:cs typeface="Space Grotesk Bold" pitchFamily="34" charset="-120"/>
              </a:rPr>
              <a:t>VS Agent</a:t>
            </a:r>
            <a:endParaRPr lang="en-US" sz="750" dirty="0"/>
          </a:p>
        </p:txBody>
      </p:sp>
      <p:sp>
        <p:nvSpPr>
          <p:cNvPr id="25" name="Text 21"/>
          <p:cNvSpPr/>
          <p:nvPr/>
        </p:nvSpPr>
        <p:spPr>
          <a:xfrm>
            <a:off x="2171700" y="4024219"/>
            <a:ext cx="1200150" cy="102859"/>
          </a:xfrm>
          <a:prstGeom prst="rect">
            <a:avLst/>
          </a:prstGeom>
          <a:noFill/>
          <a:ln/>
        </p:spPr>
        <p:txBody>
          <a:bodyPr wrap="none" lIns="0" tIns="0" rIns="0" bIns="0" rtlCol="0" anchor="t">
            <a:spAutoFit/>
          </a:bodyPr>
          <a:lstStyle/>
          <a:p>
            <a:pPr marL="0" indent="0" algn="l">
              <a:lnSpc>
                <a:spcPct val="96000"/>
              </a:lnSpc>
              <a:buNone/>
            </a:pPr>
            <a:r>
              <a:rPr lang="en-US" sz="600" dirty="0">
                <a:solidFill>
                  <a:srgbClr val="B7C8D9"/>
                </a:solidFill>
                <a:latin typeface="Inter" pitchFamily="34" charset="0"/>
                <a:ea typeface="Inter" pitchFamily="34" charset="-122"/>
                <a:cs typeface="Inter" pitchFamily="34" charset="-120"/>
              </a:rPr>
              <a:t>DID + DIDComm</a:t>
            </a:r>
            <a:endParaRPr lang="en-US" sz="600" dirty="0"/>
          </a:p>
        </p:txBody>
      </p:sp>
      <p:sp>
        <p:nvSpPr>
          <p:cNvPr id="26" name="Shape 22"/>
          <p:cNvSpPr/>
          <p:nvPr/>
        </p:nvSpPr>
        <p:spPr>
          <a:xfrm>
            <a:off x="3514725" y="3786690"/>
            <a:ext cx="1328738" cy="428625"/>
          </a:xfrm>
          <a:prstGeom prst="rect">
            <a:avLst/>
          </a:prstGeom>
          <a:solidFill>
            <a:srgbClr val="00D4FF">
              <a:alpha val="6000"/>
            </a:srgbClr>
          </a:solidFill>
          <a:ln/>
        </p:spPr>
      </p:sp>
      <p:sp>
        <p:nvSpPr>
          <p:cNvPr id="27" name="Shape 23"/>
          <p:cNvSpPr/>
          <p:nvPr/>
        </p:nvSpPr>
        <p:spPr>
          <a:xfrm>
            <a:off x="3514725" y="3786690"/>
            <a:ext cx="1328738" cy="7144"/>
          </a:xfrm>
          <a:prstGeom prst="rect">
            <a:avLst/>
          </a:prstGeom>
          <a:solidFill>
            <a:srgbClr val="73E7FF"/>
          </a:solidFill>
          <a:ln/>
        </p:spPr>
      </p:sp>
      <p:sp>
        <p:nvSpPr>
          <p:cNvPr id="28" name="Text 24"/>
          <p:cNvSpPr/>
          <p:nvPr/>
        </p:nvSpPr>
        <p:spPr>
          <a:xfrm>
            <a:off x="3586163" y="3843840"/>
            <a:ext cx="1200150" cy="137517"/>
          </a:xfrm>
          <a:prstGeom prst="rect">
            <a:avLst/>
          </a:prstGeom>
          <a:noFill/>
          <a:ln/>
        </p:spPr>
        <p:txBody>
          <a:bodyPr wrap="none" lIns="0" tIns="0" rIns="0" bIns="0" rtlCol="0" anchor="t">
            <a:spAutoFit/>
          </a:bodyPr>
          <a:lstStyle/>
          <a:p>
            <a:pPr marL="0" indent="0" algn="l">
              <a:buNone/>
            </a:pPr>
            <a:r>
              <a:rPr lang="en-US" sz="750" b="1" dirty="0">
                <a:solidFill>
                  <a:srgbClr val="E6FBFF"/>
                </a:solidFill>
                <a:latin typeface="Space Grotesk Bold" pitchFamily="34" charset="0"/>
                <a:ea typeface="Space Grotesk Bold" pitchFamily="34" charset="-122"/>
                <a:cs typeface="Space Grotesk Bold" pitchFamily="34" charset="-120"/>
              </a:rPr>
              <a:t>Bot Chatbot</a:t>
            </a:r>
            <a:endParaRPr lang="en-US" sz="750" dirty="0"/>
          </a:p>
        </p:txBody>
      </p:sp>
      <p:sp>
        <p:nvSpPr>
          <p:cNvPr id="29" name="Text 25"/>
          <p:cNvSpPr/>
          <p:nvPr/>
        </p:nvSpPr>
        <p:spPr>
          <a:xfrm>
            <a:off x="3586163" y="4024219"/>
            <a:ext cx="1200150" cy="102859"/>
          </a:xfrm>
          <a:prstGeom prst="rect">
            <a:avLst/>
          </a:prstGeom>
          <a:noFill/>
          <a:ln/>
        </p:spPr>
        <p:txBody>
          <a:bodyPr wrap="none" lIns="0" tIns="0" rIns="0" bIns="0" rtlCol="0" anchor="t">
            <a:spAutoFit/>
          </a:bodyPr>
          <a:lstStyle/>
          <a:p>
            <a:pPr marL="0" indent="0" algn="l">
              <a:lnSpc>
                <a:spcPct val="96000"/>
              </a:lnSpc>
              <a:buNone/>
            </a:pPr>
            <a:r>
              <a:rPr lang="en-US" sz="600" dirty="0">
                <a:solidFill>
                  <a:srgbClr val="B7C8D9"/>
                </a:solidFill>
                <a:latin typeface="Inter" pitchFamily="34" charset="0"/>
                <a:ea typeface="Inter" pitchFamily="34" charset="-122"/>
                <a:cs typeface="Inter" pitchFamily="34" charset="-120"/>
              </a:rPr>
              <a:t>GPT-4o-mini</a:t>
            </a:r>
            <a:endParaRPr lang="en-US" sz="600" dirty="0"/>
          </a:p>
        </p:txBody>
      </p:sp>
      <p:sp>
        <p:nvSpPr>
          <p:cNvPr id="30" name="Text 26"/>
          <p:cNvSpPr/>
          <p:nvPr/>
        </p:nvSpPr>
        <p:spPr>
          <a:xfrm>
            <a:off x="685800" y="4301040"/>
            <a:ext cx="4157663" cy="228600"/>
          </a:xfrm>
          <a:prstGeom prst="rect">
            <a:avLst/>
          </a:prstGeom>
          <a:noFill/>
          <a:ln/>
        </p:spPr>
        <p:txBody>
          <a:bodyPr wrap="square" lIns="0" tIns="0" rIns="0" bIns="0" rtlCol="0" anchor="ctr">
            <a:spAutoFit/>
          </a:bodyPr>
          <a:lstStyle/>
          <a:p>
            <a:pPr marL="0" indent="0" algn="ctr">
              <a:buNone/>
            </a:pPr>
            <a:r>
              <a:rPr lang="en-US" sz="750" dirty="0">
                <a:solidFill>
                  <a:srgbClr val="B7C8D9"/>
                </a:solidFill>
                <a:latin typeface="Inter" pitchFamily="34" charset="0"/>
                <a:ea typeface="Inter" pitchFamily="34" charset="-122"/>
                <a:cs typeface="Inter" pitchFamily="34" charset="-120"/>
              </a:rPr>
              <a:t>PostgreSQL · Redis · OpenAI API · Ingress TLS</a:t>
            </a:r>
            <a:endParaRPr lang="en-US" sz="750" dirty="0"/>
          </a:p>
        </p:txBody>
      </p:sp>
      <p:sp>
        <p:nvSpPr>
          <p:cNvPr id="31" name="Shape 27"/>
          <p:cNvSpPr/>
          <p:nvPr/>
        </p:nvSpPr>
        <p:spPr>
          <a:xfrm>
            <a:off x="742950" y="4225472"/>
            <a:ext cx="1714500" cy="400050"/>
          </a:xfrm>
          <a:prstGeom prst="rect">
            <a:avLst/>
          </a:prstGeom>
          <a:solidFill>
            <a:srgbClr val="00D4FF">
              <a:alpha val="4000"/>
            </a:srgbClr>
          </a:solidFill>
          <a:ln w="9144">
            <a:solidFill>
              <a:srgbClr val="00D4FF">
                <a:alpha val="42000"/>
              </a:srgbClr>
            </a:solidFill>
            <a:prstDash val="solid"/>
          </a:ln>
        </p:spPr>
      </p:sp>
      <p:sp>
        <p:nvSpPr>
          <p:cNvPr id="32" name="Text 28"/>
          <p:cNvSpPr/>
          <p:nvPr/>
        </p:nvSpPr>
        <p:spPr>
          <a:xfrm>
            <a:off x="828675" y="4287980"/>
            <a:ext cx="769739" cy="137517"/>
          </a:xfrm>
          <a:prstGeom prst="rect">
            <a:avLst/>
          </a:prstGeom>
          <a:noFill/>
          <a:ln/>
        </p:spPr>
        <p:txBody>
          <a:bodyPr wrap="none" lIns="0" tIns="0" rIns="0" bIns="0" rtlCol="0" anchor="t">
            <a:spAutoFit/>
          </a:bodyPr>
          <a:lstStyle/>
          <a:p>
            <a:pPr marL="0" indent="0" algn="l">
              <a:buNone/>
            </a:pPr>
            <a:r>
              <a:rPr lang="en-US" sz="750" b="1" dirty="0">
                <a:solidFill>
                  <a:srgbClr val="00D4FF"/>
                </a:solidFill>
                <a:latin typeface="Space Grotesk Bold" pitchFamily="34" charset="0"/>
                <a:ea typeface="Space Grotesk Bold" pitchFamily="34" charset="-122"/>
                <a:cs typeface="Space Grotesk Bold" pitchFamily="34" charset="-120"/>
              </a:rPr>
              <a:t>GitHub Actions</a:t>
            </a:r>
            <a:endParaRPr lang="en-US" sz="750" dirty="0"/>
          </a:p>
        </p:txBody>
      </p:sp>
      <p:sp>
        <p:nvSpPr>
          <p:cNvPr id="33" name="Text 29"/>
          <p:cNvSpPr/>
          <p:nvPr/>
        </p:nvSpPr>
        <p:spPr>
          <a:xfrm>
            <a:off x="828675" y="4454072"/>
            <a:ext cx="1543050" cy="105370"/>
          </a:xfrm>
          <a:prstGeom prst="rect">
            <a:avLst/>
          </a:prstGeom>
          <a:noFill/>
          <a:ln/>
        </p:spPr>
        <p:txBody>
          <a:bodyPr wrap="square" lIns="0" tIns="0" rIns="0" bIns="0" rtlCol="0" anchor="t">
            <a:spAutoFit/>
          </a:bodyPr>
          <a:lstStyle/>
          <a:p>
            <a:pPr marL="0" indent="0" algn="l">
              <a:buNone/>
            </a:pPr>
            <a:r>
              <a:rPr lang="en-US" sz="600" dirty="0">
                <a:solidFill>
                  <a:srgbClr val="B7C8D9"/>
                </a:solidFill>
                <a:latin typeface="Inter" pitchFamily="34" charset="0"/>
                <a:ea typeface="Inter" pitchFamily="34" charset="-122"/>
                <a:cs typeface="Inter" pitchFamily="34" charset="-120"/>
              </a:rPr>
              <a:t>Build → Push → Deploy → Credencial</a:t>
            </a:r>
            <a:endParaRPr lang="en-US" sz="600" dirty="0"/>
          </a:p>
        </p:txBody>
      </p:sp>
      <p:sp>
        <p:nvSpPr>
          <p:cNvPr id="34" name="Shape 30"/>
          <p:cNvSpPr/>
          <p:nvPr/>
        </p:nvSpPr>
        <p:spPr>
          <a:xfrm>
            <a:off x="5614988" y="1753735"/>
            <a:ext cx="3071813" cy="3000375"/>
          </a:xfrm>
          <a:prstGeom prst="rect">
            <a:avLst/>
          </a:prstGeom>
          <a:solidFill>
            <a:srgbClr val="07111F">
              <a:alpha val="2000"/>
            </a:srgbClr>
          </a:solidFill>
          <a:ln/>
        </p:spPr>
      </p:sp>
      <p:sp>
        <p:nvSpPr>
          <p:cNvPr id="35" name="Shape 31"/>
          <p:cNvSpPr/>
          <p:nvPr/>
        </p:nvSpPr>
        <p:spPr>
          <a:xfrm>
            <a:off x="5614988" y="1753735"/>
            <a:ext cx="3071813" cy="14288"/>
          </a:xfrm>
          <a:prstGeom prst="rect">
            <a:avLst/>
          </a:prstGeom>
          <a:solidFill>
            <a:srgbClr val="76F0C9"/>
          </a:solidFill>
          <a:ln/>
        </p:spPr>
      </p:sp>
      <p:sp>
        <p:nvSpPr>
          <p:cNvPr id="36" name="Text 32"/>
          <p:cNvSpPr/>
          <p:nvPr/>
        </p:nvSpPr>
        <p:spPr>
          <a:xfrm>
            <a:off x="5772150" y="1882322"/>
            <a:ext cx="2786063" cy="200583"/>
          </a:xfrm>
          <a:prstGeom prst="rect">
            <a:avLst/>
          </a:prstGeom>
          <a:noFill/>
          <a:ln/>
        </p:spPr>
        <p:txBody>
          <a:bodyPr wrap="none" lIns="0" tIns="0" rIns="0" bIns="0" rtlCol="0" anchor="t">
            <a:spAutoFit/>
          </a:bodyPr>
          <a:lstStyle/>
          <a:p>
            <a:pPr marL="0" indent="0" algn="l">
              <a:lnSpc>
                <a:spcPct val="86400"/>
              </a:lnSpc>
              <a:buNone/>
            </a:pPr>
            <a:r>
              <a:rPr lang="en-US" sz="1300" b="1" dirty="0">
                <a:solidFill>
                  <a:srgbClr val="E6FBFF"/>
                </a:solidFill>
                <a:latin typeface="Space Grotesk Bold" pitchFamily="34" charset="0"/>
                <a:ea typeface="Space Grotesk Bold" pitchFamily="34" charset="-122"/>
                <a:cs typeface="Space Grotesk Bold" pitchFamily="34" charset="-120"/>
              </a:rPr>
              <a:t>El usuario solo ve tres pasos</a:t>
            </a:r>
            <a:endParaRPr lang="en-US" sz="1300" dirty="0"/>
          </a:p>
        </p:txBody>
      </p:sp>
      <p:sp>
        <p:nvSpPr>
          <p:cNvPr id="37" name="Shape 33"/>
          <p:cNvSpPr/>
          <p:nvPr/>
        </p:nvSpPr>
        <p:spPr>
          <a:xfrm>
            <a:off x="5772150" y="2211493"/>
            <a:ext cx="2786063" cy="634901"/>
          </a:xfrm>
          <a:prstGeom prst="rect">
            <a:avLst/>
          </a:prstGeom>
          <a:solidFill>
            <a:srgbClr val="000000">
              <a:alpha val="0"/>
            </a:srgbClr>
          </a:solidFill>
          <a:ln/>
        </p:spPr>
      </p:sp>
      <p:sp>
        <p:nvSpPr>
          <p:cNvPr id="38" name="Shape 34"/>
          <p:cNvSpPr/>
          <p:nvPr/>
        </p:nvSpPr>
        <p:spPr>
          <a:xfrm>
            <a:off x="5772150" y="2211493"/>
            <a:ext cx="2786063" cy="7144"/>
          </a:xfrm>
          <a:prstGeom prst="rect">
            <a:avLst/>
          </a:prstGeom>
          <a:solidFill>
            <a:srgbClr val="A8F0FF"/>
          </a:solidFill>
          <a:ln/>
        </p:spPr>
      </p:sp>
      <p:sp>
        <p:nvSpPr>
          <p:cNvPr id="39" name="Text 35"/>
          <p:cNvSpPr/>
          <p:nvPr/>
        </p:nvSpPr>
        <p:spPr>
          <a:xfrm>
            <a:off x="5772150" y="2297218"/>
            <a:ext cx="385763" cy="542925"/>
          </a:xfrm>
          <a:prstGeom prst="rect">
            <a:avLst/>
          </a:prstGeom>
          <a:noFill/>
          <a:ln/>
        </p:spPr>
        <p:txBody>
          <a:bodyPr wrap="none" lIns="0" tIns="0" rIns="0" bIns="0" rtlCol="0" anchor="t">
            <a:spAutoFit/>
          </a:bodyPr>
          <a:lstStyle/>
          <a:p>
            <a:pPr marL="0" indent="0" algn="l">
              <a:buNone/>
            </a:pPr>
            <a:r>
              <a:rPr lang="en-US" sz="1600" dirty="0">
                <a:solidFill>
                  <a:srgbClr val="00D4FF"/>
                </a:solidFill>
                <a:latin typeface="Space Grotesk Medium" pitchFamily="34" charset="0"/>
                <a:ea typeface="Space Grotesk Medium" pitchFamily="34" charset="-122"/>
                <a:cs typeface="Space Grotesk Medium" pitchFamily="34" charset="-120"/>
              </a:rPr>
              <a:t>01</a:t>
            </a:r>
            <a:endParaRPr lang="en-US" sz="1600" dirty="0"/>
          </a:p>
        </p:txBody>
      </p:sp>
      <p:sp>
        <p:nvSpPr>
          <p:cNvPr id="40" name="Text 36"/>
          <p:cNvSpPr/>
          <p:nvPr/>
        </p:nvSpPr>
        <p:spPr>
          <a:xfrm>
            <a:off x="6257925" y="2297218"/>
            <a:ext cx="2300288" cy="192881"/>
          </a:xfrm>
          <a:prstGeom prst="rect">
            <a:avLst/>
          </a:prstGeom>
          <a:noFill/>
          <a:ln/>
        </p:spPr>
        <p:txBody>
          <a:bodyPr wrap="square" lIns="0" tIns="0" rIns="0" bIns="0" rtlCol="0" anchor="t">
            <a:spAutoFit/>
          </a:bodyPr>
          <a:lstStyle/>
          <a:p>
            <a:pPr marL="0" indent="0" algn="l">
              <a:buNone/>
            </a:pPr>
            <a:r>
              <a:rPr lang="en-US" sz="1050" b="1" dirty="0">
                <a:solidFill>
                  <a:srgbClr val="E6FBFF"/>
                </a:solidFill>
                <a:latin typeface="Space Grotesk Bold" pitchFamily="34" charset="0"/>
                <a:ea typeface="Space Grotesk Bold" pitchFamily="34" charset="-122"/>
                <a:cs typeface="Space Grotesk Bold" pitchFamily="34" charset="-120"/>
              </a:rPr>
              <a:t>Crear</a:t>
            </a:r>
            <a:endParaRPr lang="en-US" sz="1050" dirty="0"/>
          </a:p>
        </p:txBody>
      </p:sp>
      <p:sp>
        <p:nvSpPr>
          <p:cNvPr id="41" name="Text 37"/>
          <p:cNvSpPr/>
          <p:nvPr/>
        </p:nvSpPr>
        <p:spPr>
          <a:xfrm>
            <a:off x="6257925" y="2532962"/>
            <a:ext cx="2300288" cy="306288"/>
          </a:xfrm>
          <a:prstGeom prst="rect">
            <a:avLst/>
          </a:prstGeom>
          <a:noFill/>
          <a:ln/>
        </p:spPr>
        <p:txBody>
          <a:bodyPr wrap="square" lIns="0" tIns="0" rIns="0" bIns="0" rtlCol="0" anchor="t">
            <a:spAutoFit/>
          </a:bodyPr>
          <a:lstStyle/>
          <a:p>
            <a:pPr marL="0" indent="0" algn="l">
              <a:lnSpc>
                <a:spcPct val="107200"/>
              </a:lnSpc>
              <a:buNone/>
            </a:pPr>
            <a:r>
              <a:rPr lang="en-US" sz="850" dirty="0">
                <a:solidFill>
                  <a:srgbClr val="B7C8D9"/>
                </a:solidFill>
                <a:latin typeface="Inter" pitchFamily="34" charset="0"/>
                <a:ea typeface="Inter" pitchFamily="34" charset="-122"/>
                <a:cs typeface="Inter" pitchFamily="34" charset="-120"/>
              </a:rPr>
              <a:t>Llena un formulario visual; NextAgent genera la configuración técnica.</a:t>
            </a:r>
            <a:endParaRPr lang="en-US" sz="850" dirty="0"/>
          </a:p>
        </p:txBody>
      </p:sp>
      <p:sp>
        <p:nvSpPr>
          <p:cNvPr id="42" name="Shape 38"/>
          <p:cNvSpPr/>
          <p:nvPr/>
        </p:nvSpPr>
        <p:spPr>
          <a:xfrm>
            <a:off x="5772150" y="2840143"/>
            <a:ext cx="2786063" cy="634901"/>
          </a:xfrm>
          <a:prstGeom prst="rect">
            <a:avLst/>
          </a:prstGeom>
          <a:solidFill>
            <a:srgbClr val="000000">
              <a:alpha val="0"/>
            </a:srgbClr>
          </a:solidFill>
          <a:ln/>
        </p:spPr>
      </p:sp>
      <p:sp>
        <p:nvSpPr>
          <p:cNvPr id="43" name="Shape 39"/>
          <p:cNvSpPr/>
          <p:nvPr/>
        </p:nvSpPr>
        <p:spPr>
          <a:xfrm>
            <a:off x="5772150" y="2840143"/>
            <a:ext cx="2786063" cy="7144"/>
          </a:xfrm>
          <a:prstGeom prst="rect">
            <a:avLst/>
          </a:prstGeom>
          <a:solidFill>
            <a:srgbClr val="A8F0FF"/>
          </a:solidFill>
          <a:ln/>
        </p:spPr>
      </p:sp>
      <p:sp>
        <p:nvSpPr>
          <p:cNvPr id="44" name="Text 40"/>
          <p:cNvSpPr/>
          <p:nvPr/>
        </p:nvSpPr>
        <p:spPr>
          <a:xfrm>
            <a:off x="5772150" y="2925868"/>
            <a:ext cx="385763" cy="542925"/>
          </a:xfrm>
          <a:prstGeom prst="rect">
            <a:avLst/>
          </a:prstGeom>
          <a:noFill/>
          <a:ln/>
        </p:spPr>
        <p:txBody>
          <a:bodyPr wrap="none" lIns="0" tIns="0" rIns="0" bIns="0" rtlCol="0" anchor="t">
            <a:spAutoFit/>
          </a:bodyPr>
          <a:lstStyle/>
          <a:p>
            <a:pPr marL="0" indent="0" algn="l">
              <a:buNone/>
            </a:pPr>
            <a:r>
              <a:rPr lang="en-US" sz="1600" dirty="0">
                <a:solidFill>
                  <a:srgbClr val="00D4FF"/>
                </a:solidFill>
                <a:latin typeface="Space Grotesk Medium" pitchFamily="34" charset="0"/>
                <a:ea typeface="Space Grotesk Medium" pitchFamily="34" charset="-122"/>
                <a:cs typeface="Space Grotesk Medium" pitchFamily="34" charset="-120"/>
              </a:rPr>
              <a:t>02</a:t>
            </a:r>
            <a:endParaRPr lang="en-US" sz="1600" dirty="0"/>
          </a:p>
        </p:txBody>
      </p:sp>
      <p:sp>
        <p:nvSpPr>
          <p:cNvPr id="45" name="Text 41"/>
          <p:cNvSpPr/>
          <p:nvPr/>
        </p:nvSpPr>
        <p:spPr>
          <a:xfrm>
            <a:off x="6257925" y="2925868"/>
            <a:ext cx="2300288" cy="192881"/>
          </a:xfrm>
          <a:prstGeom prst="rect">
            <a:avLst/>
          </a:prstGeom>
          <a:noFill/>
          <a:ln/>
        </p:spPr>
        <p:txBody>
          <a:bodyPr wrap="square" lIns="0" tIns="0" rIns="0" bIns="0" rtlCol="0" anchor="t">
            <a:spAutoFit/>
          </a:bodyPr>
          <a:lstStyle/>
          <a:p>
            <a:pPr marL="0" indent="0" algn="l">
              <a:buNone/>
            </a:pPr>
            <a:r>
              <a:rPr lang="en-US" sz="1050" b="1" dirty="0">
                <a:solidFill>
                  <a:srgbClr val="E6FBFF"/>
                </a:solidFill>
                <a:latin typeface="Space Grotesk Bold" pitchFamily="34" charset="0"/>
                <a:ea typeface="Space Grotesk Bold" pitchFamily="34" charset="-122"/>
                <a:cs typeface="Space Grotesk Bold" pitchFamily="34" charset="-120"/>
              </a:rPr>
              <a:t>Publicar</a:t>
            </a:r>
            <a:endParaRPr lang="en-US" sz="1050" dirty="0"/>
          </a:p>
        </p:txBody>
      </p:sp>
      <p:sp>
        <p:nvSpPr>
          <p:cNvPr id="46" name="Text 42"/>
          <p:cNvSpPr/>
          <p:nvPr/>
        </p:nvSpPr>
        <p:spPr>
          <a:xfrm>
            <a:off x="6257925" y="3161612"/>
            <a:ext cx="2300288" cy="306288"/>
          </a:xfrm>
          <a:prstGeom prst="rect">
            <a:avLst/>
          </a:prstGeom>
          <a:noFill/>
          <a:ln/>
        </p:spPr>
        <p:txBody>
          <a:bodyPr wrap="square" lIns="0" tIns="0" rIns="0" bIns="0" rtlCol="0" anchor="t">
            <a:spAutoFit/>
          </a:bodyPr>
          <a:lstStyle/>
          <a:p>
            <a:pPr marL="0" indent="0" algn="l">
              <a:lnSpc>
                <a:spcPct val="107200"/>
              </a:lnSpc>
              <a:buNone/>
            </a:pPr>
            <a:r>
              <a:rPr lang="en-US" sz="850" dirty="0">
                <a:solidFill>
                  <a:srgbClr val="B7C8D9"/>
                </a:solidFill>
                <a:latin typeface="Inter" pitchFamily="34" charset="0"/>
                <a:ea typeface="Inter" pitchFamily="34" charset="-122"/>
                <a:cs typeface="Inter" pitchFamily="34" charset="-120"/>
              </a:rPr>
              <a:t>Hace clic en publicar; la plataforma despliega en K8s y emite la credencial.</a:t>
            </a:r>
            <a:endParaRPr lang="en-US" sz="850" dirty="0"/>
          </a:p>
        </p:txBody>
      </p:sp>
      <p:sp>
        <p:nvSpPr>
          <p:cNvPr id="47" name="Shape 43"/>
          <p:cNvSpPr/>
          <p:nvPr/>
        </p:nvSpPr>
        <p:spPr>
          <a:xfrm>
            <a:off x="5772150" y="3468793"/>
            <a:ext cx="2786063" cy="634901"/>
          </a:xfrm>
          <a:prstGeom prst="rect">
            <a:avLst/>
          </a:prstGeom>
          <a:solidFill>
            <a:srgbClr val="000000">
              <a:alpha val="0"/>
            </a:srgbClr>
          </a:solidFill>
          <a:ln/>
        </p:spPr>
      </p:sp>
      <p:sp>
        <p:nvSpPr>
          <p:cNvPr id="48" name="Shape 44"/>
          <p:cNvSpPr/>
          <p:nvPr/>
        </p:nvSpPr>
        <p:spPr>
          <a:xfrm>
            <a:off x="5772150" y="3468793"/>
            <a:ext cx="2786063" cy="7144"/>
          </a:xfrm>
          <a:prstGeom prst="rect">
            <a:avLst/>
          </a:prstGeom>
          <a:solidFill>
            <a:srgbClr val="A8F0FF"/>
          </a:solidFill>
          <a:ln/>
        </p:spPr>
      </p:sp>
      <p:sp>
        <p:nvSpPr>
          <p:cNvPr id="49" name="Text 45"/>
          <p:cNvSpPr/>
          <p:nvPr/>
        </p:nvSpPr>
        <p:spPr>
          <a:xfrm>
            <a:off x="5772150" y="3554518"/>
            <a:ext cx="385763" cy="542925"/>
          </a:xfrm>
          <a:prstGeom prst="rect">
            <a:avLst/>
          </a:prstGeom>
          <a:noFill/>
          <a:ln/>
        </p:spPr>
        <p:txBody>
          <a:bodyPr wrap="none" lIns="0" tIns="0" rIns="0" bIns="0" rtlCol="0" anchor="t">
            <a:spAutoFit/>
          </a:bodyPr>
          <a:lstStyle/>
          <a:p>
            <a:pPr marL="0" indent="0" algn="l">
              <a:buNone/>
            </a:pPr>
            <a:r>
              <a:rPr lang="en-US" sz="1600" dirty="0">
                <a:solidFill>
                  <a:srgbClr val="00D4FF"/>
                </a:solidFill>
                <a:latin typeface="Space Grotesk Medium" pitchFamily="34" charset="0"/>
                <a:ea typeface="Space Grotesk Medium" pitchFamily="34" charset="-122"/>
                <a:cs typeface="Space Grotesk Medium" pitchFamily="34" charset="-120"/>
              </a:rPr>
              <a:t>03</a:t>
            </a:r>
            <a:endParaRPr lang="en-US" sz="1600" dirty="0"/>
          </a:p>
        </p:txBody>
      </p:sp>
      <p:sp>
        <p:nvSpPr>
          <p:cNvPr id="50" name="Text 46"/>
          <p:cNvSpPr/>
          <p:nvPr/>
        </p:nvSpPr>
        <p:spPr>
          <a:xfrm>
            <a:off x="6257925" y="3554518"/>
            <a:ext cx="2300288" cy="192881"/>
          </a:xfrm>
          <a:prstGeom prst="rect">
            <a:avLst/>
          </a:prstGeom>
          <a:noFill/>
          <a:ln/>
        </p:spPr>
        <p:txBody>
          <a:bodyPr wrap="square" lIns="0" tIns="0" rIns="0" bIns="0" rtlCol="0" anchor="t">
            <a:spAutoFit/>
          </a:bodyPr>
          <a:lstStyle/>
          <a:p>
            <a:pPr marL="0" indent="0" algn="l">
              <a:buNone/>
            </a:pPr>
            <a:r>
              <a:rPr lang="en-US" sz="1050" b="1" dirty="0">
                <a:solidFill>
                  <a:srgbClr val="E6FBFF"/>
                </a:solidFill>
                <a:latin typeface="Space Grotesk Bold" pitchFamily="34" charset="0"/>
                <a:ea typeface="Space Grotesk Bold" pitchFamily="34" charset="-122"/>
                <a:cs typeface="Space Grotesk Bold" pitchFamily="34" charset="-120"/>
              </a:rPr>
              <a:t>Compartir</a:t>
            </a:r>
            <a:endParaRPr lang="en-US" sz="1050" dirty="0"/>
          </a:p>
        </p:txBody>
      </p:sp>
      <p:sp>
        <p:nvSpPr>
          <p:cNvPr id="51" name="Text 47"/>
          <p:cNvSpPr/>
          <p:nvPr/>
        </p:nvSpPr>
        <p:spPr>
          <a:xfrm>
            <a:off x="6257925" y="3790262"/>
            <a:ext cx="2300288" cy="306288"/>
          </a:xfrm>
          <a:prstGeom prst="rect">
            <a:avLst/>
          </a:prstGeom>
          <a:noFill/>
          <a:ln/>
        </p:spPr>
        <p:txBody>
          <a:bodyPr wrap="square" lIns="0" tIns="0" rIns="0" bIns="0" rtlCol="0" anchor="t">
            <a:spAutoFit/>
          </a:bodyPr>
          <a:lstStyle/>
          <a:p>
            <a:pPr marL="0" indent="0" algn="l">
              <a:lnSpc>
                <a:spcPct val="107200"/>
              </a:lnSpc>
              <a:buNone/>
            </a:pPr>
            <a:r>
              <a:rPr lang="en-US" sz="850" dirty="0">
                <a:solidFill>
                  <a:srgbClr val="B7C8D9"/>
                </a:solidFill>
                <a:latin typeface="Inter" pitchFamily="34" charset="0"/>
                <a:ea typeface="Inter" pitchFamily="34" charset="-122"/>
                <a:cs typeface="Inter" pitchFamily="34" charset="-120"/>
              </a:rPr>
              <a:t>Comparte el QR; el agente queda verificable en Hologram.</a:t>
            </a:r>
            <a:endParaRPr lang="en-US" sz="850" dirty="0"/>
          </a:p>
        </p:txBody>
      </p:sp>
      <p:sp>
        <p:nvSpPr>
          <p:cNvPr id="52" name="Shape 48"/>
          <p:cNvSpPr/>
          <p:nvPr/>
        </p:nvSpPr>
        <p:spPr>
          <a:xfrm>
            <a:off x="5772150" y="4226030"/>
            <a:ext cx="2786063" cy="613581"/>
          </a:xfrm>
          <a:prstGeom prst="rect">
            <a:avLst/>
          </a:prstGeom>
          <a:solidFill>
            <a:srgbClr val="000000">
              <a:alpha val="0"/>
            </a:srgbClr>
          </a:solidFill>
          <a:ln/>
        </p:spPr>
      </p:sp>
      <p:sp>
        <p:nvSpPr>
          <p:cNvPr id="53" name="Shape 49"/>
          <p:cNvSpPr/>
          <p:nvPr/>
        </p:nvSpPr>
        <p:spPr>
          <a:xfrm>
            <a:off x="5772150" y="4226030"/>
            <a:ext cx="2786063" cy="7144"/>
          </a:xfrm>
          <a:prstGeom prst="rect">
            <a:avLst/>
          </a:prstGeom>
          <a:solidFill>
            <a:srgbClr val="8CF2D2"/>
          </a:solidFill>
          <a:ln/>
        </p:spPr>
      </p:sp>
      <p:sp>
        <p:nvSpPr>
          <p:cNvPr id="54" name="Text 50"/>
          <p:cNvSpPr/>
          <p:nvPr/>
        </p:nvSpPr>
        <p:spPr>
          <a:xfrm>
            <a:off x="5772150" y="4226030"/>
            <a:ext cx="2786063" cy="613581"/>
          </a:xfrm>
          <a:prstGeom prst="rect">
            <a:avLst/>
          </a:prstGeom>
          <a:noFill/>
          <a:ln/>
        </p:spPr>
        <p:txBody>
          <a:bodyPr wrap="square" lIns="0" tIns="102108" rIns="0" bIns="0" rtlCol="0" anchor="t">
            <a:spAutoFit/>
          </a:bodyPr>
          <a:lstStyle/>
          <a:p>
            <a:pPr marL="0" indent="0" algn="l">
              <a:lnSpc>
                <a:spcPct val="108000"/>
              </a:lnSpc>
              <a:buNone/>
            </a:pPr>
            <a:r>
              <a:rPr lang="en-US" sz="900" b="1" dirty="0">
                <a:solidFill>
                  <a:srgbClr val="22E6A8"/>
                </a:solidFill>
                <a:latin typeface="Inter Bold" pitchFamily="34" charset="0"/>
                <a:ea typeface="Inter Bold" pitchFamily="34" charset="-122"/>
                <a:cs typeface="Inter Bold" pitchFamily="34" charset="-120"/>
              </a:rPr>
              <a:t>Clave: la complejidad técnica se ejecuta automáticamente, pero la confianza permanece visible para el usuario final.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223197"/>
          </a:xfrm>
          <a:prstGeom prst="rect">
            <a:avLst/>
          </a:prstGeom>
        </p:spPr>
      </p:pic>
      <p:sp>
        <p:nvSpPr>
          <p:cNvPr id="4" name="Text 0"/>
          <p:cNvSpPr/>
          <p:nvPr/>
        </p:nvSpPr>
        <p:spPr>
          <a:xfrm>
            <a:off x="500063" y="342900"/>
            <a:ext cx="8143875" cy="128588"/>
          </a:xfrm>
          <a:prstGeom prst="rect">
            <a:avLst/>
          </a:prstGeom>
          <a:noFill/>
          <a:ln/>
        </p:spPr>
        <p:txBody>
          <a:bodyPr wrap="square" lIns="0" tIns="0" rIns="0" bIns="0" rtlCol="0" anchor="t">
            <a:spAutoFit/>
          </a:bodyPr>
          <a:lstStyle/>
          <a:p>
            <a:pPr marL="0" indent="0" algn="l">
              <a:buNone/>
            </a:pPr>
            <a:r>
              <a:rPr lang="en-US" sz="750" b="1" kern="0" spc="2" dirty="0">
                <a:solidFill>
                  <a:srgbClr val="22E6A8"/>
                </a:solidFill>
                <a:latin typeface="Inter ExtraBold" pitchFamily="34" charset="0"/>
                <a:ea typeface="Inter ExtraBold" pitchFamily="34" charset="-122"/>
                <a:cs typeface="Inter ExtraBold" pitchFamily="34" charset="-120"/>
              </a:rPr>
              <a:t>USO DE INTELIGENCIA ARTIFICIAL</a:t>
            </a:r>
            <a:endParaRPr lang="en-US" sz="750" dirty="0"/>
          </a:p>
        </p:txBody>
      </p:sp>
      <p:sp>
        <p:nvSpPr>
          <p:cNvPr id="5" name="Text 1"/>
          <p:cNvSpPr/>
          <p:nvPr/>
        </p:nvSpPr>
        <p:spPr>
          <a:xfrm>
            <a:off x="500063" y="557213"/>
            <a:ext cx="6715125" cy="651197"/>
          </a:xfrm>
          <a:prstGeom prst="rect">
            <a:avLst/>
          </a:prstGeom>
          <a:noFill/>
          <a:ln/>
        </p:spPr>
        <p:txBody>
          <a:bodyPr wrap="square" lIns="0" tIns="0" rIns="0" bIns="0" rtlCol="0" anchor="t">
            <a:spAutoFit/>
          </a:bodyPr>
          <a:lstStyle/>
          <a:p>
            <a:pPr marL="0" indent="0" algn="l">
              <a:lnSpc>
                <a:spcPct val="84800"/>
              </a:lnSpc>
              <a:buNone/>
            </a:pPr>
            <a:r>
              <a:rPr lang="en-US" sz="2150" b="1" kern="0" spc="-1" dirty="0">
                <a:solidFill>
                  <a:srgbClr val="E6FBFF"/>
                </a:solidFill>
                <a:latin typeface="Space Grotesk Bold" pitchFamily="34" charset="0"/>
                <a:ea typeface="Space Grotesk Bold" pitchFamily="34" charset="-122"/>
                <a:cs typeface="Space Grotesk Bold" pitchFamily="34" charset="-120"/>
              </a:rPr>
              <a:t>IA útil, contextual y conectada para cada agente</a:t>
            </a:r>
            <a:endParaRPr lang="en-US" sz="2150" dirty="0"/>
          </a:p>
        </p:txBody>
      </p:sp>
      <p:sp>
        <p:nvSpPr>
          <p:cNvPr id="6" name="Text 2"/>
          <p:cNvSpPr/>
          <p:nvPr/>
        </p:nvSpPr>
        <p:spPr>
          <a:xfrm>
            <a:off x="500063" y="1308422"/>
            <a:ext cx="6572250" cy="371475"/>
          </a:xfrm>
          <a:prstGeom prst="rect">
            <a:avLst/>
          </a:prstGeom>
          <a:noFill/>
          <a:ln/>
        </p:spPr>
        <p:txBody>
          <a:bodyPr wrap="square" lIns="0" tIns="0" rIns="0" bIns="0" rtlCol="0" anchor="t">
            <a:spAutoFit/>
          </a:bodyPr>
          <a:lstStyle/>
          <a:p>
            <a:pPr marL="0" indent="0" algn="l">
              <a:lnSpc>
                <a:spcPct val="104000"/>
              </a:lnSpc>
              <a:buNone/>
            </a:pPr>
            <a:r>
              <a:rPr lang="en-US" sz="1050" dirty="0">
                <a:solidFill>
                  <a:srgbClr val="B7C8D9"/>
                </a:solidFill>
                <a:latin typeface="Inter" pitchFamily="34" charset="0"/>
                <a:ea typeface="Inter" pitchFamily="34" charset="-122"/>
                <a:cs typeface="Inter" pitchFamily="34" charset="-120"/>
              </a:rPr>
              <a:t>NextAgent combina lenguaje natural, conocimiento propio y herramientas en tiempo real para que el agente responda con precisión y actúe sobre el contexto del usuario.</a:t>
            </a:r>
            <a:endParaRPr lang="en-US" sz="1050" dirty="0"/>
          </a:p>
        </p:txBody>
      </p:sp>
      <p:sp>
        <p:nvSpPr>
          <p:cNvPr id="7" name="Shape 3"/>
          <p:cNvSpPr/>
          <p:nvPr/>
        </p:nvSpPr>
        <p:spPr>
          <a:xfrm>
            <a:off x="500063" y="1922785"/>
            <a:ext cx="2076431" cy="2271713"/>
          </a:xfrm>
          <a:prstGeom prst="rect">
            <a:avLst/>
          </a:prstGeom>
          <a:solidFill>
            <a:srgbClr val="07111F">
              <a:alpha val="2000"/>
            </a:srgbClr>
          </a:solidFill>
          <a:ln/>
        </p:spPr>
      </p:sp>
      <p:sp>
        <p:nvSpPr>
          <p:cNvPr id="8" name="Shape 4"/>
          <p:cNvSpPr/>
          <p:nvPr/>
        </p:nvSpPr>
        <p:spPr>
          <a:xfrm>
            <a:off x="500063" y="1922785"/>
            <a:ext cx="2076431" cy="14288"/>
          </a:xfrm>
          <a:prstGeom prst="rect">
            <a:avLst/>
          </a:prstGeom>
          <a:solidFill>
            <a:srgbClr val="61E4FF"/>
          </a:solidFill>
          <a:ln/>
        </p:spPr>
      </p:sp>
      <p:sp>
        <p:nvSpPr>
          <p:cNvPr id="9" name="Text 5"/>
          <p:cNvSpPr/>
          <p:nvPr/>
        </p:nvSpPr>
        <p:spPr>
          <a:xfrm>
            <a:off x="642938" y="2079947"/>
            <a:ext cx="1804969" cy="128588"/>
          </a:xfrm>
          <a:prstGeom prst="rect">
            <a:avLst/>
          </a:prstGeom>
          <a:noFill/>
          <a:ln/>
        </p:spPr>
        <p:txBody>
          <a:bodyPr wrap="square" lIns="0" tIns="0" rIns="0" bIns="0" rtlCol="0" anchor="t">
            <a:spAutoFit/>
          </a:bodyPr>
          <a:lstStyle/>
          <a:p>
            <a:pPr marL="0" indent="0" algn="l">
              <a:buNone/>
            </a:pPr>
            <a:r>
              <a:rPr lang="en-US" sz="750" b="1" kern="0" spc="1" dirty="0">
                <a:solidFill>
                  <a:srgbClr val="E6FBFF"/>
                </a:solidFill>
                <a:latin typeface="Inter ExtraBold" pitchFamily="34" charset="0"/>
                <a:ea typeface="Inter ExtraBold" pitchFamily="34" charset="-122"/>
                <a:cs typeface="Inter ExtraBold" pitchFamily="34" charset="-120"/>
              </a:rPr>
              <a:t>MOTOR CONVERSACIONAL</a:t>
            </a:r>
            <a:endParaRPr lang="en-US" sz="750" dirty="0"/>
          </a:p>
        </p:txBody>
      </p:sp>
      <p:sp>
        <p:nvSpPr>
          <p:cNvPr id="10" name="Text 6"/>
          <p:cNvSpPr/>
          <p:nvPr/>
        </p:nvSpPr>
        <p:spPr>
          <a:xfrm>
            <a:off x="642938" y="2337122"/>
            <a:ext cx="1804969" cy="192881"/>
          </a:xfrm>
          <a:prstGeom prst="rect">
            <a:avLst/>
          </a:prstGeom>
          <a:noFill/>
          <a:ln/>
        </p:spPr>
        <p:txBody>
          <a:bodyPr wrap="none" lIns="0" tIns="0" rIns="0" bIns="0" rtlCol="0" anchor="t">
            <a:spAutoFit/>
          </a:bodyPr>
          <a:lstStyle/>
          <a:p>
            <a:pPr marL="0" indent="0" algn="l">
              <a:lnSpc>
                <a:spcPct val="86400"/>
              </a:lnSpc>
              <a:buNone/>
            </a:pPr>
            <a:r>
              <a:rPr lang="en-US" sz="1250" b="1" dirty="0">
                <a:solidFill>
                  <a:srgbClr val="00D4FF"/>
                </a:solidFill>
                <a:latin typeface="Space Grotesk Bold" pitchFamily="34" charset="0"/>
                <a:ea typeface="Space Grotesk Bold" pitchFamily="34" charset="-122"/>
                <a:cs typeface="Space Grotesk Bold" pitchFamily="34" charset="-120"/>
              </a:rPr>
              <a:t>GPT-4o-mini</a:t>
            </a:r>
            <a:endParaRPr lang="en-US" sz="1250" dirty="0"/>
          </a:p>
        </p:txBody>
      </p:sp>
      <p:sp>
        <p:nvSpPr>
          <p:cNvPr id="11" name="Text 7"/>
          <p:cNvSpPr/>
          <p:nvPr/>
        </p:nvSpPr>
        <p:spPr>
          <a:xfrm>
            <a:off x="642938" y="2630016"/>
            <a:ext cx="1804969" cy="655774"/>
          </a:xfrm>
          <a:prstGeom prst="rect">
            <a:avLst/>
          </a:prstGeom>
          <a:noFill/>
          <a:ln/>
        </p:spPr>
        <p:txBody>
          <a:bodyPr wrap="square" lIns="0" tIns="0" rIns="0" bIns="0" rtlCol="0" anchor="t">
            <a:spAutoFit/>
          </a:bodyPr>
          <a:lstStyle/>
          <a:p>
            <a:pPr marL="0" indent="0" algn="l">
              <a:lnSpc>
                <a:spcPct val="108000"/>
              </a:lnSpc>
              <a:buNone/>
            </a:pPr>
            <a:r>
              <a:rPr lang="en-US" sz="900" dirty="0">
                <a:solidFill>
                  <a:srgbClr val="B7C8D9"/>
                </a:solidFill>
                <a:latin typeface="Inter" pitchFamily="34" charset="0"/>
                <a:ea typeface="Inter" pitchFamily="34" charset="-122"/>
                <a:cs typeface="Inter" pitchFamily="34" charset="-120"/>
              </a:rPr>
              <a:t>Interpreta instrucciones, genera respuestas naturales y mantiene una conversación coherente sesión a sesión.</a:t>
            </a:r>
            <a:endParaRPr lang="en-US" sz="900" dirty="0"/>
          </a:p>
        </p:txBody>
      </p:sp>
      <p:sp>
        <p:nvSpPr>
          <p:cNvPr id="12" name="Shape 8"/>
          <p:cNvSpPr/>
          <p:nvPr/>
        </p:nvSpPr>
        <p:spPr>
          <a:xfrm>
            <a:off x="642938" y="3414378"/>
            <a:ext cx="1804969" cy="570021"/>
          </a:xfrm>
          <a:prstGeom prst="rect">
            <a:avLst/>
          </a:prstGeom>
          <a:solidFill>
            <a:srgbClr val="000000">
              <a:alpha val="0"/>
            </a:srgbClr>
          </a:solidFill>
          <a:ln/>
        </p:spPr>
      </p:sp>
      <p:sp>
        <p:nvSpPr>
          <p:cNvPr id="13" name="Shape 9"/>
          <p:cNvSpPr/>
          <p:nvPr/>
        </p:nvSpPr>
        <p:spPr>
          <a:xfrm>
            <a:off x="642938" y="3414378"/>
            <a:ext cx="1804969" cy="7144"/>
          </a:xfrm>
          <a:prstGeom prst="rect">
            <a:avLst/>
          </a:prstGeom>
          <a:solidFill>
            <a:srgbClr val="EBF0F4"/>
          </a:solidFill>
          <a:ln/>
        </p:spPr>
      </p:sp>
      <p:sp>
        <p:nvSpPr>
          <p:cNvPr id="14" name="Text 10"/>
          <p:cNvSpPr/>
          <p:nvPr/>
        </p:nvSpPr>
        <p:spPr>
          <a:xfrm>
            <a:off x="642938" y="3414378"/>
            <a:ext cx="1804969" cy="570021"/>
          </a:xfrm>
          <a:prstGeom prst="rect">
            <a:avLst/>
          </a:prstGeom>
          <a:noFill/>
          <a:ln/>
        </p:spPr>
        <p:txBody>
          <a:bodyPr wrap="square" lIns="0" tIns="119126" rIns="0" bIns="0" rtlCol="0" anchor="t">
            <a:spAutoFit/>
          </a:bodyPr>
          <a:lstStyle/>
          <a:p>
            <a:pPr marL="0" indent="0" algn="l">
              <a:lnSpc>
                <a:spcPct val="108000"/>
              </a:lnSpc>
              <a:buNone/>
            </a:pPr>
            <a:r>
              <a:rPr lang="en-US" sz="850" dirty="0">
                <a:solidFill>
                  <a:srgbClr val="E6FBFF"/>
                </a:solidFill>
                <a:latin typeface="Inter" pitchFamily="34" charset="0"/>
                <a:ea typeface="Inter" pitchFamily="34" charset="-122"/>
                <a:cs typeface="Inter" pitchFamily="34" charset="-120"/>
              </a:rPr>
              <a:t>Ideal para responder preguntas frecuentes, orientar usuarios y adaptar el tono del agente.</a:t>
            </a:r>
            <a:endParaRPr lang="en-US" sz="850" dirty="0"/>
          </a:p>
        </p:txBody>
      </p:sp>
      <p:sp>
        <p:nvSpPr>
          <p:cNvPr id="15" name="Shape 11"/>
          <p:cNvSpPr/>
          <p:nvPr/>
        </p:nvSpPr>
        <p:spPr>
          <a:xfrm rot="2700000">
            <a:off x="2826525" y="2444279"/>
            <a:ext cx="1228725" cy="1228725"/>
          </a:xfrm>
          <a:prstGeom prst="rect">
            <a:avLst/>
          </a:prstGeom>
          <a:solidFill>
            <a:srgbClr val="00D4FF">
              <a:alpha val="9000"/>
            </a:srgbClr>
          </a:solidFill>
          <a:ln w="18288">
            <a:solidFill>
              <a:srgbClr val="00D4FF">
                <a:alpha val="72000"/>
              </a:srgbClr>
            </a:solidFill>
            <a:prstDash val="solid"/>
          </a:ln>
        </p:spPr>
      </p:sp>
      <p:sp>
        <p:nvSpPr>
          <p:cNvPr id="16" name="Text 12"/>
          <p:cNvSpPr/>
          <p:nvPr/>
        </p:nvSpPr>
        <p:spPr>
          <a:xfrm>
            <a:off x="3273711" y="2872894"/>
            <a:ext cx="334333" cy="185738"/>
          </a:xfrm>
          <a:prstGeom prst="rect">
            <a:avLst/>
          </a:prstGeom>
          <a:noFill/>
          <a:ln/>
        </p:spPr>
        <p:txBody>
          <a:bodyPr wrap="none" lIns="0" tIns="0" rIns="0" bIns="0" rtlCol="0" anchor="t">
            <a:spAutoFit/>
          </a:bodyPr>
          <a:lstStyle/>
          <a:p>
            <a:pPr marL="0" indent="0" algn="ctr">
              <a:lnSpc>
                <a:spcPct val="80000"/>
              </a:lnSpc>
              <a:buNone/>
            </a:pPr>
            <a:r>
              <a:rPr lang="en-US" sz="1400" dirty="0">
                <a:solidFill>
                  <a:srgbClr val="E6FBFF"/>
                </a:solidFill>
                <a:latin typeface="Space Grotesk Medium" pitchFamily="34" charset="0"/>
                <a:ea typeface="Space Grotesk Medium" pitchFamily="34" charset="-122"/>
                <a:cs typeface="Space Grotesk Medium" pitchFamily="34" charset="-120"/>
              </a:rPr>
              <a:t>AI</a:t>
            </a:r>
            <a:endParaRPr lang="en-US" sz="1400" dirty="0"/>
          </a:p>
        </p:txBody>
      </p:sp>
      <p:sp>
        <p:nvSpPr>
          <p:cNvPr id="17" name="Text 13"/>
          <p:cNvSpPr/>
          <p:nvPr/>
        </p:nvSpPr>
        <p:spPr>
          <a:xfrm>
            <a:off x="3273711" y="3115781"/>
            <a:ext cx="334333" cy="128588"/>
          </a:xfrm>
          <a:prstGeom prst="rect">
            <a:avLst/>
          </a:prstGeom>
          <a:noFill/>
          <a:ln/>
        </p:spPr>
        <p:txBody>
          <a:bodyPr wrap="none" lIns="0" tIns="0" rIns="0" bIns="0" rtlCol="0" anchor="t">
            <a:spAutoFit/>
          </a:bodyPr>
          <a:lstStyle/>
          <a:p>
            <a:pPr marL="0" indent="0" algn="ctr">
              <a:buNone/>
            </a:pPr>
            <a:r>
              <a:rPr lang="en-US" sz="750" b="1" kern="0" spc="1" dirty="0">
                <a:solidFill>
                  <a:srgbClr val="22E6A8"/>
                </a:solidFill>
                <a:latin typeface="Inter ExtraBold" pitchFamily="34" charset="0"/>
                <a:ea typeface="Inter ExtraBold" pitchFamily="34" charset="-122"/>
                <a:cs typeface="Inter ExtraBold" pitchFamily="34" charset="-120"/>
              </a:rPr>
              <a:t>CORE</a:t>
            </a:r>
            <a:endParaRPr lang="en-US" sz="750" dirty="0"/>
          </a:p>
        </p:txBody>
      </p:sp>
      <p:sp>
        <p:nvSpPr>
          <p:cNvPr id="18" name="Shape 14"/>
          <p:cNvSpPr/>
          <p:nvPr/>
        </p:nvSpPr>
        <p:spPr>
          <a:xfrm>
            <a:off x="4305281" y="1922785"/>
            <a:ext cx="2076459" cy="2271713"/>
          </a:xfrm>
          <a:prstGeom prst="rect">
            <a:avLst/>
          </a:prstGeom>
          <a:solidFill>
            <a:srgbClr val="07111F">
              <a:alpha val="2000"/>
            </a:srgbClr>
          </a:solidFill>
          <a:ln/>
        </p:spPr>
      </p:sp>
      <p:sp>
        <p:nvSpPr>
          <p:cNvPr id="19" name="Shape 15"/>
          <p:cNvSpPr/>
          <p:nvPr/>
        </p:nvSpPr>
        <p:spPr>
          <a:xfrm>
            <a:off x="4305281" y="1922785"/>
            <a:ext cx="2076459" cy="14288"/>
          </a:xfrm>
          <a:prstGeom prst="rect">
            <a:avLst/>
          </a:prstGeom>
          <a:solidFill>
            <a:srgbClr val="60EDC0"/>
          </a:solidFill>
          <a:ln/>
        </p:spPr>
      </p:sp>
      <p:sp>
        <p:nvSpPr>
          <p:cNvPr id="20" name="Text 16"/>
          <p:cNvSpPr/>
          <p:nvPr/>
        </p:nvSpPr>
        <p:spPr>
          <a:xfrm>
            <a:off x="4448156" y="2079947"/>
            <a:ext cx="1804997" cy="128588"/>
          </a:xfrm>
          <a:prstGeom prst="rect">
            <a:avLst/>
          </a:prstGeom>
          <a:noFill/>
          <a:ln/>
        </p:spPr>
        <p:txBody>
          <a:bodyPr wrap="square" lIns="0" tIns="0" rIns="0" bIns="0" rtlCol="0" anchor="t">
            <a:spAutoFit/>
          </a:bodyPr>
          <a:lstStyle/>
          <a:p>
            <a:pPr marL="0" indent="0" algn="l">
              <a:buNone/>
            </a:pPr>
            <a:r>
              <a:rPr lang="en-US" sz="750" b="1" kern="0" spc="1" dirty="0">
                <a:solidFill>
                  <a:srgbClr val="E6FBFF"/>
                </a:solidFill>
                <a:latin typeface="Inter ExtraBold" pitchFamily="34" charset="0"/>
                <a:ea typeface="Inter ExtraBold" pitchFamily="34" charset="-122"/>
                <a:cs typeface="Inter ExtraBold" pitchFamily="34" charset="-120"/>
              </a:rPr>
              <a:t>CONTEXTO PROPIO</a:t>
            </a:r>
            <a:endParaRPr lang="en-US" sz="750" dirty="0"/>
          </a:p>
        </p:txBody>
      </p:sp>
      <p:sp>
        <p:nvSpPr>
          <p:cNvPr id="21" name="Text 17"/>
          <p:cNvSpPr/>
          <p:nvPr/>
        </p:nvSpPr>
        <p:spPr>
          <a:xfrm>
            <a:off x="4448156" y="2337122"/>
            <a:ext cx="1804997" cy="192881"/>
          </a:xfrm>
          <a:prstGeom prst="rect">
            <a:avLst/>
          </a:prstGeom>
          <a:noFill/>
          <a:ln/>
        </p:spPr>
        <p:txBody>
          <a:bodyPr wrap="none" lIns="0" tIns="0" rIns="0" bIns="0" rtlCol="0" anchor="t">
            <a:spAutoFit/>
          </a:bodyPr>
          <a:lstStyle/>
          <a:p>
            <a:pPr marL="0" indent="0" algn="l">
              <a:lnSpc>
                <a:spcPct val="86400"/>
              </a:lnSpc>
              <a:buNone/>
            </a:pPr>
            <a:r>
              <a:rPr lang="en-US" sz="1250" b="1" dirty="0">
                <a:solidFill>
                  <a:srgbClr val="22E6A8"/>
                </a:solidFill>
                <a:latin typeface="Space Grotesk Bold" pitchFamily="34" charset="0"/>
                <a:ea typeface="Space Grotesk Bold" pitchFamily="34" charset="-122"/>
                <a:cs typeface="Space Grotesk Bold" pitchFamily="34" charset="-120"/>
              </a:rPr>
              <a:t>RAG</a:t>
            </a:r>
            <a:endParaRPr lang="en-US" sz="1250" dirty="0"/>
          </a:p>
        </p:txBody>
      </p:sp>
      <p:sp>
        <p:nvSpPr>
          <p:cNvPr id="22" name="Text 18"/>
          <p:cNvSpPr/>
          <p:nvPr/>
        </p:nvSpPr>
        <p:spPr>
          <a:xfrm>
            <a:off x="4448156" y="2630016"/>
            <a:ext cx="1804997" cy="655774"/>
          </a:xfrm>
          <a:prstGeom prst="rect">
            <a:avLst/>
          </a:prstGeom>
          <a:noFill/>
          <a:ln/>
        </p:spPr>
        <p:txBody>
          <a:bodyPr wrap="square" lIns="0" tIns="0" rIns="0" bIns="0" rtlCol="0" anchor="t">
            <a:spAutoFit/>
          </a:bodyPr>
          <a:lstStyle/>
          <a:p>
            <a:pPr marL="0" indent="0" algn="l">
              <a:lnSpc>
                <a:spcPct val="108000"/>
              </a:lnSpc>
              <a:buNone/>
            </a:pPr>
            <a:r>
              <a:rPr lang="en-US" sz="900" dirty="0">
                <a:solidFill>
                  <a:srgbClr val="B7C8D9"/>
                </a:solidFill>
                <a:latin typeface="Inter" pitchFamily="34" charset="0"/>
                <a:ea typeface="Inter" pitchFamily="34" charset="-122"/>
                <a:cs typeface="Inter" pitchFamily="34" charset="-120"/>
              </a:rPr>
              <a:t>Busca en documentos cargados por el usuario antes de responder: PDFs, TXT, manuales o reglamentos.</a:t>
            </a:r>
            <a:endParaRPr lang="en-US" sz="900" dirty="0"/>
          </a:p>
        </p:txBody>
      </p:sp>
      <p:sp>
        <p:nvSpPr>
          <p:cNvPr id="23" name="Shape 19"/>
          <p:cNvSpPr/>
          <p:nvPr/>
        </p:nvSpPr>
        <p:spPr>
          <a:xfrm>
            <a:off x="4448156" y="3414378"/>
            <a:ext cx="1804997" cy="570021"/>
          </a:xfrm>
          <a:prstGeom prst="rect">
            <a:avLst/>
          </a:prstGeom>
          <a:solidFill>
            <a:srgbClr val="000000">
              <a:alpha val="0"/>
            </a:srgbClr>
          </a:solidFill>
          <a:ln/>
        </p:spPr>
      </p:sp>
      <p:sp>
        <p:nvSpPr>
          <p:cNvPr id="24" name="Shape 20"/>
          <p:cNvSpPr/>
          <p:nvPr/>
        </p:nvSpPr>
        <p:spPr>
          <a:xfrm>
            <a:off x="4448156" y="3414378"/>
            <a:ext cx="1804997" cy="7144"/>
          </a:xfrm>
          <a:prstGeom prst="rect">
            <a:avLst/>
          </a:prstGeom>
          <a:solidFill>
            <a:srgbClr val="EBF0F4"/>
          </a:solidFill>
          <a:ln/>
        </p:spPr>
      </p:sp>
      <p:sp>
        <p:nvSpPr>
          <p:cNvPr id="25" name="Text 21"/>
          <p:cNvSpPr/>
          <p:nvPr/>
        </p:nvSpPr>
        <p:spPr>
          <a:xfrm>
            <a:off x="4448156" y="3414378"/>
            <a:ext cx="1804997" cy="570021"/>
          </a:xfrm>
          <a:prstGeom prst="rect">
            <a:avLst/>
          </a:prstGeom>
          <a:noFill/>
          <a:ln/>
        </p:spPr>
        <p:txBody>
          <a:bodyPr wrap="square" lIns="0" tIns="119126" rIns="0" bIns="0" rtlCol="0" anchor="t">
            <a:spAutoFit/>
          </a:bodyPr>
          <a:lstStyle/>
          <a:p>
            <a:pPr marL="0" indent="0" algn="l">
              <a:lnSpc>
                <a:spcPct val="108000"/>
              </a:lnSpc>
              <a:buNone/>
            </a:pPr>
            <a:r>
              <a:rPr lang="en-US" sz="850" dirty="0">
                <a:solidFill>
                  <a:srgbClr val="E6FBFF"/>
                </a:solidFill>
                <a:latin typeface="Inter" pitchFamily="34" charset="0"/>
                <a:ea typeface="Inter" pitchFamily="34" charset="-122"/>
                <a:cs typeface="Inter" pitchFamily="34" charset="-120"/>
              </a:rPr>
              <a:t>Un médico sube su tarifario; el agente responde con precios reales.</a:t>
            </a:r>
            <a:endParaRPr lang="en-US" sz="850" dirty="0"/>
          </a:p>
        </p:txBody>
      </p:sp>
      <p:sp>
        <p:nvSpPr>
          <p:cNvPr id="26" name="Shape 22"/>
          <p:cNvSpPr/>
          <p:nvPr/>
        </p:nvSpPr>
        <p:spPr>
          <a:xfrm>
            <a:off x="6567478" y="1922785"/>
            <a:ext cx="2076431" cy="2271713"/>
          </a:xfrm>
          <a:prstGeom prst="rect">
            <a:avLst/>
          </a:prstGeom>
          <a:solidFill>
            <a:srgbClr val="07111F">
              <a:alpha val="2000"/>
            </a:srgbClr>
          </a:solidFill>
          <a:ln/>
        </p:spPr>
      </p:sp>
      <p:sp>
        <p:nvSpPr>
          <p:cNvPr id="27" name="Shape 23"/>
          <p:cNvSpPr/>
          <p:nvPr/>
        </p:nvSpPr>
        <p:spPr>
          <a:xfrm>
            <a:off x="6567478" y="1922785"/>
            <a:ext cx="2076431" cy="14288"/>
          </a:xfrm>
          <a:prstGeom prst="rect">
            <a:avLst/>
          </a:prstGeom>
          <a:solidFill>
            <a:srgbClr val="61E4FF"/>
          </a:solidFill>
          <a:ln/>
        </p:spPr>
      </p:sp>
      <p:sp>
        <p:nvSpPr>
          <p:cNvPr id="28" name="Text 24"/>
          <p:cNvSpPr/>
          <p:nvPr/>
        </p:nvSpPr>
        <p:spPr>
          <a:xfrm>
            <a:off x="6710353" y="2079947"/>
            <a:ext cx="1804969" cy="128588"/>
          </a:xfrm>
          <a:prstGeom prst="rect">
            <a:avLst/>
          </a:prstGeom>
          <a:noFill/>
          <a:ln/>
        </p:spPr>
        <p:txBody>
          <a:bodyPr wrap="square" lIns="0" tIns="0" rIns="0" bIns="0" rtlCol="0" anchor="t">
            <a:spAutoFit/>
          </a:bodyPr>
          <a:lstStyle/>
          <a:p>
            <a:pPr marL="0" indent="0" algn="l">
              <a:buNone/>
            </a:pPr>
            <a:r>
              <a:rPr lang="en-US" sz="750" b="1" kern="0" spc="1" dirty="0">
                <a:solidFill>
                  <a:srgbClr val="E6FBFF"/>
                </a:solidFill>
                <a:latin typeface="Inter ExtraBold" pitchFamily="34" charset="0"/>
                <a:ea typeface="Inter ExtraBold" pitchFamily="34" charset="-122"/>
                <a:cs typeface="Inter ExtraBold" pitchFamily="34" charset="-120"/>
              </a:rPr>
              <a:t>HERRAMIENTAS VIVAS</a:t>
            </a:r>
            <a:endParaRPr lang="en-US" sz="750" dirty="0"/>
          </a:p>
        </p:txBody>
      </p:sp>
      <p:sp>
        <p:nvSpPr>
          <p:cNvPr id="29" name="Text 25"/>
          <p:cNvSpPr/>
          <p:nvPr/>
        </p:nvSpPr>
        <p:spPr>
          <a:xfrm>
            <a:off x="6710353" y="2337122"/>
            <a:ext cx="1804969" cy="192881"/>
          </a:xfrm>
          <a:prstGeom prst="rect">
            <a:avLst/>
          </a:prstGeom>
          <a:noFill/>
          <a:ln/>
        </p:spPr>
        <p:txBody>
          <a:bodyPr wrap="none" lIns="0" tIns="0" rIns="0" bIns="0" rtlCol="0" anchor="t">
            <a:spAutoFit/>
          </a:bodyPr>
          <a:lstStyle/>
          <a:p>
            <a:pPr marL="0" indent="0" algn="l">
              <a:lnSpc>
                <a:spcPct val="86400"/>
              </a:lnSpc>
              <a:buNone/>
            </a:pPr>
            <a:r>
              <a:rPr lang="en-US" sz="1250" b="1" dirty="0">
                <a:solidFill>
                  <a:srgbClr val="00D4FF"/>
                </a:solidFill>
                <a:latin typeface="Space Grotesk Bold" pitchFamily="34" charset="0"/>
                <a:ea typeface="Space Grotesk Bold" pitchFamily="34" charset="-122"/>
                <a:cs typeface="Space Grotesk Bold" pitchFamily="34" charset="-120"/>
              </a:rPr>
              <a:t>MCP</a:t>
            </a:r>
            <a:endParaRPr lang="en-US" sz="1250" dirty="0"/>
          </a:p>
        </p:txBody>
      </p:sp>
      <p:sp>
        <p:nvSpPr>
          <p:cNvPr id="30" name="Text 26"/>
          <p:cNvSpPr/>
          <p:nvPr/>
        </p:nvSpPr>
        <p:spPr>
          <a:xfrm>
            <a:off x="6710353" y="2630016"/>
            <a:ext cx="1804969" cy="655774"/>
          </a:xfrm>
          <a:prstGeom prst="rect">
            <a:avLst/>
          </a:prstGeom>
          <a:noFill/>
          <a:ln/>
        </p:spPr>
        <p:txBody>
          <a:bodyPr wrap="square" lIns="0" tIns="0" rIns="0" bIns="0" rtlCol="0" anchor="t">
            <a:spAutoFit/>
          </a:bodyPr>
          <a:lstStyle/>
          <a:p>
            <a:pPr marL="0" indent="0" algn="l">
              <a:lnSpc>
                <a:spcPct val="108000"/>
              </a:lnSpc>
              <a:buNone/>
            </a:pPr>
            <a:r>
              <a:rPr lang="en-US" sz="900" dirty="0">
                <a:solidFill>
                  <a:srgbClr val="B7C8D9"/>
                </a:solidFill>
                <a:latin typeface="Inter" pitchFamily="34" charset="0"/>
                <a:ea typeface="Inter" pitchFamily="34" charset="-122"/>
                <a:cs typeface="Inter" pitchFamily="34" charset="-120"/>
              </a:rPr>
              <a:t>Conecta capacidades externas en tiempo real: Open-Meteo, Wikipedia y Google Calendar en ajuste.</a:t>
            </a:r>
            <a:endParaRPr lang="en-US" sz="900" dirty="0"/>
          </a:p>
        </p:txBody>
      </p:sp>
      <p:sp>
        <p:nvSpPr>
          <p:cNvPr id="31" name="Shape 27"/>
          <p:cNvSpPr/>
          <p:nvPr/>
        </p:nvSpPr>
        <p:spPr>
          <a:xfrm>
            <a:off x="6710353" y="3414378"/>
            <a:ext cx="1804969" cy="570021"/>
          </a:xfrm>
          <a:prstGeom prst="rect">
            <a:avLst/>
          </a:prstGeom>
          <a:solidFill>
            <a:srgbClr val="000000">
              <a:alpha val="0"/>
            </a:srgbClr>
          </a:solidFill>
          <a:ln/>
        </p:spPr>
      </p:sp>
      <p:sp>
        <p:nvSpPr>
          <p:cNvPr id="32" name="Shape 28"/>
          <p:cNvSpPr/>
          <p:nvPr/>
        </p:nvSpPr>
        <p:spPr>
          <a:xfrm>
            <a:off x="6710353" y="3414378"/>
            <a:ext cx="1804969" cy="7144"/>
          </a:xfrm>
          <a:prstGeom prst="rect">
            <a:avLst/>
          </a:prstGeom>
          <a:solidFill>
            <a:srgbClr val="EBF0F4"/>
          </a:solidFill>
          <a:ln/>
        </p:spPr>
      </p:sp>
      <p:sp>
        <p:nvSpPr>
          <p:cNvPr id="33" name="Text 29"/>
          <p:cNvSpPr/>
          <p:nvPr/>
        </p:nvSpPr>
        <p:spPr>
          <a:xfrm>
            <a:off x="6710353" y="3414378"/>
            <a:ext cx="1804969" cy="570021"/>
          </a:xfrm>
          <a:prstGeom prst="rect">
            <a:avLst/>
          </a:prstGeom>
          <a:noFill/>
          <a:ln/>
        </p:spPr>
        <p:txBody>
          <a:bodyPr wrap="square" lIns="0" tIns="119126" rIns="0" bIns="0" rtlCol="0" anchor="t">
            <a:spAutoFit/>
          </a:bodyPr>
          <a:lstStyle/>
          <a:p>
            <a:pPr marL="0" indent="0" algn="l">
              <a:lnSpc>
                <a:spcPct val="108000"/>
              </a:lnSpc>
              <a:buNone/>
            </a:pPr>
            <a:r>
              <a:rPr lang="en-US" sz="850" dirty="0">
                <a:solidFill>
                  <a:srgbClr val="E6FBFF"/>
                </a:solidFill>
                <a:latin typeface="Inter" pitchFamily="34" charset="0"/>
                <a:ea typeface="Inter" pitchFamily="34" charset="-122"/>
                <a:cs typeface="Inter" pitchFamily="34" charset="-120"/>
              </a:rPr>
              <a:t>Permite consultar clima, conocimiento universal o disponibilidad de agenda.</a:t>
            </a:r>
            <a:endParaRPr lang="en-US" sz="850" dirty="0"/>
          </a:p>
        </p:txBody>
      </p:sp>
      <p:sp>
        <p:nvSpPr>
          <p:cNvPr id="34" name="Text 30"/>
          <p:cNvSpPr/>
          <p:nvPr/>
        </p:nvSpPr>
        <p:spPr>
          <a:xfrm>
            <a:off x="500063" y="4727600"/>
            <a:ext cx="1535906" cy="226814"/>
          </a:xfrm>
          <a:prstGeom prst="rect">
            <a:avLst/>
          </a:prstGeom>
          <a:noFill/>
          <a:ln/>
        </p:spPr>
        <p:txBody>
          <a:bodyPr wrap="square" lIns="0" tIns="0" rIns="0" bIns="0" rtlCol="0" anchor="t">
            <a:spAutoFit/>
          </a:bodyPr>
          <a:lstStyle/>
          <a:p>
            <a:pPr marL="0" indent="0" algn="l">
              <a:buNone/>
            </a:pPr>
            <a:r>
              <a:rPr lang="en-US" sz="1300" dirty="0">
                <a:solidFill>
                  <a:srgbClr val="22E6A8"/>
                </a:solidFill>
                <a:latin typeface="Space Grotesk Medium" pitchFamily="34" charset="0"/>
                <a:ea typeface="Space Grotesk Medium" pitchFamily="34" charset="-122"/>
                <a:cs typeface="Space Grotesk Medium" pitchFamily="34" charset="-120"/>
              </a:rPr>
              <a:t>Diferencia clave</a:t>
            </a:r>
            <a:endParaRPr lang="en-US" sz="1300" dirty="0"/>
          </a:p>
        </p:txBody>
      </p:sp>
      <p:sp>
        <p:nvSpPr>
          <p:cNvPr id="35" name="Text 31"/>
          <p:cNvSpPr/>
          <p:nvPr/>
        </p:nvSpPr>
        <p:spPr>
          <a:xfrm>
            <a:off x="2221706" y="4641484"/>
            <a:ext cx="6422231" cy="399045"/>
          </a:xfrm>
          <a:prstGeom prst="rect">
            <a:avLst/>
          </a:prstGeom>
          <a:noFill/>
          <a:ln/>
        </p:spPr>
        <p:txBody>
          <a:bodyPr wrap="square" lIns="0" tIns="0" rIns="0" bIns="0" rtlCol="0" anchor="t">
            <a:spAutoFit/>
          </a:bodyPr>
          <a:lstStyle/>
          <a:p>
            <a:pPr marL="0" indent="0" algn="l">
              <a:lnSpc>
                <a:spcPct val="106400"/>
              </a:lnSpc>
              <a:buNone/>
            </a:pPr>
            <a:r>
              <a:rPr lang="en-US" sz="1100" dirty="0">
                <a:solidFill>
                  <a:srgbClr val="B7C8D9"/>
                </a:solidFill>
                <a:latin typeface="Inter" pitchFamily="34" charset="0"/>
                <a:ea typeface="Inter" pitchFamily="34" charset="-122"/>
                <a:cs typeface="Inter" pitchFamily="34" charset="-120"/>
              </a:rPr>
              <a:t>Sin RAG, el bot sabe de todo pero no conoce tu negocio. Con </a:t>
            </a:r>
            <a:r>
              <a:rPr lang="en-US" sz="1050" b="1" dirty="0">
                <a:solidFill>
                  <a:srgbClr val="E6FBFF"/>
                </a:solidFill>
                <a:latin typeface="Inter Bold" pitchFamily="34" charset="0"/>
                <a:ea typeface="Inter Bold" pitchFamily="34" charset="-122"/>
                <a:cs typeface="Inter Bold" pitchFamily="34" charset="-120"/>
              </a:rPr>
              <a:t>RAG + MCP</a:t>
            </a:r>
            <a:r>
              <a:rPr lang="en-US" sz="1100" dirty="0">
                <a:solidFill>
                  <a:srgbClr val="B7C8D9"/>
                </a:solidFill>
                <a:latin typeface="Inter" pitchFamily="34" charset="0"/>
                <a:ea typeface="Inter" pitchFamily="34" charset="-122"/>
                <a:cs typeface="Inter" pitchFamily="34" charset="-120"/>
              </a:rPr>
              <a:t>, el agente actúa sobre información propia y consulta el mundo real.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00063" y="342900"/>
            <a:ext cx="8143875" cy="128588"/>
          </a:xfrm>
          <a:prstGeom prst="rect">
            <a:avLst/>
          </a:prstGeom>
          <a:noFill/>
          <a:ln/>
        </p:spPr>
        <p:txBody>
          <a:bodyPr wrap="square" lIns="0" tIns="0" rIns="0" bIns="0" rtlCol="0" anchor="t">
            <a:spAutoFit/>
          </a:bodyPr>
          <a:lstStyle/>
          <a:p>
            <a:pPr marL="0" indent="0" algn="l">
              <a:buNone/>
            </a:pPr>
            <a:r>
              <a:rPr lang="en-US" sz="750" b="1" kern="0" spc="2" dirty="0">
                <a:solidFill>
                  <a:srgbClr val="22E6A8"/>
                </a:solidFill>
                <a:latin typeface="Inter ExtraBold" pitchFamily="34" charset="0"/>
                <a:ea typeface="Inter ExtraBold" pitchFamily="34" charset="-122"/>
                <a:cs typeface="Inter ExtraBold" pitchFamily="34" charset="-120"/>
              </a:rPr>
              <a:t>RESULTADOS</a:t>
            </a:r>
            <a:endParaRPr lang="en-US" sz="750" dirty="0"/>
          </a:p>
        </p:txBody>
      </p:sp>
      <p:sp>
        <p:nvSpPr>
          <p:cNvPr id="5" name="Text 1"/>
          <p:cNvSpPr/>
          <p:nvPr/>
        </p:nvSpPr>
        <p:spPr>
          <a:xfrm>
            <a:off x="500063" y="564356"/>
            <a:ext cx="7000875" cy="675084"/>
          </a:xfrm>
          <a:prstGeom prst="rect">
            <a:avLst/>
          </a:prstGeom>
          <a:noFill/>
          <a:ln/>
        </p:spPr>
        <p:txBody>
          <a:bodyPr wrap="square" lIns="0" tIns="0" rIns="0" bIns="0" rtlCol="0" anchor="t">
            <a:spAutoFit/>
          </a:bodyPr>
          <a:lstStyle/>
          <a:p>
            <a:pPr marL="0" indent="0" algn="l">
              <a:lnSpc>
                <a:spcPct val="84000"/>
              </a:lnSpc>
              <a:buNone/>
            </a:pPr>
            <a:r>
              <a:rPr lang="en-US" sz="2300" b="1" kern="0" spc="-1" dirty="0">
                <a:solidFill>
                  <a:srgbClr val="E6FBFF"/>
                </a:solidFill>
                <a:latin typeface="Space Grotesk Bold" pitchFamily="34" charset="0"/>
                <a:ea typeface="Space Grotesk Bold" pitchFamily="34" charset="-122"/>
                <a:cs typeface="Space Grotesk Bold" pitchFamily="34" charset="-120"/>
              </a:rPr>
              <a:t>NextAgent ya funciona como plataforma en producción</a:t>
            </a:r>
            <a:endParaRPr lang="en-US" sz="2300" dirty="0"/>
          </a:p>
        </p:txBody>
      </p:sp>
      <p:sp>
        <p:nvSpPr>
          <p:cNvPr id="6" name="Text 2"/>
          <p:cNvSpPr/>
          <p:nvPr/>
        </p:nvSpPr>
        <p:spPr>
          <a:xfrm>
            <a:off x="500063" y="1353741"/>
            <a:ext cx="6143625" cy="377168"/>
          </a:xfrm>
          <a:prstGeom prst="rect">
            <a:avLst/>
          </a:prstGeom>
          <a:noFill/>
          <a:ln/>
        </p:spPr>
        <p:txBody>
          <a:bodyPr wrap="square" lIns="0" tIns="0" rIns="0" bIns="0" rtlCol="0" anchor="t">
            <a:spAutoFit/>
          </a:bodyPr>
          <a:lstStyle/>
          <a:p>
            <a:pPr marL="0" indent="0" algn="l">
              <a:lnSpc>
                <a:spcPct val="105600"/>
              </a:lnSpc>
              <a:buNone/>
            </a:pPr>
            <a:r>
              <a:rPr lang="en-US" sz="1050" dirty="0">
                <a:solidFill>
                  <a:srgbClr val="B7C8D9"/>
                </a:solidFill>
                <a:latin typeface="Inter" pitchFamily="34" charset="0"/>
                <a:ea typeface="Inter" pitchFamily="34" charset="-122"/>
                <a:cs typeface="Inter" pitchFamily="34" charset="-120"/>
              </a:rPr>
              <a:t>El proyecto pasó de automatizar infraestructura compleja a ofrecer una experiencia visual para crear, publicar y verificar agentes de IA.</a:t>
            </a:r>
            <a:endParaRPr lang="en-US" sz="1050" dirty="0"/>
          </a:p>
        </p:txBody>
      </p:sp>
      <p:sp>
        <p:nvSpPr>
          <p:cNvPr id="7" name="Shape 3"/>
          <p:cNvSpPr/>
          <p:nvPr/>
        </p:nvSpPr>
        <p:spPr>
          <a:xfrm>
            <a:off x="500063" y="1973796"/>
            <a:ext cx="2035969" cy="2500313"/>
          </a:xfrm>
          <a:prstGeom prst="rect">
            <a:avLst/>
          </a:prstGeom>
          <a:solidFill>
            <a:srgbClr val="07111F">
              <a:alpha val="2000"/>
            </a:srgbClr>
          </a:solidFill>
          <a:ln/>
        </p:spPr>
      </p:sp>
      <p:sp>
        <p:nvSpPr>
          <p:cNvPr id="8" name="Shape 4"/>
          <p:cNvSpPr/>
          <p:nvPr/>
        </p:nvSpPr>
        <p:spPr>
          <a:xfrm>
            <a:off x="500063" y="1973796"/>
            <a:ext cx="2035969" cy="14288"/>
          </a:xfrm>
          <a:prstGeom prst="rect">
            <a:avLst/>
          </a:prstGeom>
          <a:solidFill>
            <a:srgbClr val="22E6A8"/>
          </a:solidFill>
          <a:ln/>
        </p:spPr>
      </p:sp>
      <p:sp>
        <p:nvSpPr>
          <p:cNvPr id="9" name="Text 5"/>
          <p:cNvSpPr/>
          <p:nvPr/>
        </p:nvSpPr>
        <p:spPr>
          <a:xfrm>
            <a:off x="671513" y="2173821"/>
            <a:ext cx="1721644" cy="535781"/>
          </a:xfrm>
          <a:prstGeom prst="rect">
            <a:avLst/>
          </a:prstGeom>
          <a:noFill/>
          <a:ln/>
        </p:spPr>
        <p:txBody>
          <a:bodyPr wrap="square" lIns="0" tIns="0" rIns="0" bIns="0" rtlCol="0" anchor="t">
            <a:spAutoFit/>
          </a:bodyPr>
          <a:lstStyle/>
          <a:p>
            <a:pPr marL="0" indent="0" algn="l">
              <a:lnSpc>
                <a:spcPct val="100000"/>
              </a:lnSpc>
              <a:buNone/>
            </a:pPr>
            <a:r>
              <a:rPr lang="en-US" sz="1050" dirty="0">
                <a:solidFill>
                  <a:srgbClr val="B7C8D9"/>
                </a:solidFill>
                <a:latin typeface="Inter" pitchFamily="34" charset="0"/>
                <a:ea typeface="Inter" pitchFamily="34" charset="-122"/>
                <a:cs typeface="Inter" pitchFamily="34" charset="-120"/>
              </a:rPr>
              <a:t>De horas o días de trabajo técnico especializado</a:t>
            </a:r>
            <a:endParaRPr lang="en-US" sz="1050" dirty="0"/>
          </a:p>
        </p:txBody>
      </p:sp>
      <p:sp>
        <p:nvSpPr>
          <p:cNvPr id="10" name="Text 6"/>
          <p:cNvSpPr/>
          <p:nvPr/>
        </p:nvSpPr>
        <p:spPr>
          <a:xfrm>
            <a:off x="671513" y="2909627"/>
            <a:ext cx="1721644" cy="328613"/>
          </a:xfrm>
          <a:prstGeom prst="rect">
            <a:avLst/>
          </a:prstGeom>
          <a:noFill/>
          <a:ln/>
        </p:spPr>
        <p:txBody>
          <a:bodyPr wrap="none" lIns="0" tIns="0" rIns="0" bIns="0" rtlCol="0" anchor="t">
            <a:spAutoFit/>
          </a:bodyPr>
          <a:lstStyle/>
          <a:p>
            <a:pPr marL="0" indent="0" algn="l">
              <a:lnSpc>
                <a:spcPct val="80000"/>
              </a:lnSpc>
              <a:buNone/>
            </a:pPr>
            <a:r>
              <a:rPr lang="en-US" sz="2500" dirty="0">
                <a:solidFill>
                  <a:srgbClr val="00D4FF"/>
                </a:solidFill>
                <a:latin typeface="Space Grotesk Medium" pitchFamily="34" charset="0"/>
                <a:ea typeface="Space Grotesk Medium" pitchFamily="34" charset="-122"/>
                <a:cs typeface="Space Grotesk Medium" pitchFamily="34" charset="-120"/>
              </a:rPr>
              <a:t>→</a:t>
            </a:r>
            <a:endParaRPr lang="en-US" sz="2500" dirty="0"/>
          </a:p>
        </p:txBody>
      </p:sp>
      <p:sp>
        <p:nvSpPr>
          <p:cNvPr id="11" name="Text 7"/>
          <p:cNvSpPr/>
          <p:nvPr/>
        </p:nvSpPr>
        <p:spPr>
          <a:xfrm>
            <a:off x="671513" y="3409690"/>
            <a:ext cx="1721644" cy="787208"/>
          </a:xfrm>
          <a:prstGeom prst="rect">
            <a:avLst/>
          </a:prstGeom>
          <a:noFill/>
          <a:ln/>
        </p:spPr>
        <p:txBody>
          <a:bodyPr wrap="square" lIns="0" tIns="0" rIns="0" bIns="0" rtlCol="0" anchor="t">
            <a:spAutoFit/>
          </a:bodyPr>
          <a:lstStyle/>
          <a:p>
            <a:pPr marL="0" indent="0" algn="l">
              <a:lnSpc>
                <a:spcPct val="76000"/>
              </a:lnSpc>
              <a:buNone/>
            </a:pPr>
            <a:r>
              <a:rPr lang="en-US" sz="3150" kern="0" spc="-2" dirty="0">
                <a:solidFill>
                  <a:srgbClr val="22E6A8"/>
                </a:solidFill>
                <a:latin typeface="Space Grotesk Medium" pitchFamily="34" charset="0"/>
                <a:ea typeface="Space Grotesk Medium" pitchFamily="34" charset="-122"/>
                <a:cs typeface="Space Grotesk Medium" pitchFamily="34" charset="-120"/>
              </a:rPr>
              <a:t>10
minutos</a:t>
            </a:r>
            <a:endParaRPr lang="en-US" sz="3150" dirty="0"/>
          </a:p>
        </p:txBody>
      </p:sp>
      <p:sp>
        <p:nvSpPr>
          <p:cNvPr id="12" name="Text 8"/>
          <p:cNvSpPr/>
          <p:nvPr/>
        </p:nvSpPr>
        <p:spPr>
          <a:xfrm>
            <a:off x="671513" y="4368347"/>
            <a:ext cx="1721644" cy="520712"/>
          </a:xfrm>
          <a:prstGeom prst="rect">
            <a:avLst/>
          </a:prstGeom>
          <a:noFill/>
          <a:ln/>
        </p:spPr>
        <p:txBody>
          <a:bodyPr wrap="square" lIns="0" tIns="0" rIns="0" bIns="0" rtlCol="0" anchor="t">
            <a:spAutoFit/>
          </a:bodyPr>
          <a:lstStyle/>
          <a:p>
            <a:pPr marL="0" indent="0" algn="l">
              <a:lnSpc>
                <a:spcPct val="108000"/>
              </a:lnSpc>
              <a:buNone/>
            </a:pPr>
            <a:r>
              <a:rPr lang="en-US" sz="900" b="1" dirty="0">
                <a:solidFill>
                  <a:srgbClr val="E6FBFF"/>
                </a:solidFill>
                <a:latin typeface="Inter Bold" pitchFamily="34" charset="0"/>
                <a:ea typeface="Inter Bold" pitchFamily="34" charset="-122"/>
                <a:cs typeface="Inter Bold" pitchFamily="34" charset="-120"/>
              </a:rPr>
              <a:t>para que cualquier persona publique un agente verificable.</a:t>
            </a:r>
            <a:endParaRPr lang="en-US" sz="900" dirty="0"/>
          </a:p>
        </p:txBody>
      </p:sp>
      <p:sp>
        <p:nvSpPr>
          <p:cNvPr id="13" name="Shape 9"/>
          <p:cNvSpPr/>
          <p:nvPr/>
        </p:nvSpPr>
        <p:spPr>
          <a:xfrm>
            <a:off x="2714625" y="1973796"/>
            <a:ext cx="3821906" cy="2500313"/>
          </a:xfrm>
          <a:prstGeom prst="rect">
            <a:avLst/>
          </a:prstGeom>
          <a:solidFill>
            <a:srgbClr val="07111F">
              <a:alpha val="2000"/>
            </a:srgbClr>
          </a:solidFill>
          <a:ln/>
        </p:spPr>
      </p:sp>
      <p:sp>
        <p:nvSpPr>
          <p:cNvPr id="14" name="Shape 10"/>
          <p:cNvSpPr/>
          <p:nvPr/>
        </p:nvSpPr>
        <p:spPr>
          <a:xfrm>
            <a:off x="2714625" y="1973796"/>
            <a:ext cx="3821906" cy="14288"/>
          </a:xfrm>
          <a:prstGeom prst="rect">
            <a:avLst/>
          </a:prstGeom>
          <a:solidFill>
            <a:srgbClr val="4DE1FF"/>
          </a:solidFill>
          <a:ln/>
        </p:spPr>
      </p:sp>
      <p:sp>
        <p:nvSpPr>
          <p:cNvPr id="15" name="Text 11"/>
          <p:cNvSpPr/>
          <p:nvPr/>
        </p:nvSpPr>
        <p:spPr>
          <a:xfrm>
            <a:off x="2886075" y="2153283"/>
            <a:ext cx="242888" cy="155377"/>
          </a:xfrm>
          <a:prstGeom prst="rect">
            <a:avLst/>
          </a:prstGeom>
          <a:noFill/>
          <a:ln/>
        </p:spPr>
        <p:txBody>
          <a:bodyPr wrap="none" lIns="0" tIns="0" rIns="0" bIns="0" rtlCol="0" anchor="t">
            <a:spAutoFit/>
          </a:bodyPr>
          <a:lstStyle/>
          <a:p>
            <a:pPr marL="0" indent="0" algn="l">
              <a:buNone/>
            </a:pPr>
            <a:r>
              <a:rPr lang="en-US" sz="900" b="1" dirty="0">
                <a:solidFill>
                  <a:srgbClr val="22E6A8"/>
                </a:solidFill>
                <a:latin typeface="Inter ExtraBold" pitchFamily="34" charset="0"/>
                <a:ea typeface="Inter ExtraBold" pitchFamily="34" charset="-122"/>
                <a:cs typeface="Inter ExtraBold" pitchFamily="34" charset="-120"/>
              </a:rPr>
              <a:t>✓</a:t>
            </a:r>
            <a:endParaRPr lang="en-US" sz="900" dirty="0"/>
          </a:p>
        </p:txBody>
      </p:sp>
      <p:sp>
        <p:nvSpPr>
          <p:cNvPr id="16" name="Text 12"/>
          <p:cNvSpPr/>
          <p:nvPr/>
        </p:nvSpPr>
        <p:spPr>
          <a:xfrm>
            <a:off x="3200400" y="2104532"/>
            <a:ext cx="2386013" cy="252878"/>
          </a:xfrm>
          <a:prstGeom prst="rect">
            <a:avLst/>
          </a:prstGeom>
          <a:noFill/>
          <a:ln/>
        </p:spPr>
        <p:txBody>
          <a:bodyPr wrap="square" lIns="0" tIns="0" rIns="0" bIns="0" rtlCol="0" anchor="t">
            <a:spAutoFit/>
          </a:bodyPr>
          <a:lstStyle/>
          <a:p>
            <a:pPr marL="0" indent="0" algn="l">
              <a:lnSpc>
                <a:spcPct val="94400"/>
              </a:lnSpc>
              <a:buNone/>
            </a:pPr>
            <a:r>
              <a:rPr lang="en-US" sz="800" dirty="0">
                <a:solidFill>
                  <a:srgbClr val="B7C8D9"/>
                </a:solidFill>
                <a:latin typeface="Inter" pitchFamily="34" charset="0"/>
                <a:ea typeface="Inter" pitchFamily="34" charset="-122"/>
                <a:cs typeface="Inter" pitchFamily="34" charset="-120"/>
              </a:rPr>
              <a:t>Plataforma web funcional desplegada en EAFIT</a:t>
            </a:r>
            <a:endParaRPr lang="en-US" sz="800" dirty="0"/>
          </a:p>
        </p:txBody>
      </p:sp>
      <p:sp>
        <p:nvSpPr>
          <p:cNvPr id="17" name="Text 13"/>
          <p:cNvSpPr/>
          <p:nvPr/>
        </p:nvSpPr>
        <p:spPr>
          <a:xfrm>
            <a:off x="5657850" y="2178286"/>
            <a:ext cx="750094" cy="105370"/>
          </a:xfrm>
          <a:prstGeom prst="rect">
            <a:avLst/>
          </a:prstGeom>
          <a:noFill/>
          <a:ln/>
        </p:spPr>
        <p:txBody>
          <a:bodyPr wrap="none" lIns="0" tIns="0" rIns="0" bIns="0" rtlCol="0" anchor="t">
            <a:spAutoFit/>
          </a:bodyPr>
          <a:lstStyle/>
          <a:p>
            <a:pPr marL="0" indent="0" algn="r">
              <a:buNone/>
            </a:pPr>
            <a:r>
              <a:rPr lang="en-US" sz="600" b="1" kern="0" spc="1" dirty="0">
                <a:solidFill>
                  <a:srgbClr val="E6FBFF"/>
                </a:solidFill>
                <a:latin typeface="Inter ExtraBold" pitchFamily="34" charset="0"/>
                <a:ea typeface="Inter ExtraBold" pitchFamily="34" charset="-122"/>
                <a:cs typeface="Inter ExtraBold" pitchFamily="34" charset="-120"/>
              </a:rPr>
              <a:t>PRODUCCIÓN</a:t>
            </a:r>
            <a:endParaRPr lang="en-US" sz="600" dirty="0"/>
          </a:p>
        </p:txBody>
      </p:sp>
      <p:sp>
        <p:nvSpPr>
          <p:cNvPr id="18" name="Shape 14"/>
          <p:cNvSpPr/>
          <p:nvPr/>
        </p:nvSpPr>
        <p:spPr>
          <a:xfrm>
            <a:off x="2886075" y="2359558"/>
            <a:ext cx="3521869" cy="257175"/>
          </a:xfrm>
          <a:prstGeom prst="rect">
            <a:avLst/>
          </a:prstGeom>
          <a:solidFill>
            <a:srgbClr val="000000">
              <a:alpha val="0"/>
            </a:srgbClr>
          </a:solidFill>
          <a:ln/>
        </p:spPr>
      </p:sp>
      <p:sp>
        <p:nvSpPr>
          <p:cNvPr id="19" name="Shape 15"/>
          <p:cNvSpPr/>
          <p:nvPr/>
        </p:nvSpPr>
        <p:spPr>
          <a:xfrm>
            <a:off x="2886075" y="2359558"/>
            <a:ext cx="3521869" cy="7144"/>
          </a:xfrm>
          <a:prstGeom prst="rect">
            <a:avLst/>
          </a:prstGeom>
          <a:solidFill>
            <a:srgbClr val="F3F6F9"/>
          </a:solidFill>
          <a:ln/>
        </p:spPr>
      </p:sp>
      <p:sp>
        <p:nvSpPr>
          <p:cNvPr id="20" name="Text 16"/>
          <p:cNvSpPr/>
          <p:nvPr/>
        </p:nvSpPr>
        <p:spPr>
          <a:xfrm>
            <a:off x="2886075" y="2410458"/>
            <a:ext cx="242888" cy="155377"/>
          </a:xfrm>
          <a:prstGeom prst="rect">
            <a:avLst/>
          </a:prstGeom>
          <a:noFill/>
          <a:ln/>
        </p:spPr>
        <p:txBody>
          <a:bodyPr wrap="none" lIns="0" tIns="0" rIns="0" bIns="0" rtlCol="0" anchor="t">
            <a:spAutoFit/>
          </a:bodyPr>
          <a:lstStyle/>
          <a:p>
            <a:pPr marL="0" indent="0" algn="l">
              <a:buNone/>
            </a:pPr>
            <a:r>
              <a:rPr lang="en-US" sz="900" b="1" dirty="0">
                <a:solidFill>
                  <a:srgbClr val="22E6A8"/>
                </a:solidFill>
                <a:latin typeface="Inter ExtraBold" pitchFamily="34" charset="0"/>
                <a:ea typeface="Inter ExtraBold" pitchFamily="34" charset="-122"/>
                <a:cs typeface="Inter ExtraBold" pitchFamily="34" charset="-120"/>
              </a:rPr>
              <a:t>✓</a:t>
            </a:r>
            <a:endParaRPr lang="en-US" sz="900" dirty="0"/>
          </a:p>
        </p:txBody>
      </p:sp>
      <p:sp>
        <p:nvSpPr>
          <p:cNvPr id="21" name="Text 17"/>
          <p:cNvSpPr/>
          <p:nvPr/>
        </p:nvSpPr>
        <p:spPr>
          <a:xfrm>
            <a:off x="3200400" y="2424912"/>
            <a:ext cx="2386013" cy="126439"/>
          </a:xfrm>
          <a:prstGeom prst="rect">
            <a:avLst/>
          </a:prstGeom>
          <a:noFill/>
          <a:ln/>
        </p:spPr>
        <p:txBody>
          <a:bodyPr wrap="none" lIns="0" tIns="0" rIns="0" bIns="0" rtlCol="0" anchor="t">
            <a:spAutoFit/>
          </a:bodyPr>
          <a:lstStyle/>
          <a:p>
            <a:pPr marL="0" indent="0" algn="l">
              <a:lnSpc>
                <a:spcPct val="94400"/>
              </a:lnSpc>
              <a:buNone/>
            </a:pPr>
            <a:r>
              <a:rPr lang="en-US" sz="800" dirty="0">
                <a:solidFill>
                  <a:srgbClr val="B7C8D9"/>
                </a:solidFill>
                <a:latin typeface="Inter" pitchFamily="34" charset="0"/>
                <a:ea typeface="Inter" pitchFamily="34" charset="-122"/>
                <a:cs typeface="Inter" pitchFamily="34" charset="-120"/>
              </a:rPr>
              <a:t>Registro/Login con email y Google OAuth</a:t>
            </a:r>
            <a:endParaRPr lang="en-US" sz="800" dirty="0"/>
          </a:p>
        </p:txBody>
      </p:sp>
      <p:sp>
        <p:nvSpPr>
          <p:cNvPr id="22" name="Text 18"/>
          <p:cNvSpPr/>
          <p:nvPr/>
        </p:nvSpPr>
        <p:spPr>
          <a:xfrm>
            <a:off x="5657850" y="2435461"/>
            <a:ext cx="750094" cy="105370"/>
          </a:xfrm>
          <a:prstGeom prst="rect">
            <a:avLst/>
          </a:prstGeom>
          <a:noFill/>
          <a:ln/>
        </p:spPr>
        <p:txBody>
          <a:bodyPr wrap="none" lIns="0" tIns="0" rIns="0" bIns="0" rtlCol="0" anchor="t">
            <a:spAutoFit/>
          </a:bodyPr>
          <a:lstStyle/>
          <a:p>
            <a:pPr marL="0" indent="0" algn="r">
              <a:buNone/>
            </a:pPr>
            <a:r>
              <a:rPr lang="en-US" sz="600" b="1" kern="0" spc="1" dirty="0">
                <a:solidFill>
                  <a:srgbClr val="E6FBFF"/>
                </a:solidFill>
                <a:latin typeface="Inter ExtraBold" pitchFamily="34" charset="0"/>
                <a:ea typeface="Inter ExtraBold" pitchFamily="34" charset="-122"/>
                <a:cs typeface="Inter ExtraBold" pitchFamily="34" charset="-120"/>
              </a:rPr>
              <a:t>FUNCIONAL</a:t>
            </a:r>
            <a:endParaRPr lang="en-US" sz="600" dirty="0"/>
          </a:p>
        </p:txBody>
      </p:sp>
      <p:sp>
        <p:nvSpPr>
          <p:cNvPr id="23" name="Shape 19"/>
          <p:cNvSpPr/>
          <p:nvPr/>
        </p:nvSpPr>
        <p:spPr>
          <a:xfrm>
            <a:off x="2886075" y="2616733"/>
            <a:ext cx="3521869" cy="260021"/>
          </a:xfrm>
          <a:prstGeom prst="rect">
            <a:avLst/>
          </a:prstGeom>
          <a:solidFill>
            <a:srgbClr val="000000">
              <a:alpha val="0"/>
            </a:srgbClr>
          </a:solidFill>
          <a:ln/>
        </p:spPr>
      </p:sp>
      <p:sp>
        <p:nvSpPr>
          <p:cNvPr id="24" name="Shape 20"/>
          <p:cNvSpPr/>
          <p:nvPr/>
        </p:nvSpPr>
        <p:spPr>
          <a:xfrm>
            <a:off x="2886075" y="2616733"/>
            <a:ext cx="3521869" cy="7144"/>
          </a:xfrm>
          <a:prstGeom prst="rect">
            <a:avLst/>
          </a:prstGeom>
          <a:solidFill>
            <a:srgbClr val="F3F6F9"/>
          </a:solidFill>
          <a:ln/>
        </p:spPr>
      </p:sp>
      <p:sp>
        <p:nvSpPr>
          <p:cNvPr id="25" name="Text 21"/>
          <p:cNvSpPr/>
          <p:nvPr/>
        </p:nvSpPr>
        <p:spPr>
          <a:xfrm>
            <a:off x="2886075" y="2667633"/>
            <a:ext cx="242888" cy="155377"/>
          </a:xfrm>
          <a:prstGeom prst="rect">
            <a:avLst/>
          </a:prstGeom>
          <a:noFill/>
          <a:ln/>
        </p:spPr>
        <p:txBody>
          <a:bodyPr wrap="none" lIns="0" tIns="0" rIns="0" bIns="0" rtlCol="0" anchor="t">
            <a:spAutoFit/>
          </a:bodyPr>
          <a:lstStyle/>
          <a:p>
            <a:pPr marL="0" indent="0" algn="l">
              <a:buNone/>
            </a:pPr>
            <a:r>
              <a:rPr lang="en-US" sz="900" b="1" dirty="0">
                <a:solidFill>
                  <a:srgbClr val="22E6A8"/>
                </a:solidFill>
                <a:latin typeface="Inter ExtraBold" pitchFamily="34" charset="0"/>
                <a:ea typeface="Inter ExtraBold" pitchFamily="34" charset="-122"/>
                <a:cs typeface="Inter ExtraBold" pitchFamily="34" charset="-120"/>
              </a:rPr>
              <a:t>✓</a:t>
            </a:r>
            <a:endParaRPr lang="en-US" sz="900" dirty="0"/>
          </a:p>
        </p:txBody>
      </p:sp>
      <p:sp>
        <p:nvSpPr>
          <p:cNvPr id="26" name="Text 22"/>
          <p:cNvSpPr/>
          <p:nvPr/>
        </p:nvSpPr>
        <p:spPr>
          <a:xfrm>
            <a:off x="3200400" y="2618882"/>
            <a:ext cx="2386013" cy="252878"/>
          </a:xfrm>
          <a:prstGeom prst="rect">
            <a:avLst/>
          </a:prstGeom>
          <a:noFill/>
          <a:ln/>
        </p:spPr>
        <p:txBody>
          <a:bodyPr wrap="square" lIns="0" tIns="0" rIns="0" bIns="0" rtlCol="0" anchor="t">
            <a:spAutoFit/>
          </a:bodyPr>
          <a:lstStyle/>
          <a:p>
            <a:pPr marL="0" indent="0" algn="l">
              <a:lnSpc>
                <a:spcPct val="94400"/>
              </a:lnSpc>
              <a:buNone/>
            </a:pPr>
            <a:r>
              <a:rPr lang="en-US" sz="800" dirty="0">
                <a:solidFill>
                  <a:srgbClr val="B7C8D9"/>
                </a:solidFill>
                <a:latin typeface="Inter" pitchFamily="34" charset="0"/>
                <a:ea typeface="Inter" pitchFamily="34" charset="-122"/>
                <a:cs typeface="Inter" pitchFamily="34" charset="-120"/>
              </a:rPr>
              <a:t>Creación y edición de agentes con formulario visual</a:t>
            </a:r>
            <a:endParaRPr lang="en-US" sz="800" dirty="0"/>
          </a:p>
        </p:txBody>
      </p:sp>
      <p:sp>
        <p:nvSpPr>
          <p:cNvPr id="27" name="Text 23"/>
          <p:cNvSpPr/>
          <p:nvPr/>
        </p:nvSpPr>
        <p:spPr>
          <a:xfrm>
            <a:off x="5657850" y="2692636"/>
            <a:ext cx="750094" cy="105370"/>
          </a:xfrm>
          <a:prstGeom prst="rect">
            <a:avLst/>
          </a:prstGeom>
          <a:noFill/>
          <a:ln/>
        </p:spPr>
        <p:txBody>
          <a:bodyPr wrap="none" lIns="0" tIns="0" rIns="0" bIns="0" rtlCol="0" anchor="t">
            <a:spAutoFit/>
          </a:bodyPr>
          <a:lstStyle/>
          <a:p>
            <a:pPr marL="0" indent="0" algn="r">
              <a:buNone/>
            </a:pPr>
            <a:r>
              <a:rPr lang="en-US" sz="600" b="1" kern="0" spc="1" dirty="0">
                <a:solidFill>
                  <a:srgbClr val="E6FBFF"/>
                </a:solidFill>
                <a:latin typeface="Inter ExtraBold" pitchFamily="34" charset="0"/>
                <a:ea typeface="Inter ExtraBold" pitchFamily="34" charset="-122"/>
                <a:cs typeface="Inter ExtraBold" pitchFamily="34" charset="-120"/>
              </a:rPr>
              <a:t>FUNCIONAL</a:t>
            </a:r>
            <a:endParaRPr lang="en-US" sz="600" dirty="0"/>
          </a:p>
        </p:txBody>
      </p:sp>
      <p:sp>
        <p:nvSpPr>
          <p:cNvPr id="28" name="Shape 24"/>
          <p:cNvSpPr/>
          <p:nvPr/>
        </p:nvSpPr>
        <p:spPr>
          <a:xfrm>
            <a:off x="2886075" y="2873908"/>
            <a:ext cx="3521869" cy="260021"/>
          </a:xfrm>
          <a:prstGeom prst="rect">
            <a:avLst/>
          </a:prstGeom>
          <a:solidFill>
            <a:srgbClr val="000000">
              <a:alpha val="0"/>
            </a:srgbClr>
          </a:solidFill>
          <a:ln/>
        </p:spPr>
      </p:sp>
      <p:sp>
        <p:nvSpPr>
          <p:cNvPr id="29" name="Shape 25"/>
          <p:cNvSpPr/>
          <p:nvPr/>
        </p:nvSpPr>
        <p:spPr>
          <a:xfrm>
            <a:off x="2886075" y="2873908"/>
            <a:ext cx="3521869" cy="7144"/>
          </a:xfrm>
          <a:prstGeom prst="rect">
            <a:avLst/>
          </a:prstGeom>
          <a:solidFill>
            <a:srgbClr val="F3F6F9"/>
          </a:solidFill>
          <a:ln/>
        </p:spPr>
      </p:sp>
      <p:sp>
        <p:nvSpPr>
          <p:cNvPr id="30" name="Text 26"/>
          <p:cNvSpPr/>
          <p:nvPr/>
        </p:nvSpPr>
        <p:spPr>
          <a:xfrm>
            <a:off x="2886075" y="2924808"/>
            <a:ext cx="242888" cy="155377"/>
          </a:xfrm>
          <a:prstGeom prst="rect">
            <a:avLst/>
          </a:prstGeom>
          <a:noFill/>
          <a:ln/>
        </p:spPr>
        <p:txBody>
          <a:bodyPr wrap="none" lIns="0" tIns="0" rIns="0" bIns="0" rtlCol="0" anchor="t">
            <a:spAutoFit/>
          </a:bodyPr>
          <a:lstStyle/>
          <a:p>
            <a:pPr marL="0" indent="0" algn="l">
              <a:buNone/>
            </a:pPr>
            <a:r>
              <a:rPr lang="en-US" sz="900" b="1" dirty="0">
                <a:solidFill>
                  <a:srgbClr val="22E6A8"/>
                </a:solidFill>
                <a:latin typeface="Inter ExtraBold" pitchFamily="34" charset="0"/>
                <a:ea typeface="Inter ExtraBold" pitchFamily="34" charset="-122"/>
                <a:cs typeface="Inter ExtraBold" pitchFamily="34" charset="-120"/>
              </a:rPr>
              <a:t>✓</a:t>
            </a:r>
            <a:endParaRPr lang="en-US" sz="900" dirty="0"/>
          </a:p>
        </p:txBody>
      </p:sp>
      <p:sp>
        <p:nvSpPr>
          <p:cNvPr id="31" name="Text 27"/>
          <p:cNvSpPr/>
          <p:nvPr/>
        </p:nvSpPr>
        <p:spPr>
          <a:xfrm>
            <a:off x="3200400" y="2876057"/>
            <a:ext cx="2386013" cy="252878"/>
          </a:xfrm>
          <a:prstGeom prst="rect">
            <a:avLst/>
          </a:prstGeom>
          <a:noFill/>
          <a:ln/>
        </p:spPr>
        <p:txBody>
          <a:bodyPr wrap="square" lIns="0" tIns="0" rIns="0" bIns="0" rtlCol="0" anchor="t">
            <a:spAutoFit/>
          </a:bodyPr>
          <a:lstStyle/>
          <a:p>
            <a:pPr marL="0" indent="0" algn="l">
              <a:lnSpc>
                <a:spcPct val="94400"/>
              </a:lnSpc>
              <a:buNone/>
            </a:pPr>
            <a:r>
              <a:rPr lang="en-US" sz="800" dirty="0">
                <a:solidFill>
                  <a:srgbClr val="B7C8D9"/>
                </a:solidFill>
                <a:latin typeface="Inter" pitchFamily="34" charset="0"/>
                <a:ea typeface="Inter" pitchFamily="34" charset="-122"/>
                <a:cs typeface="Inter" pitchFamily="34" charset="-120"/>
              </a:rPr>
              <a:t>Publicación automática en Kubernetes con un clic</a:t>
            </a:r>
            <a:endParaRPr lang="en-US" sz="800" dirty="0"/>
          </a:p>
        </p:txBody>
      </p:sp>
      <p:sp>
        <p:nvSpPr>
          <p:cNvPr id="32" name="Text 28"/>
          <p:cNvSpPr/>
          <p:nvPr/>
        </p:nvSpPr>
        <p:spPr>
          <a:xfrm>
            <a:off x="5657850" y="2949811"/>
            <a:ext cx="750094" cy="105370"/>
          </a:xfrm>
          <a:prstGeom prst="rect">
            <a:avLst/>
          </a:prstGeom>
          <a:noFill/>
          <a:ln/>
        </p:spPr>
        <p:txBody>
          <a:bodyPr wrap="none" lIns="0" tIns="0" rIns="0" bIns="0" rtlCol="0" anchor="t">
            <a:spAutoFit/>
          </a:bodyPr>
          <a:lstStyle/>
          <a:p>
            <a:pPr marL="0" indent="0" algn="r">
              <a:buNone/>
            </a:pPr>
            <a:r>
              <a:rPr lang="en-US" sz="600" b="1" kern="0" spc="1" dirty="0">
                <a:solidFill>
                  <a:srgbClr val="E6FBFF"/>
                </a:solidFill>
                <a:latin typeface="Inter ExtraBold" pitchFamily="34" charset="0"/>
                <a:ea typeface="Inter ExtraBold" pitchFamily="34" charset="-122"/>
                <a:cs typeface="Inter ExtraBold" pitchFamily="34" charset="-120"/>
              </a:rPr>
              <a:t>FUNCIONAL</a:t>
            </a:r>
            <a:endParaRPr lang="en-US" sz="600" dirty="0"/>
          </a:p>
        </p:txBody>
      </p:sp>
      <p:sp>
        <p:nvSpPr>
          <p:cNvPr id="33" name="Shape 29"/>
          <p:cNvSpPr/>
          <p:nvPr/>
        </p:nvSpPr>
        <p:spPr>
          <a:xfrm>
            <a:off x="2886075" y="3131083"/>
            <a:ext cx="3521869" cy="257175"/>
          </a:xfrm>
          <a:prstGeom prst="rect">
            <a:avLst/>
          </a:prstGeom>
          <a:solidFill>
            <a:srgbClr val="000000">
              <a:alpha val="0"/>
            </a:srgbClr>
          </a:solidFill>
          <a:ln/>
        </p:spPr>
      </p:sp>
      <p:sp>
        <p:nvSpPr>
          <p:cNvPr id="34" name="Shape 30"/>
          <p:cNvSpPr/>
          <p:nvPr/>
        </p:nvSpPr>
        <p:spPr>
          <a:xfrm>
            <a:off x="2886075" y="3131083"/>
            <a:ext cx="3521869" cy="7144"/>
          </a:xfrm>
          <a:prstGeom prst="rect">
            <a:avLst/>
          </a:prstGeom>
          <a:solidFill>
            <a:srgbClr val="F3F6F9"/>
          </a:solidFill>
          <a:ln/>
        </p:spPr>
      </p:sp>
      <p:sp>
        <p:nvSpPr>
          <p:cNvPr id="35" name="Text 31"/>
          <p:cNvSpPr/>
          <p:nvPr/>
        </p:nvSpPr>
        <p:spPr>
          <a:xfrm>
            <a:off x="2886075" y="3181983"/>
            <a:ext cx="242888" cy="155377"/>
          </a:xfrm>
          <a:prstGeom prst="rect">
            <a:avLst/>
          </a:prstGeom>
          <a:noFill/>
          <a:ln/>
        </p:spPr>
        <p:txBody>
          <a:bodyPr wrap="none" lIns="0" tIns="0" rIns="0" bIns="0" rtlCol="0" anchor="t">
            <a:spAutoFit/>
          </a:bodyPr>
          <a:lstStyle/>
          <a:p>
            <a:pPr marL="0" indent="0" algn="l">
              <a:buNone/>
            </a:pPr>
            <a:r>
              <a:rPr lang="en-US" sz="900" b="1" dirty="0">
                <a:solidFill>
                  <a:srgbClr val="22E6A8"/>
                </a:solidFill>
                <a:latin typeface="Inter ExtraBold" pitchFamily="34" charset="0"/>
                <a:ea typeface="Inter ExtraBold" pitchFamily="34" charset="-122"/>
                <a:cs typeface="Inter ExtraBold" pitchFamily="34" charset="-120"/>
              </a:rPr>
              <a:t>✓</a:t>
            </a:r>
            <a:endParaRPr lang="en-US" sz="900" dirty="0"/>
          </a:p>
        </p:txBody>
      </p:sp>
      <p:sp>
        <p:nvSpPr>
          <p:cNvPr id="36" name="Text 32"/>
          <p:cNvSpPr/>
          <p:nvPr/>
        </p:nvSpPr>
        <p:spPr>
          <a:xfrm>
            <a:off x="3200400" y="3196437"/>
            <a:ext cx="2386013" cy="126439"/>
          </a:xfrm>
          <a:prstGeom prst="rect">
            <a:avLst/>
          </a:prstGeom>
          <a:noFill/>
          <a:ln/>
        </p:spPr>
        <p:txBody>
          <a:bodyPr wrap="none" lIns="0" tIns="0" rIns="0" bIns="0" rtlCol="0" anchor="t">
            <a:spAutoFit/>
          </a:bodyPr>
          <a:lstStyle/>
          <a:p>
            <a:pPr marL="0" indent="0" algn="l">
              <a:lnSpc>
                <a:spcPct val="94400"/>
              </a:lnSpc>
              <a:buNone/>
            </a:pPr>
            <a:r>
              <a:rPr lang="en-US" sz="800" dirty="0">
                <a:solidFill>
                  <a:srgbClr val="B7C8D9"/>
                </a:solidFill>
                <a:latin typeface="Inter" pitchFamily="34" charset="0"/>
                <a:ea typeface="Inter" pitchFamily="34" charset="-122"/>
                <a:cs typeface="Inter" pitchFamily="34" charset="-120"/>
              </a:rPr>
              <a:t>Credencial verificable firmada por EAFIT</a:t>
            </a:r>
            <a:endParaRPr lang="en-US" sz="800" dirty="0"/>
          </a:p>
        </p:txBody>
      </p:sp>
      <p:sp>
        <p:nvSpPr>
          <p:cNvPr id="37" name="Text 33"/>
          <p:cNvSpPr/>
          <p:nvPr/>
        </p:nvSpPr>
        <p:spPr>
          <a:xfrm>
            <a:off x="5657850" y="3206986"/>
            <a:ext cx="750094" cy="105370"/>
          </a:xfrm>
          <a:prstGeom prst="rect">
            <a:avLst/>
          </a:prstGeom>
          <a:noFill/>
          <a:ln/>
        </p:spPr>
        <p:txBody>
          <a:bodyPr wrap="none" lIns="0" tIns="0" rIns="0" bIns="0" rtlCol="0" anchor="t">
            <a:spAutoFit/>
          </a:bodyPr>
          <a:lstStyle/>
          <a:p>
            <a:pPr marL="0" indent="0" algn="r">
              <a:buNone/>
            </a:pPr>
            <a:r>
              <a:rPr lang="en-US" sz="600" b="1" kern="0" spc="1" dirty="0">
                <a:solidFill>
                  <a:srgbClr val="E6FBFF"/>
                </a:solidFill>
                <a:latin typeface="Inter ExtraBold" pitchFamily="34" charset="0"/>
                <a:ea typeface="Inter ExtraBold" pitchFamily="34" charset="-122"/>
                <a:cs typeface="Inter ExtraBold" pitchFamily="34" charset="-120"/>
              </a:rPr>
              <a:t>FUNCIONAL</a:t>
            </a:r>
            <a:endParaRPr lang="en-US" sz="600" dirty="0"/>
          </a:p>
        </p:txBody>
      </p:sp>
      <p:sp>
        <p:nvSpPr>
          <p:cNvPr id="38" name="Shape 34"/>
          <p:cNvSpPr/>
          <p:nvPr/>
        </p:nvSpPr>
        <p:spPr>
          <a:xfrm>
            <a:off x="2886075" y="3388258"/>
            <a:ext cx="3521869" cy="257175"/>
          </a:xfrm>
          <a:prstGeom prst="rect">
            <a:avLst/>
          </a:prstGeom>
          <a:solidFill>
            <a:srgbClr val="000000">
              <a:alpha val="0"/>
            </a:srgbClr>
          </a:solidFill>
          <a:ln/>
        </p:spPr>
      </p:sp>
      <p:sp>
        <p:nvSpPr>
          <p:cNvPr id="39" name="Shape 35"/>
          <p:cNvSpPr/>
          <p:nvPr/>
        </p:nvSpPr>
        <p:spPr>
          <a:xfrm>
            <a:off x="2886075" y="3388258"/>
            <a:ext cx="3521869" cy="7144"/>
          </a:xfrm>
          <a:prstGeom prst="rect">
            <a:avLst/>
          </a:prstGeom>
          <a:solidFill>
            <a:srgbClr val="F3F6F9"/>
          </a:solidFill>
          <a:ln/>
        </p:spPr>
      </p:sp>
      <p:sp>
        <p:nvSpPr>
          <p:cNvPr id="40" name="Text 36"/>
          <p:cNvSpPr/>
          <p:nvPr/>
        </p:nvSpPr>
        <p:spPr>
          <a:xfrm>
            <a:off x="2886075" y="3439158"/>
            <a:ext cx="242888" cy="155377"/>
          </a:xfrm>
          <a:prstGeom prst="rect">
            <a:avLst/>
          </a:prstGeom>
          <a:noFill/>
          <a:ln/>
        </p:spPr>
        <p:txBody>
          <a:bodyPr wrap="none" lIns="0" tIns="0" rIns="0" bIns="0" rtlCol="0" anchor="t">
            <a:spAutoFit/>
          </a:bodyPr>
          <a:lstStyle/>
          <a:p>
            <a:pPr marL="0" indent="0" algn="l">
              <a:buNone/>
            </a:pPr>
            <a:r>
              <a:rPr lang="en-US" sz="900" b="1" dirty="0">
                <a:solidFill>
                  <a:srgbClr val="22E6A8"/>
                </a:solidFill>
                <a:latin typeface="Inter ExtraBold" pitchFamily="34" charset="0"/>
                <a:ea typeface="Inter ExtraBold" pitchFamily="34" charset="-122"/>
                <a:cs typeface="Inter ExtraBold" pitchFamily="34" charset="-120"/>
              </a:rPr>
              <a:t>✓</a:t>
            </a:r>
            <a:endParaRPr lang="en-US" sz="900" dirty="0"/>
          </a:p>
        </p:txBody>
      </p:sp>
      <p:sp>
        <p:nvSpPr>
          <p:cNvPr id="41" name="Text 37"/>
          <p:cNvSpPr/>
          <p:nvPr/>
        </p:nvSpPr>
        <p:spPr>
          <a:xfrm>
            <a:off x="3200400" y="3453612"/>
            <a:ext cx="2386013" cy="126439"/>
          </a:xfrm>
          <a:prstGeom prst="rect">
            <a:avLst/>
          </a:prstGeom>
          <a:noFill/>
          <a:ln/>
        </p:spPr>
        <p:txBody>
          <a:bodyPr wrap="none" lIns="0" tIns="0" rIns="0" bIns="0" rtlCol="0" anchor="t">
            <a:spAutoFit/>
          </a:bodyPr>
          <a:lstStyle/>
          <a:p>
            <a:pPr marL="0" indent="0" algn="l">
              <a:lnSpc>
                <a:spcPct val="94400"/>
              </a:lnSpc>
              <a:buNone/>
            </a:pPr>
            <a:r>
              <a:rPr lang="en-US" sz="800" dirty="0">
                <a:solidFill>
                  <a:srgbClr val="B7C8D9"/>
                </a:solidFill>
                <a:latin typeface="Inter" pitchFamily="34" charset="0"/>
                <a:ea typeface="Inter" pitchFamily="34" charset="-122"/>
                <a:cs typeface="Inter" pitchFamily="34" charset="-120"/>
              </a:rPr>
              <a:t>QR de conexión para Hologram</a:t>
            </a:r>
            <a:endParaRPr lang="en-US" sz="800" dirty="0"/>
          </a:p>
        </p:txBody>
      </p:sp>
      <p:sp>
        <p:nvSpPr>
          <p:cNvPr id="42" name="Text 38"/>
          <p:cNvSpPr/>
          <p:nvPr/>
        </p:nvSpPr>
        <p:spPr>
          <a:xfrm>
            <a:off x="5657850" y="3464161"/>
            <a:ext cx="750094" cy="105370"/>
          </a:xfrm>
          <a:prstGeom prst="rect">
            <a:avLst/>
          </a:prstGeom>
          <a:noFill/>
          <a:ln/>
        </p:spPr>
        <p:txBody>
          <a:bodyPr wrap="none" lIns="0" tIns="0" rIns="0" bIns="0" rtlCol="0" anchor="t">
            <a:spAutoFit/>
          </a:bodyPr>
          <a:lstStyle/>
          <a:p>
            <a:pPr marL="0" indent="0" algn="r">
              <a:buNone/>
            </a:pPr>
            <a:r>
              <a:rPr lang="en-US" sz="600" b="1" kern="0" spc="1" dirty="0">
                <a:solidFill>
                  <a:srgbClr val="E6FBFF"/>
                </a:solidFill>
                <a:latin typeface="Inter ExtraBold" pitchFamily="34" charset="0"/>
                <a:ea typeface="Inter ExtraBold" pitchFamily="34" charset="-122"/>
                <a:cs typeface="Inter ExtraBold" pitchFamily="34" charset="-120"/>
              </a:rPr>
              <a:t>FUNCIONAL</a:t>
            </a:r>
            <a:endParaRPr lang="en-US" sz="600" dirty="0"/>
          </a:p>
        </p:txBody>
      </p:sp>
      <p:sp>
        <p:nvSpPr>
          <p:cNvPr id="43" name="Shape 39"/>
          <p:cNvSpPr/>
          <p:nvPr/>
        </p:nvSpPr>
        <p:spPr>
          <a:xfrm>
            <a:off x="2886075" y="3645433"/>
            <a:ext cx="3521869" cy="257175"/>
          </a:xfrm>
          <a:prstGeom prst="rect">
            <a:avLst/>
          </a:prstGeom>
          <a:solidFill>
            <a:srgbClr val="000000">
              <a:alpha val="0"/>
            </a:srgbClr>
          </a:solidFill>
          <a:ln/>
        </p:spPr>
      </p:sp>
      <p:sp>
        <p:nvSpPr>
          <p:cNvPr id="44" name="Shape 40"/>
          <p:cNvSpPr/>
          <p:nvPr/>
        </p:nvSpPr>
        <p:spPr>
          <a:xfrm>
            <a:off x="2886075" y="3645433"/>
            <a:ext cx="3521869" cy="7144"/>
          </a:xfrm>
          <a:prstGeom prst="rect">
            <a:avLst/>
          </a:prstGeom>
          <a:solidFill>
            <a:srgbClr val="F3F6F9"/>
          </a:solidFill>
          <a:ln/>
        </p:spPr>
      </p:sp>
      <p:sp>
        <p:nvSpPr>
          <p:cNvPr id="45" name="Text 41"/>
          <p:cNvSpPr/>
          <p:nvPr/>
        </p:nvSpPr>
        <p:spPr>
          <a:xfrm>
            <a:off x="2886075" y="3696333"/>
            <a:ext cx="242888" cy="155377"/>
          </a:xfrm>
          <a:prstGeom prst="rect">
            <a:avLst/>
          </a:prstGeom>
          <a:noFill/>
          <a:ln/>
        </p:spPr>
        <p:txBody>
          <a:bodyPr wrap="none" lIns="0" tIns="0" rIns="0" bIns="0" rtlCol="0" anchor="t">
            <a:spAutoFit/>
          </a:bodyPr>
          <a:lstStyle/>
          <a:p>
            <a:pPr marL="0" indent="0" algn="l">
              <a:buNone/>
            </a:pPr>
            <a:r>
              <a:rPr lang="en-US" sz="900" b="1" dirty="0">
                <a:solidFill>
                  <a:srgbClr val="22E6A8"/>
                </a:solidFill>
                <a:latin typeface="Inter ExtraBold" pitchFamily="34" charset="0"/>
                <a:ea typeface="Inter ExtraBold" pitchFamily="34" charset="-122"/>
                <a:cs typeface="Inter ExtraBold" pitchFamily="34" charset="-120"/>
              </a:rPr>
              <a:t>✓</a:t>
            </a:r>
            <a:endParaRPr lang="en-US" sz="900" dirty="0"/>
          </a:p>
        </p:txBody>
      </p:sp>
      <p:sp>
        <p:nvSpPr>
          <p:cNvPr id="46" name="Text 42"/>
          <p:cNvSpPr/>
          <p:nvPr/>
        </p:nvSpPr>
        <p:spPr>
          <a:xfrm>
            <a:off x="3200400" y="3710787"/>
            <a:ext cx="2386013" cy="126439"/>
          </a:xfrm>
          <a:prstGeom prst="rect">
            <a:avLst/>
          </a:prstGeom>
          <a:noFill/>
          <a:ln/>
        </p:spPr>
        <p:txBody>
          <a:bodyPr wrap="none" lIns="0" tIns="0" rIns="0" bIns="0" rtlCol="0" anchor="t">
            <a:spAutoFit/>
          </a:bodyPr>
          <a:lstStyle/>
          <a:p>
            <a:pPr marL="0" indent="0" algn="l">
              <a:lnSpc>
                <a:spcPct val="94400"/>
              </a:lnSpc>
              <a:buNone/>
            </a:pPr>
            <a:r>
              <a:rPr lang="en-US" sz="800" dirty="0">
                <a:solidFill>
                  <a:srgbClr val="B7C8D9"/>
                </a:solidFill>
                <a:latin typeface="Inter" pitchFamily="34" charset="0"/>
                <a:ea typeface="Inter" pitchFamily="34" charset="-122"/>
                <a:cs typeface="Inter" pitchFamily="34" charset="-120"/>
              </a:rPr>
              <a:t>Integraciones MCP de clima y Wikipedia</a:t>
            </a:r>
            <a:endParaRPr lang="en-US" sz="800" dirty="0"/>
          </a:p>
        </p:txBody>
      </p:sp>
      <p:sp>
        <p:nvSpPr>
          <p:cNvPr id="47" name="Text 43"/>
          <p:cNvSpPr/>
          <p:nvPr/>
        </p:nvSpPr>
        <p:spPr>
          <a:xfrm>
            <a:off x="5657850" y="3721336"/>
            <a:ext cx="750094" cy="105370"/>
          </a:xfrm>
          <a:prstGeom prst="rect">
            <a:avLst/>
          </a:prstGeom>
          <a:noFill/>
          <a:ln/>
        </p:spPr>
        <p:txBody>
          <a:bodyPr wrap="none" lIns="0" tIns="0" rIns="0" bIns="0" rtlCol="0" anchor="t">
            <a:spAutoFit/>
          </a:bodyPr>
          <a:lstStyle/>
          <a:p>
            <a:pPr marL="0" indent="0" algn="r">
              <a:buNone/>
            </a:pPr>
            <a:r>
              <a:rPr lang="en-US" sz="600" b="1" kern="0" spc="1" dirty="0">
                <a:solidFill>
                  <a:srgbClr val="E6FBFF"/>
                </a:solidFill>
                <a:latin typeface="Inter ExtraBold" pitchFamily="34" charset="0"/>
                <a:ea typeface="Inter ExtraBold" pitchFamily="34" charset="-122"/>
                <a:cs typeface="Inter ExtraBold" pitchFamily="34" charset="-120"/>
              </a:rPr>
              <a:t>FUNCIONAL</a:t>
            </a:r>
            <a:endParaRPr lang="en-US" sz="600" dirty="0"/>
          </a:p>
        </p:txBody>
      </p:sp>
      <p:sp>
        <p:nvSpPr>
          <p:cNvPr id="48" name="Shape 44"/>
          <p:cNvSpPr/>
          <p:nvPr/>
        </p:nvSpPr>
        <p:spPr>
          <a:xfrm>
            <a:off x="2886075" y="3902608"/>
            <a:ext cx="3521869" cy="257175"/>
          </a:xfrm>
          <a:prstGeom prst="rect">
            <a:avLst/>
          </a:prstGeom>
          <a:solidFill>
            <a:srgbClr val="000000">
              <a:alpha val="0"/>
            </a:srgbClr>
          </a:solidFill>
          <a:ln/>
        </p:spPr>
      </p:sp>
      <p:sp>
        <p:nvSpPr>
          <p:cNvPr id="49" name="Shape 45"/>
          <p:cNvSpPr/>
          <p:nvPr/>
        </p:nvSpPr>
        <p:spPr>
          <a:xfrm>
            <a:off x="2886075" y="3902608"/>
            <a:ext cx="3521869" cy="7144"/>
          </a:xfrm>
          <a:prstGeom prst="rect">
            <a:avLst/>
          </a:prstGeom>
          <a:solidFill>
            <a:srgbClr val="F3F6F9"/>
          </a:solidFill>
          <a:ln/>
        </p:spPr>
      </p:sp>
      <p:sp>
        <p:nvSpPr>
          <p:cNvPr id="50" name="Text 46"/>
          <p:cNvSpPr/>
          <p:nvPr/>
        </p:nvSpPr>
        <p:spPr>
          <a:xfrm>
            <a:off x="2886075" y="3953508"/>
            <a:ext cx="242888" cy="155377"/>
          </a:xfrm>
          <a:prstGeom prst="rect">
            <a:avLst/>
          </a:prstGeom>
          <a:noFill/>
          <a:ln/>
        </p:spPr>
        <p:txBody>
          <a:bodyPr wrap="none" lIns="0" tIns="0" rIns="0" bIns="0" rtlCol="0" anchor="t">
            <a:spAutoFit/>
          </a:bodyPr>
          <a:lstStyle/>
          <a:p>
            <a:pPr marL="0" indent="0" algn="l">
              <a:buNone/>
            </a:pPr>
            <a:r>
              <a:rPr lang="en-US" sz="900" b="1" dirty="0">
                <a:solidFill>
                  <a:srgbClr val="22E6A8"/>
                </a:solidFill>
                <a:latin typeface="Inter ExtraBold" pitchFamily="34" charset="0"/>
                <a:ea typeface="Inter ExtraBold" pitchFamily="34" charset="-122"/>
                <a:cs typeface="Inter ExtraBold" pitchFamily="34" charset="-120"/>
              </a:rPr>
              <a:t>✓</a:t>
            </a:r>
            <a:endParaRPr lang="en-US" sz="900" dirty="0"/>
          </a:p>
        </p:txBody>
      </p:sp>
      <p:sp>
        <p:nvSpPr>
          <p:cNvPr id="51" name="Text 47"/>
          <p:cNvSpPr/>
          <p:nvPr/>
        </p:nvSpPr>
        <p:spPr>
          <a:xfrm>
            <a:off x="3200400" y="3967962"/>
            <a:ext cx="2386013" cy="126439"/>
          </a:xfrm>
          <a:prstGeom prst="rect">
            <a:avLst/>
          </a:prstGeom>
          <a:noFill/>
          <a:ln/>
        </p:spPr>
        <p:txBody>
          <a:bodyPr wrap="none" lIns="0" tIns="0" rIns="0" bIns="0" rtlCol="0" anchor="t">
            <a:spAutoFit/>
          </a:bodyPr>
          <a:lstStyle/>
          <a:p>
            <a:pPr marL="0" indent="0" algn="l">
              <a:lnSpc>
                <a:spcPct val="94400"/>
              </a:lnSpc>
              <a:buNone/>
            </a:pPr>
            <a:r>
              <a:rPr lang="en-US" sz="800" dirty="0">
                <a:solidFill>
                  <a:srgbClr val="B7C8D9"/>
                </a:solidFill>
                <a:latin typeface="Inter" pitchFamily="34" charset="0"/>
                <a:ea typeface="Inter" pitchFamily="34" charset="-122"/>
                <a:cs typeface="Inter" pitchFamily="34" charset="-120"/>
              </a:rPr>
              <a:t>CI/CD automatizado con GitHub Actions</a:t>
            </a:r>
            <a:endParaRPr lang="en-US" sz="800" dirty="0"/>
          </a:p>
        </p:txBody>
      </p:sp>
      <p:sp>
        <p:nvSpPr>
          <p:cNvPr id="52" name="Text 48"/>
          <p:cNvSpPr/>
          <p:nvPr/>
        </p:nvSpPr>
        <p:spPr>
          <a:xfrm>
            <a:off x="5657850" y="3978511"/>
            <a:ext cx="750094" cy="105370"/>
          </a:xfrm>
          <a:prstGeom prst="rect">
            <a:avLst/>
          </a:prstGeom>
          <a:noFill/>
          <a:ln/>
        </p:spPr>
        <p:txBody>
          <a:bodyPr wrap="none" lIns="0" tIns="0" rIns="0" bIns="0" rtlCol="0" anchor="t">
            <a:spAutoFit/>
          </a:bodyPr>
          <a:lstStyle/>
          <a:p>
            <a:pPr marL="0" indent="0" algn="r">
              <a:buNone/>
            </a:pPr>
            <a:r>
              <a:rPr lang="en-US" sz="600" b="1" kern="0" spc="1" dirty="0">
                <a:solidFill>
                  <a:srgbClr val="E6FBFF"/>
                </a:solidFill>
                <a:latin typeface="Inter ExtraBold" pitchFamily="34" charset="0"/>
                <a:ea typeface="Inter ExtraBold" pitchFamily="34" charset="-122"/>
                <a:cs typeface="Inter ExtraBold" pitchFamily="34" charset="-120"/>
              </a:rPr>
              <a:t>FUNCIONAL</a:t>
            </a:r>
            <a:endParaRPr lang="en-US" sz="600" dirty="0"/>
          </a:p>
        </p:txBody>
      </p:sp>
      <p:sp>
        <p:nvSpPr>
          <p:cNvPr id="53" name="Shape 49"/>
          <p:cNvSpPr/>
          <p:nvPr/>
        </p:nvSpPr>
        <p:spPr>
          <a:xfrm>
            <a:off x="2886075" y="4159783"/>
            <a:ext cx="3521869" cy="257175"/>
          </a:xfrm>
          <a:prstGeom prst="rect">
            <a:avLst/>
          </a:prstGeom>
          <a:solidFill>
            <a:srgbClr val="000000">
              <a:alpha val="0"/>
            </a:srgbClr>
          </a:solidFill>
          <a:ln/>
        </p:spPr>
      </p:sp>
      <p:sp>
        <p:nvSpPr>
          <p:cNvPr id="54" name="Shape 50"/>
          <p:cNvSpPr/>
          <p:nvPr/>
        </p:nvSpPr>
        <p:spPr>
          <a:xfrm>
            <a:off x="2886075" y="4159783"/>
            <a:ext cx="3521869" cy="7144"/>
          </a:xfrm>
          <a:prstGeom prst="rect">
            <a:avLst/>
          </a:prstGeom>
          <a:solidFill>
            <a:srgbClr val="F3F6F9"/>
          </a:solidFill>
          <a:ln/>
        </p:spPr>
      </p:sp>
      <p:sp>
        <p:nvSpPr>
          <p:cNvPr id="55" name="Text 51"/>
          <p:cNvSpPr/>
          <p:nvPr/>
        </p:nvSpPr>
        <p:spPr>
          <a:xfrm>
            <a:off x="2886075" y="4210683"/>
            <a:ext cx="242888" cy="155377"/>
          </a:xfrm>
          <a:prstGeom prst="rect">
            <a:avLst/>
          </a:prstGeom>
          <a:noFill/>
          <a:ln/>
        </p:spPr>
        <p:txBody>
          <a:bodyPr wrap="none" lIns="0" tIns="0" rIns="0" bIns="0" rtlCol="0" anchor="t">
            <a:spAutoFit/>
          </a:bodyPr>
          <a:lstStyle/>
          <a:p>
            <a:pPr marL="0" indent="0" algn="l">
              <a:buNone/>
            </a:pPr>
            <a:r>
              <a:rPr lang="en-US" sz="900" b="1" dirty="0">
                <a:solidFill>
                  <a:srgbClr val="22E6A8"/>
                </a:solidFill>
                <a:latin typeface="Inter ExtraBold" pitchFamily="34" charset="0"/>
                <a:ea typeface="Inter ExtraBold" pitchFamily="34" charset="-122"/>
                <a:cs typeface="Inter ExtraBold" pitchFamily="34" charset="-120"/>
              </a:rPr>
              <a:t>↻</a:t>
            </a:r>
            <a:endParaRPr lang="en-US" sz="900" dirty="0"/>
          </a:p>
        </p:txBody>
      </p:sp>
      <p:sp>
        <p:nvSpPr>
          <p:cNvPr id="56" name="Text 52"/>
          <p:cNvSpPr/>
          <p:nvPr/>
        </p:nvSpPr>
        <p:spPr>
          <a:xfrm>
            <a:off x="3200400" y="4225137"/>
            <a:ext cx="2386013" cy="126439"/>
          </a:xfrm>
          <a:prstGeom prst="rect">
            <a:avLst/>
          </a:prstGeom>
          <a:noFill/>
          <a:ln/>
        </p:spPr>
        <p:txBody>
          <a:bodyPr wrap="none" lIns="0" tIns="0" rIns="0" bIns="0" rtlCol="0" anchor="t">
            <a:spAutoFit/>
          </a:bodyPr>
          <a:lstStyle/>
          <a:p>
            <a:pPr marL="0" indent="0" algn="l">
              <a:lnSpc>
                <a:spcPct val="94400"/>
              </a:lnSpc>
              <a:buNone/>
            </a:pPr>
            <a:r>
              <a:rPr lang="en-US" sz="800" dirty="0">
                <a:solidFill>
                  <a:srgbClr val="B7C8D9"/>
                </a:solidFill>
                <a:latin typeface="Inter" pitchFamily="34" charset="0"/>
                <a:ea typeface="Inter" pitchFamily="34" charset="-122"/>
                <a:cs typeface="Inter" pitchFamily="34" charset="-120"/>
              </a:rPr>
              <a:t>Google Calendar MCP</a:t>
            </a:r>
            <a:endParaRPr lang="en-US" sz="800" dirty="0"/>
          </a:p>
        </p:txBody>
      </p:sp>
      <p:sp>
        <p:nvSpPr>
          <p:cNvPr id="57" name="Text 53"/>
          <p:cNvSpPr/>
          <p:nvPr/>
        </p:nvSpPr>
        <p:spPr>
          <a:xfrm>
            <a:off x="5657850" y="4235686"/>
            <a:ext cx="750094" cy="105370"/>
          </a:xfrm>
          <a:prstGeom prst="rect">
            <a:avLst/>
          </a:prstGeom>
          <a:noFill/>
          <a:ln/>
        </p:spPr>
        <p:txBody>
          <a:bodyPr wrap="none" lIns="0" tIns="0" rIns="0" bIns="0" rtlCol="0" anchor="t">
            <a:spAutoFit/>
          </a:bodyPr>
          <a:lstStyle/>
          <a:p>
            <a:pPr marL="0" indent="0" algn="r">
              <a:buNone/>
            </a:pPr>
            <a:r>
              <a:rPr lang="en-US" sz="600" b="1" kern="0" spc="1" dirty="0">
                <a:solidFill>
                  <a:srgbClr val="00D4FF"/>
                </a:solidFill>
                <a:latin typeface="Inter ExtraBold" pitchFamily="34" charset="0"/>
                <a:ea typeface="Inter ExtraBold" pitchFamily="34" charset="-122"/>
                <a:cs typeface="Inter ExtraBold" pitchFamily="34" charset="-120"/>
              </a:rPr>
              <a:t>EN AJUSTE</a:t>
            </a:r>
            <a:endParaRPr lang="en-US" sz="600" dirty="0"/>
          </a:p>
        </p:txBody>
      </p:sp>
      <p:sp>
        <p:nvSpPr>
          <p:cNvPr id="58" name="Shape 54"/>
          <p:cNvSpPr/>
          <p:nvPr/>
        </p:nvSpPr>
        <p:spPr>
          <a:xfrm>
            <a:off x="6715125" y="1973796"/>
            <a:ext cx="1928813" cy="2500313"/>
          </a:xfrm>
          <a:prstGeom prst="rect">
            <a:avLst/>
          </a:prstGeom>
          <a:solidFill>
            <a:srgbClr val="07111F">
              <a:alpha val="2000"/>
            </a:srgbClr>
          </a:solidFill>
          <a:ln/>
        </p:spPr>
      </p:sp>
      <p:sp>
        <p:nvSpPr>
          <p:cNvPr id="59" name="Shape 55"/>
          <p:cNvSpPr/>
          <p:nvPr/>
        </p:nvSpPr>
        <p:spPr>
          <a:xfrm>
            <a:off x="6715125" y="1973796"/>
            <a:ext cx="1928813" cy="14288"/>
          </a:xfrm>
          <a:prstGeom prst="rect">
            <a:avLst/>
          </a:prstGeom>
          <a:solidFill>
            <a:srgbClr val="72EFC7"/>
          </a:solidFill>
          <a:ln/>
        </p:spPr>
      </p:sp>
      <p:sp>
        <p:nvSpPr>
          <p:cNvPr id="60" name="Text 56"/>
          <p:cNvSpPr/>
          <p:nvPr/>
        </p:nvSpPr>
        <p:spPr>
          <a:xfrm>
            <a:off x="6872288" y="2145246"/>
            <a:ext cx="1643063" cy="361429"/>
          </a:xfrm>
          <a:prstGeom prst="rect">
            <a:avLst/>
          </a:prstGeom>
          <a:noFill/>
          <a:ln/>
        </p:spPr>
        <p:txBody>
          <a:bodyPr wrap="square" lIns="0" tIns="0" rIns="0" bIns="0" rtlCol="0" anchor="t">
            <a:spAutoFit/>
          </a:bodyPr>
          <a:lstStyle/>
          <a:p>
            <a:pPr marL="0" indent="0" algn="l">
              <a:lnSpc>
                <a:spcPct val="88000"/>
              </a:lnSpc>
              <a:buNone/>
            </a:pPr>
            <a:r>
              <a:rPr lang="en-US" sz="1150" b="1" dirty="0">
                <a:solidFill>
                  <a:srgbClr val="00D4FF"/>
                </a:solidFill>
                <a:latin typeface="Space Grotesk Bold" pitchFamily="34" charset="0"/>
                <a:ea typeface="Space Grotesk Bold" pitchFamily="34" charset="-122"/>
                <a:cs typeface="Space Grotesk Bold" pitchFamily="34" charset="-120"/>
              </a:rPr>
              <a:t>URLs clave para validar el resultado</a:t>
            </a:r>
            <a:endParaRPr lang="en-US" sz="1150" dirty="0"/>
          </a:p>
        </p:txBody>
      </p:sp>
      <p:sp>
        <p:nvSpPr>
          <p:cNvPr id="61" name="Text 57"/>
          <p:cNvSpPr/>
          <p:nvPr/>
        </p:nvSpPr>
        <p:spPr>
          <a:xfrm>
            <a:off x="6872288" y="2635262"/>
            <a:ext cx="1643063" cy="112514"/>
          </a:xfrm>
          <a:prstGeom prst="rect">
            <a:avLst/>
          </a:prstGeom>
          <a:noFill/>
          <a:ln/>
        </p:spPr>
        <p:txBody>
          <a:bodyPr wrap="square" lIns="0" tIns="0" rIns="0" bIns="0" rtlCol="0" anchor="t">
            <a:spAutoFit/>
          </a:bodyPr>
          <a:lstStyle/>
          <a:p>
            <a:pPr marL="0" indent="0" algn="l">
              <a:buNone/>
            </a:pPr>
            <a:r>
              <a:rPr lang="en-US" sz="650" b="1" kern="0" spc="1" dirty="0">
                <a:solidFill>
                  <a:srgbClr val="22E6A8"/>
                </a:solidFill>
                <a:latin typeface="Inter ExtraBold" pitchFamily="34" charset="0"/>
                <a:ea typeface="Inter ExtraBold" pitchFamily="34" charset="-122"/>
                <a:cs typeface="Inter ExtraBold" pitchFamily="34" charset="-120"/>
              </a:rPr>
              <a:t>PLATAFORMA EN VIVO</a:t>
            </a:r>
            <a:endParaRPr lang="en-US" sz="650" dirty="0"/>
          </a:p>
        </p:txBody>
      </p:sp>
      <p:sp>
        <p:nvSpPr>
          <p:cNvPr id="62" name="Text 58"/>
          <p:cNvSpPr/>
          <p:nvPr/>
        </p:nvSpPr>
        <p:spPr>
          <a:xfrm>
            <a:off x="6872288" y="2804926"/>
            <a:ext cx="1643063" cy="470567"/>
          </a:xfrm>
          <a:prstGeom prst="rect">
            <a:avLst/>
          </a:prstGeom>
          <a:noFill/>
          <a:ln/>
        </p:spPr>
        <p:txBody>
          <a:bodyPr wrap="square" lIns="0" tIns="0" rIns="0" bIns="0" rtlCol="0" anchor="t">
            <a:spAutoFit/>
          </a:bodyPr>
          <a:lstStyle/>
          <a:p>
            <a:pPr marL="0" indent="0" algn="l">
              <a:lnSpc>
                <a:spcPct val="97600"/>
              </a:lnSpc>
              <a:buNone/>
            </a:pPr>
            <a:r>
              <a:rPr lang="en-US" sz="950" dirty="0">
                <a:solidFill>
                  <a:srgbClr val="E6FBFF"/>
                </a:solidFill>
                <a:latin typeface="Space Grotesk Medium" pitchFamily="34" charset="0"/>
                <a:ea typeface="Space Grotesk Medium" pitchFamily="34" charset="-122"/>
                <a:cs typeface="Space Grotesk Medium" pitchFamily="34" charset="-120"/>
              </a:rPr>
              <a:t>persona-ai.team-g.teams.eafit.testnet.verana.network</a:t>
            </a:r>
            <a:endParaRPr lang="en-US" sz="950" dirty="0"/>
          </a:p>
        </p:txBody>
      </p:sp>
      <p:sp>
        <p:nvSpPr>
          <p:cNvPr id="63" name="Text 59"/>
          <p:cNvSpPr/>
          <p:nvPr/>
        </p:nvSpPr>
        <p:spPr>
          <a:xfrm>
            <a:off x="6872288" y="3404081"/>
            <a:ext cx="1643063" cy="112514"/>
          </a:xfrm>
          <a:prstGeom prst="rect">
            <a:avLst/>
          </a:prstGeom>
          <a:noFill/>
          <a:ln/>
        </p:spPr>
        <p:txBody>
          <a:bodyPr wrap="square" lIns="0" tIns="0" rIns="0" bIns="0" rtlCol="0" anchor="t">
            <a:spAutoFit/>
          </a:bodyPr>
          <a:lstStyle/>
          <a:p>
            <a:pPr marL="0" indent="0" algn="l">
              <a:buNone/>
            </a:pPr>
            <a:r>
              <a:rPr lang="en-US" sz="650" b="1" kern="0" spc="1" dirty="0">
                <a:solidFill>
                  <a:srgbClr val="22E6A8"/>
                </a:solidFill>
                <a:latin typeface="Inter ExtraBold" pitchFamily="34" charset="0"/>
                <a:ea typeface="Inter ExtraBold" pitchFamily="34" charset="-122"/>
                <a:cs typeface="Inter ExtraBold" pitchFamily="34" charset="-120"/>
              </a:rPr>
              <a:t>AGENTE ALICE</a:t>
            </a:r>
            <a:endParaRPr lang="en-US" sz="650" dirty="0"/>
          </a:p>
        </p:txBody>
      </p:sp>
      <p:sp>
        <p:nvSpPr>
          <p:cNvPr id="64" name="Text 60"/>
          <p:cNvSpPr/>
          <p:nvPr/>
        </p:nvSpPr>
        <p:spPr>
          <a:xfrm>
            <a:off x="6872288" y="3573745"/>
            <a:ext cx="1643063" cy="470567"/>
          </a:xfrm>
          <a:prstGeom prst="rect">
            <a:avLst/>
          </a:prstGeom>
          <a:noFill/>
          <a:ln/>
        </p:spPr>
        <p:txBody>
          <a:bodyPr wrap="square" lIns="0" tIns="0" rIns="0" bIns="0" rtlCol="0" anchor="t">
            <a:spAutoFit/>
          </a:bodyPr>
          <a:lstStyle/>
          <a:p>
            <a:pPr marL="0" indent="0" algn="l">
              <a:lnSpc>
                <a:spcPct val="97600"/>
              </a:lnSpc>
              <a:buNone/>
            </a:pPr>
            <a:r>
              <a:rPr lang="en-US" sz="950" dirty="0">
                <a:solidFill>
                  <a:srgbClr val="E6FBFF"/>
                </a:solidFill>
                <a:latin typeface="Space Grotesk Medium" pitchFamily="34" charset="0"/>
                <a:ea typeface="Space Grotesk Medium" pitchFamily="34" charset="-122"/>
                <a:cs typeface="Space Grotesk Medium" pitchFamily="34" charset="-120"/>
              </a:rPr>
              <a:t>alice.agents.team-g.teams.eafit.testnet.verana.network</a:t>
            </a:r>
            <a:endParaRPr lang="en-US" sz="950" dirty="0"/>
          </a:p>
        </p:txBody>
      </p:sp>
      <p:sp>
        <p:nvSpPr>
          <p:cNvPr id="65" name="Text 61"/>
          <p:cNvSpPr/>
          <p:nvPr/>
        </p:nvSpPr>
        <p:spPr>
          <a:xfrm>
            <a:off x="500063" y="4742724"/>
            <a:ext cx="5529263" cy="334305"/>
          </a:xfrm>
          <a:prstGeom prst="rect">
            <a:avLst/>
          </a:prstGeom>
          <a:noFill/>
          <a:ln/>
        </p:spPr>
        <p:txBody>
          <a:bodyPr wrap="square" lIns="0" tIns="0" rIns="0" bIns="0" rtlCol="0" anchor="t">
            <a:spAutoFit/>
          </a:bodyPr>
          <a:lstStyle/>
          <a:p>
            <a:pPr marL="0" indent="0" algn="l">
              <a:lnSpc>
                <a:spcPct val="104000"/>
              </a:lnSpc>
              <a:buNone/>
            </a:pPr>
            <a:r>
              <a:rPr lang="en-US" sz="900" b="1" dirty="0">
                <a:solidFill>
                  <a:srgbClr val="E6FBFF"/>
                </a:solidFill>
                <a:latin typeface="Inter Bold" pitchFamily="34" charset="0"/>
                <a:ea typeface="Inter Bold" pitchFamily="34" charset="-122"/>
                <a:cs typeface="Inter Bold" pitchFamily="34" charset="-120"/>
              </a:rPr>
              <a:t>Impacto principal:</a:t>
            </a:r>
            <a:r>
              <a:rPr lang="en-US" sz="950" dirty="0">
                <a:solidFill>
                  <a:srgbClr val="B7C8D9"/>
                </a:solidFill>
                <a:latin typeface="Inter" pitchFamily="34" charset="0"/>
                <a:ea typeface="Inter" pitchFamily="34" charset="-122"/>
                <a:cs typeface="Inter" pitchFamily="34" charset="-120"/>
              </a:rPr>
              <a:t> la credencialización, el despliegue y la conexión con Hologram quedan automatizados detrás de una interfaz accesible.</a:t>
            </a:r>
            <a:endParaRPr lang="en-US" sz="900" dirty="0"/>
          </a:p>
        </p:txBody>
      </p:sp>
      <p:sp>
        <p:nvSpPr>
          <p:cNvPr id="66" name="Shape 62"/>
          <p:cNvSpPr/>
          <p:nvPr/>
        </p:nvSpPr>
        <p:spPr>
          <a:xfrm>
            <a:off x="6286500" y="4774146"/>
            <a:ext cx="2357438" cy="271463"/>
          </a:xfrm>
          <a:prstGeom prst="rect">
            <a:avLst/>
          </a:prstGeom>
          <a:solidFill>
            <a:srgbClr val="22E6A8"/>
          </a:solidFill>
          <a:ln/>
        </p:spPr>
      </p:sp>
      <p:sp>
        <p:nvSpPr>
          <p:cNvPr id="67" name="Text 63"/>
          <p:cNvSpPr/>
          <p:nvPr/>
        </p:nvSpPr>
        <p:spPr>
          <a:xfrm>
            <a:off x="6286500" y="4774146"/>
            <a:ext cx="2357438" cy="271463"/>
          </a:xfrm>
          <a:prstGeom prst="rect">
            <a:avLst/>
          </a:prstGeom>
          <a:noFill/>
          <a:ln/>
        </p:spPr>
        <p:txBody>
          <a:bodyPr wrap="square" lIns="0" tIns="0" rIns="0" bIns="0" rtlCol="0" anchor="ctr">
            <a:spAutoFit/>
          </a:bodyPr>
          <a:lstStyle/>
          <a:p>
            <a:pPr marL="0" indent="0" algn="ctr">
              <a:buNone/>
            </a:pPr>
            <a:r>
              <a:rPr lang="en-US" sz="900" b="1" dirty="0">
                <a:solidFill>
                  <a:srgbClr val="07111F"/>
                </a:solidFill>
                <a:latin typeface="Space Grotesk Bold" pitchFamily="34" charset="0"/>
                <a:ea typeface="Space Grotesk Bold" pitchFamily="34" charset="-122"/>
                <a:cs typeface="Space Grotesk Bold" pitchFamily="34" charset="-120"/>
              </a:rPr>
              <a:t>Verificado por EAFIT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00063" y="357188"/>
            <a:ext cx="8143875" cy="128588"/>
          </a:xfrm>
          <a:prstGeom prst="rect">
            <a:avLst/>
          </a:prstGeom>
          <a:noFill/>
          <a:ln/>
        </p:spPr>
        <p:txBody>
          <a:bodyPr wrap="square" lIns="0" tIns="0" rIns="0" bIns="0" rtlCol="0" anchor="t">
            <a:spAutoFit/>
          </a:bodyPr>
          <a:lstStyle/>
          <a:p>
            <a:pPr marL="0" indent="0" algn="l">
              <a:buNone/>
            </a:pPr>
            <a:r>
              <a:rPr lang="en-US" sz="750" b="1" kern="0" spc="2" dirty="0">
                <a:solidFill>
                  <a:srgbClr val="22E6A8"/>
                </a:solidFill>
                <a:latin typeface="Inter ExtraBold" pitchFamily="34" charset="0"/>
                <a:ea typeface="Inter ExtraBold" pitchFamily="34" charset="-122"/>
                <a:cs typeface="Inter ExtraBold" pitchFamily="34" charset="-120"/>
              </a:rPr>
              <a:t>DEMO EN VIVO</a:t>
            </a:r>
            <a:endParaRPr lang="en-US" sz="750" dirty="0"/>
          </a:p>
        </p:txBody>
      </p:sp>
      <p:sp>
        <p:nvSpPr>
          <p:cNvPr id="5" name="Text 1"/>
          <p:cNvSpPr/>
          <p:nvPr/>
        </p:nvSpPr>
        <p:spPr>
          <a:xfrm>
            <a:off x="500063" y="571500"/>
            <a:ext cx="8143875" cy="337542"/>
          </a:xfrm>
          <a:prstGeom prst="rect">
            <a:avLst/>
          </a:prstGeom>
          <a:noFill/>
          <a:ln/>
        </p:spPr>
        <p:txBody>
          <a:bodyPr wrap="none" lIns="0" tIns="0" rIns="0" bIns="0" rtlCol="0" anchor="t">
            <a:spAutoFit/>
          </a:bodyPr>
          <a:lstStyle/>
          <a:p>
            <a:pPr marL="0" indent="0" algn="l">
              <a:lnSpc>
                <a:spcPct val="84000"/>
              </a:lnSpc>
              <a:buNone/>
            </a:pPr>
            <a:r>
              <a:rPr lang="en-US" sz="2300" b="1" kern="0" spc="-1" dirty="0">
                <a:solidFill>
                  <a:srgbClr val="E6FBFF"/>
                </a:solidFill>
                <a:latin typeface="Space Grotesk Bold" pitchFamily="34" charset="0"/>
                <a:ea typeface="Space Grotesk Bold" pitchFamily="34" charset="-122"/>
                <a:cs typeface="Space Grotesk Bold" pitchFamily="34" charset="-120"/>
              </a:rPr>
              <a:t>Demo: ver para creer</a:t>
            </a:r>
            <a:endParaRPr lang="en-US" sz="2300" dirty="0"/>
          </a:p>
        </p:txBody>
      </p:sp>
      <p:sp>
        <p:nvSpPr>
          <p:cNvPr id="6" name="Text 2"/>
          <p:cNvSpPr/>
          <p:nvPr/>
        </p:nvSpPr>
        <p:spPr>
          <a:xfrm>
            <a:off x="500063" y="994767"/>
            <a:ext cx="6072188" cy="385763"/>
          </a:xfrm>
          <a:prstGeom prst="rect">
            <a:avLst/>
          </a:prstGeom>
          <a:noFill/>
          <a:ln/>
        </p:spPr>
        <p:txBody>
          <a:bodyPr wrap="square" lIns="0" tIns="0" rIns="0" bIns="0" rtlCol="0" anchor="t">
            <a:spAutoFit/>
          </a:bodyPr>
          <a:lstStyle/>
          <a:p>
            <a:pPr marL="0" indent="0" algn="l">
              <a:lnSpc>
                <a:spcPct val="108000"/>
              </a:lnSpc>
              <a:buNone/>
            </a:pPr>
            <a:r>
              <a:rPr lang="en-US" sz="1050" dirty="0">
                <a:solidFill>
                  <a:srgbClr val="B7C8D9"/>
                </a:solidFill>
                <a:latin typeface="Inter" pitchFamily="34" charset="0"/>
                <a:ea typeface="Inter" pitchFamily="34" charset="-122"/>
                <a:cs typeface="Inter" pitchFamily="34" charset="-120"/>
              </a:rPr>
              <a:t>Un recorrido de 2–3 minutos para mostrar cómo un agente pasa de la plataforma a una conversación verificable en Hologram.</a:t>
            </a:r>
            <a:endParaRPr lang="en-US" sz="1050" dirty="0"/>
          </a:p>
        </p:txBody>
      </p:sp>
      <p:sp>
        <p:nvSpPr>
          <p:cNvPr id="7" name="Shape 3"/>
          <p:cNvSpPr/>
          <p:nvPr/>
        </p:nvSpPr>
        <p:spPr>
          <a:xfrm>
            <a:off x="500063" y="1609130"/>
            <a:ext cx="4102996" cy="2643188"/>
          </a:xfrm>
          <a:prstGeom prst="rect">
            <a:avLst/>
          </a:prstGeom>
          <a:solidFill>
            <a:srgbClr val="07111F">
              <a:alpha val="2000"/>
            </a:srgbClr>
          </a:solidFill>
          <a:ln/>
        </p:spPr>
      </p:sp>
      <p:sp>
        <p:nvSpPr>
          <p:cNvPr id="8" name="Shape 4"/>
          <p:cNvSpPr/>
          <p:nvPr/>
        </p:nvSpPr>
        <p:spPr>
          <a:xfrm>
            <a:off x="500063" y="1609130"/>
            <a:ext cx="4102996" cy="14288"/>
          </a:xfrm>
          <a:prstGeom prst="rect">
            <a:avLst/>
          </a:prstGeom>
          <a:solidFill>
            <a:srgbClr val="61E4FF"/>
          </a:solidFill>
          <a:ln/>
        </p:spPr>
      </p:sp>
      <p:sp>
        <p:nvSpPr>
          <p:cNvPr id="9" name="Text 5"/>
          <p:cNvSpPr/>
          <p:nvPr/>
        </p:nvSpPr>
        <p:spPr>
          <a:xfrm>
            <a:off x="657225" y="1737717"/>
            <a:ext cx="3817246" cy="210741"/>
          </a:xfrm>
          <a:prstGeom prst="rect">
            <a:avLst/>
          </a:prstGeom>
          <a:noFill/>
          <a:ln/>
        </p:spPr>
        <p:txBody>
          <a:bodyPr wrap="square" lIns="0" tIns="0" rIns="0" bIns="0" rtlCol="0" anchor="t">
            <a:spAutoFit/>
          </a:bodyPr>
          <a:lstStyle/>
          <a:p>
            <a:pPr marL="0" indent="0" algn="l">
              <a:buNone/>
            </a:pPr>
            <a:r>
              <a:rPr lang="en-US" sz="1200" dirty="0">
                <a:solidFill>
                  <a:srgbClr val="00D4FF"/>
                </a:solidFill>
                <a:latin typeface="Space Grotesk Medium" pitchFamily="34" charset="0"/>
                <a:ea typeface="Space Grotesk Medium" pitchFamily="34" charset="-122"/>
                <a:cs typeface="Space Grotesk Medium" pitchFamily="34" charset="-120"/>
              </a:rPr>
              <a:t>Guion de demostración</a:t>
            </a:r>
            <a:endParaRPr lang="en-US" sz="1200" dirty="0"/>
          </a:p>
        </p:txBody>
      </p:sp>
      <p:sp>
        <p:nvSpPr>
          <p:cNvPr id="10" name="Shape 6"/>
          <p:cNvSpPr/>
          <p:nvPr/>
        </p:nvSpPr>
        <p:spPr>
          <a:xfrm>
            <a:off x="657225" y="2041327"/>
            <a:ext cx="3817246" cy="350044"/>
          </a:xfrm>
          <a:prstGeom prst="rect">
            <a:avLst/>
          </a:prstGeom>
          <a:solidFill>
            <a:srgbClr val="000000">
              <a:alpha val="0"/>
            </a:srgbClr>
          </a:solidFill>
          <a:ln/>
        </p:spPr>
      </p:sp>
      <p:sp>
        <p:nvSpPr>
          <p:cNvPr id="11" name="Shape 7"/>
          <p:cNvSpPr/>
          <p:nvPr/>
        </p:nvSpPr>
        <p:spPr>
          <a:xfrm>
            <a:off x="657225" y="2041327"/>
            <a:ext cx="3817246" cy="7144"/>
          </a:xfrm>
          <a:prstGeom prst="rect">
            <a:avLst/>
          </a:prstGeom>
          <a:solidFill>
            <a:srgbClr val="F5F7FA"/>
          </a:solidFill>
          <a:ln/>
        </p:spPr>
      </p:sp>
      <p:sp>
        <p:nvSpPr>
          <p:cNvPr id="12" name="Shape 8"/>
          <p:cNvSpPr/>
          <p:nvPr/>
        </p:nvSpPr>
        <p:spPr>
          <a:xfrm>
            <a:off x="657225" y="2094905"/>
            <a:ext cx="242888" cy="242888"/>
          </a:xfrm>
          <a:prstGeom prst="rect">
            <a:avLst/>
          </a:prstGeom>
          <a:solidFill>
            <a:srgbClr val="22E6A8"/>
          </a:solidFill>
          <a:ln/>
        </p:spPr>
      </p:sp>
      <p:sp>
        <p:nvSpPr>
          <p:cNvPr id="13" name="Text 9"/>
          <p:cNvSpPr/>
          <p:nvPr/>
        </p:nvSpPr>
        <p:spPr>
          <a:xfrm>
            <a:off x="657225" y="2094905"/>
            <a:ext cx="242888" cy="242888"/>
          </a:xfrm>
          <a:prstGeom prst="rect">
            <a:avLst/>
          </a:prstGeom>
          <a:noFill/>
          <a:ln/>
        </p:spPr>
        <p:txBody>
          <a:bodyPr wrap="none" lIns="0" tIns="0" rIns="0" bIns="0" rtlCol="0" anchor="ctr">
            <a:spAutoFit/>
          </a:bodyPr>
          <a:lstStyle/>
          <a:p>
            <a:pPr marL="0" indent="0" algn="ctr">
              <a:buNone/>
            </a:pPr>
            <a:r>
              <a:rPr lang="en-US" sz="950" dirty="0">
                <a:solidFill>
                  <a:srgbClr val="07111F"/>
                </a:solidFill>
                <a:latin typeface="Space Grotesk Medium" pitchFamily="34" charset="0"/>
                <a:ea typeface="Space Grotesk Medium" pitchFamily="34" charset="-122"/>
                <a:cs typeface="Space Grotesk Medium" pitchFamily="34" charset="-120"/>
              </a:rPr>
              <a:t>1</a:t>
            </a:r>
            <a:endParaRPr lang="en-US" sz="950" dirty="0"/>
          </a:p>
        </p:txBody>
      </p:sp>
      <p:sp>
        <p:nvSpPr>
          <p:cNvPr id="14" name="Text 10"/>
          <p:cNvSpPr/>
          <p:nvPr/>
        </p:nvSpPr>
        <p:spPr>
          <a:xfrm>
            <a:off x="1057275" y="2140446"/>
            <a:ext cx="3417196" cy="151805"/>
          </a:xfrm>
          <a:prstGeom prst="rect">
            <a:avLst/>
          </a:prstGeom>
          <a:noFill/>
          <a:ln/>
        </p:spPr>
        <p:txBody>
          <a:bodyPr wrap="none" lIns="0" tIns="0" rIns="0" bIns="0" rtlCol="0" anchor="t">
            <a:spAutoFit/>
          </a:bodyPr>
          <a:lstStyle/>
          <a:p>
            <a:pPr marL="0" indent="0" algn="l">
              <a:lnSpc>
                <a:spcPct val="100000"/>
              </a:lnSpc>
              <a:buNone/>
            </a:pPr>
            <a:r>
              <a:rPr lang="en-US" sz="850" b="1" dirty="0">
                <a:solidFill>
                  <a:srgbClr val="E6FBFF"/>
                </a:solidFill>
                <a:latin typeface="Inter Bold" pitchFamily="34" charset="0"/>
                <a:ea typeface="Inter Bold" pitchFamily="34" charset="-122"/>
                <a:cs typeface="Inter Bold" pitchFamily="34" charset="-120"/>
              </a:rPr>
              <a:t>Abrir la plataforma</a:t>
            </a:r>
            <a:r>
              <a:rPr lang="en-US" sz="900" dirty="0">
                <a:solidFill>
                  <a:srgbClr val="B7C8D9"/>
                </a:solidFill>
                <a:latin typeface="Inter" pitchFamily="34" charset="0"/>
                <a:ea typeface="Inter" pitchFamily="34" charset="-122"/>
                <a:cs typeface="Inter" pitchFamily="34" charset="-120"/>
              </a:rPr>
              <a:t> en producción.</a:t>
            </a:r>
            <a:endParaRPr lang="en-US" sz="850" dirty="0"/>
          </a:p>
        </p:txBody>
      </p:sp>
      <p:sp>
        <p:nvSpPr>
          <p:cNvPr id="15" name="Shape 11"/>
          <p:cNvSpPr/>
          <p:nvPr/>
        </p:nvSpPr>
        <p:spPr>
          <a:xfrm>
            <a:off x="657225" y="2391370"/>
            <a:ext cx="3817246" cy="350044"/>
          </a:xfrm>
          <a:prstGeom prst="rect">
            <a:avLst/>
          </a:prstGeom>
          <a:solidFill>
            <a:srgbClr val="000000">
              <a:alpha val="0"/>
            </a:srgbClr>
          </a:solidFill>
          <a:ln/>
        </p:spPr>
      </p:sp>
      <p:sp>
        <p:nvSpPr>
          <p:cNvPr id="16" name="Shape 12"/>
          <p:cNvSpPr/>
          <p:nvPr/>
        </p:nvSpPr>
        <p:spPr>
          <a:xfrm>
            <a:off x="657225" y="2391370"/>
            <a:ext cx="3817246" cy="7144"/>
          </a:xfrm>
          <a:prstGeom prst="rect">
            <a:avLst/>
          </a:prstGeom>
          <a:solidFill>
            <a:srgbClr val="F5F7FA"/>
          </a:solidFill>
          <a:ln/>
        </p:spPr>
      </p:sp>
      <p:sp>
        <p:nvSpPr>
          <p:cNvPr id="17" name="Shape 13"/>
          <p:cNvSpPr/>
          <p:nvPr/>
        </p:nvSpPr>
        <p:spPr>
          <a:xfrm>
            <a:off x="657225" y="2444948"/>
            <a:ext cx="242888" cy="242888"/>
          </a:xfrm>
          <a:prstGeom prst="rect">
            <a:avLst/>
          </a:prstGeom>
          <a:solidFill>
            <a:srgbClr val="22E6A8"/>
          </a:solidFill>
          <a:ln/>
        </p:spPr>
      </p:sp>
      <p:sp>
        <p:nvSpPr>
          <p:cNvPr id="18" name="Text 14"/>
          <p:cNvSpPr/>
          <p:nvPr/>
        </p:nvSpPr>
        <p:spPr>
          <a:xfrm>
            <a:off x="657225" y="2444948"/>
            <a:ext cx="242888" cy="242888"/>
          </a:xfrm>
          <a:prstGeom prst="rect">
            <a:avLst/>
          </a:prstGeom>
          <a:noFill/>
          <a:ln/>
        </p:spPr>
        <p:txBody>
          <a:bodyPr wrap="none" lIns="0" tIns="0" rIns="0" bIns="0" rtlCol="0" anchor="ctr">
            <a:spAutoFit/>
          </a:bodyPr>
          <a:lstStyle/>
          <a:p>
            <a:pPr marL="0" indent="0" algn="ctr">
              <a:buNone/>
            </a:pPr>
            <a:r>
              <a:rPr lang="en-US" sz="950" dirty="0">
                <a:solidFill>
                  <a:srgbClr val="07111F"/>
                </a:solidFill>
                <a:latin typeface="Space Grotesk Medium" pitchFamily="34" charset="0"/>
                <a:ea typeface="Space Grotesk Medium" pitchFamily="34" charset="-122"/>
                <a:cs typeface="Space Grotesk Medium" pitchFamily="34" charset="-120"/>
              </a:rPr>
              <a:t>2</a:t>
            </a:r>
            <a:endParaRPr lang="en-US" sz="950" dirty="0"/>
          </a:p>
        </p:txBody>
      </p:sp>
      <p:sp>
        <p:nvSpPr>
          <p:cNvPr id="19" name="Text 15"/>
          <p:cNvSpPr/>
          <p:nvPr/>
        </p:nvSpPr>
        <p:spPr>
          <a:xfrm>
            <a:off x="1057275" y="2490490"/>
            <a:ext cx="3417196" cy="151805"/>
          </a:xfrm>
          <a:prstGeom prst="rect">
            <a:avLst/>
          </a:prstGeom>
          <a:noFill/>
          <a:ln/>
        </p:spPr>
        <p:txBody>
          <a:bodyPr wrap="none" lIns="0" tIns="0" rIns="0" bIns="0" rtlCol="0" anchor="t">
            <a:spAutoFit/>
          </a:bodyPr>
          <a:lstStyle/>
          <a:p>
            <a:pPr marL="0" indent="0" algn="l">
              <a:lnSpc>
                <a:spcPct val="100000"/>
              </a:lnSpc>
              <a:buNone/>
            </a:pPr>
            <a:r>
              <a:rPr lang="en-US" sz="850" b="1" dirty="0">
                <a:solidFill>
                  <a:srgbClr val="E6FBFF"/>
                </a:solidFill>
                <a:latin typeface="Inter Bold" pitchFamily="34" charset="0"/>
                <a:ea typeface="Inter Bold" pitchFamily="34" charset="-122"/>
                <a:cs typeface="Inter Bold" pitchFamily="34" charset="-120"/>
              </a:rPr>
              <a:t>Mostrar el dashboard</a:t>
            </a:r>
            <a:r>
              <a:rPr lang="en-US" sz="900" dirty="0">
                <a:solidFill>
                  <a:srgbClr val="B7C8D9"/>
                </a:solidFill>
                <a:latin typeface="Inter" pitchFamily="34" charset="0"/>
                <a:ea typeface="Inter" pitchFamily="34" charset="-122"/>
                <a:cs typeface="Inter" pitchFamily="34" charset="-120"/>
              </a:rPr>
              <a:t> y la lista de agentes creados.</a:t>
            </a:r>
            <a:endParaRPr lang="en-US" sz="850" dirty="0"/>
          </a:p>
        </p:txBody>
      </p:sp>
      <p:sp>
        <p:nvSpPr>
          <p:cNvPr id="20" name="Shape 16"/>
          <p:cNvSpPr/>
          <p:nvPr/>
        </p:nvSpPr>
        <p:spPr>
          <a:xfrm>
            <a:off x="657225" y="2741414"/>
            <a:ext cx="3817246" cy="350044"/>
          </a:xfrm>
          <a:prstGeom prst="rect">
            <a:avLst/>
          </a:prstGeom>
          <a:solidFill>
            <a:srgbClr val="000000">
              <a:alpha val="0"/>
            </a:srgbClr>
          </a:solidFill>
          <a:ln/>
        </p:spPr>
      </p:sp>
      <p:sp>
        <p:nvSpPr>
          <p:cNvPr id="21" name="Shape 17"/>
          <p:cNvSpPr/>
          <p:nvPr/>
        </p:nvSpPr>
        <p:spPr>
          <a:xfrm>
            <a:off x="657225" y="2741414"/>
            <a:ext cx="3817246" cy="7144"/>
          </a:xfrm>
          <a:prstGeom prst="rect">
            <a:avLst/>
          </a:prstGeom>
          <a:solidFill>
            <a:srgbClr val="F5F7FA"/>
          </a:solidFill>
          <a:ln/>
        </p:spPr>
      </p:sp>
      <p:sp>
        <p:nvSpPr>
          <p:cNvPr id="22" name="Shape 18"/>
          <p:cNvSpPr/>
          <p:nvPr/>
        </p:nvSpPr>
        <p:spPr>
          <a:xfrm>
            <a:off x="657225" y="2794992"/>
            <a:ext cx="242888" cy="242888"/>
          </a:xfrm>
          <a:prstGeom prst="rect">
            <a:avLst/>
          </a:prstGeom>
          <a:solidFill>
            <a:srgbClr val="22E6A8"/>
          </a:solidFill>
          <a:ln/>
        </p:spPr>
      </p:sp>
      <p:sp>
        <p:nvSpPr>
          <p:cNvPr id="23" name="Text 19"/>
          <p:cNvSpPr/>
          <p:nvPr/>
        </p:nvSpPr>
        <p:spPr>
          <a:xfrm>
            <a:off x="657225" y="2794992"/>
            <a:ext cx="242888" cy="242888"/>
          </a:xfrm>
          <a:prstGeom prst="rect">
            <a:avLst/>
          </a:prstGeom>
          <a:noFill/>
          <a:ln/>
        </p:spPr>
        <p:txBody>
          <a:bodyPr wrap="none" lIns="0" tIns="0" rIns="0" bIns="0" rtlCol="0" anchor="ctr">
            <a:spAutoFit/>
          </a:bodyPr>
          <a:lstStyle/>
          <a:p>
            <a:pPr marL="0" indent="0" algn="ctr">
              <a:buNone/>
            </a:pPr>
            <a:r>
              <a:rPr lang="en-US" sz="950" dirty="0">
                <a:solidFill>
                  <a:srgbClr val="07111F"/>
                </a:solidFill>
                <a:latin typeface="Space Grotesk Medium" pitchFamily="34" charset="0"/>
                <a:ea typeface="Space Grotesk Medium" pitchFamily="34" charset="-122"/>
                <a:cs typeface="Space Grotesk Medium" pitchFamily="34" charset="-120"/>
              </a:rPr>
              <a:t>3</a:t>
            </a:r>
            <a:endParaRPr lang="en-US" sz="950" dirty="0"/>
          </a:p>
        </p:txBody>
      </p:sp>
      <p:sp>
        <p:nvSpPr>
          <p:cNvPr id="24" name="Text 20"/>
          <p:cNvSpPr/>
          <p:nvPr/>
        </p:nvSpPr>
        <p:spPr>
          <a:xfrm>
            <a:off x="1057275" y="2840534"/>
            <a:ext cx="3417196" cy="151805"/>
          </a:xfrm>
          <a:prstGeom prst="rect">
            <a:avLst/>
          </a:prstGeom>
          <a:noFill/>
          <a:ln/>
        </p:spPr>
        <p:txBody>
          <a:bodyPr wrap="none" lIns="0" tIns="0" rIns="0" bIns="0" rtlCol="0" anchor="t">
            <a:spAutoFit/>
          </a:bodyPr>
          <a:lstStyle/>
          <a:p>
            <a:pPr marL="0" indent="0" algn="l">
              <a:lnSpc>
                <a:spcPct val="100000"/>
              </a:lnSpc>
              <a:buNone/>
            </a:pPr>
            <a:r>
              <a:rPr lang="en-US" sz="850" b="1" dirty="0">
                <a:solidFill>
                  <a:srgbClr val="E6FBFF"/>
                </a:solidFill>
                <a:latin typeface="Inter Bold" pitchFamily="34" charset="0"/>
                <a:ea typeface="Inter Bold" pitchFamily="34" charset="-122"/>
                <a:cs typeface="Inter Bold" pitchFamily="34" charset="-120"/>
              </a:rPr>
              <a:t>Abrir el agente Alice</a:t>
            </a:r>
            <a:r>
              <a:rPr lang="en-US" sz="900" dirty="0">
                <a:solidFill>
                  <a:srgbClr val="B7C8D9"/>
                </a:solidFill>
                <a:latin typeface="Inter" pitchFamily="34" charset="0"/>
                <a:ea typeface="Inter" pitchFamily="34" charset="-122"/>
                <a:cs typeface="Inter" pitchFamily="34" charset="-120"/>
              </a:rPr>
              <a:t>: estado publicado, URL y QR.</a:t>
            </a:r>
            <a:endParaRPr lang="en-US" sz="850" dirty="0"/>
          </a:p>
        </p:txBody>
      </p:sp>
      <p:sp>
        <p:nvSpPr>
          <p:cNvPr id="25" name="Shape 21"/>
          <p:cNvSpPr/>
          <p:nvPr/>
        </p:nvSpPr>
        <p:spPr>
          <a:xfrm>
            <a:off x="657225" y="3091458"/>
            <a:ext cx="3817246" cy="350044"/>
          </a:xfrm>
          <a:prstGeom prst="rect">
            <a:avLst/>
          </a:prstGeom>
          <a:solidFill>
            <a:srgbClr val="000000">
              <a:alpha val="0"/>
            </a:srgbClr>
          </a:solidFill>
          <a:ln/>
        </p:spPr>
      </p:sp>
      <p:sp>
        <p:nvSpPr>
          <p:cNvPr id="26" name="Shape 22"/>
          <p:cNvSpPr/>
          <p:nvPr/>
        </p:nvSpPr>
        <p:spPr>
          <a:xfrm>
            <a:off x="657225" y="3091458"/>
            <a:ext cx="3817246" cy="7144"/>
          </a:xfrm>
          <a:prstGeom prst="rect">
            <a:avLst/>
          </a:prstGeom>
          <a:solidFill>
            <a:srgbClr val="F5F7FA"/>
          </a:solidFill>
          <a:ln/>
        </p:spPr>
      </p:sp>
      <p:sp>
        <p:nvSpPr>
          <p:cNvPr id="27" name="Shape 23"/>
          <p:cNvSpPr/>
          <p:nvPr/>
        </p:nvSpPr>
        <p:spPr>
          <a:xfrm>
            <a:off x="657225" y="3145036"/>
            <a:ext cx="242888" cy="242888"/>
          </a:xfrm>
          <a:prstGeom prst="rect">
            <a:avLst/>
          </a:prstGeom>
          <a:solidFill>
            <a:srgbClr val="22E6A8"/>
          </a:solidFill>
          <a:ln/>
        </p:spPr>
      </p:sp>
      <p:sp>
        <p:nvSpPr>
          <p:cNvPr id="28" name="Text 24"/>
          <p:cNvSpPr/>
          <p:nvPr/>
        </p:nvSpPr>
        <p:spPr>
          <a:xfrm>
            <a:off x="657225" y="3145036"/>
            <a:ext cx="242888" cy="242888"/>
          </a:xfrm>
          <a:prstGeom prst="rect">
            <a:avLst/>
          </a:prstGeom>
          <a:noFill/>
          <a:ln/>
        </p:spPr>
        <p:txBody>
          <a:bodyPr wrap="none" lIns="0" tIns="0" rIns="0" bIns="0" rtlCol="0" anchor="ctr">
            <a:spAutoFit/>
          </a:bodyPr>
          <a:lstStyle/>
          <a:p>
            <a:pPr marL="0" indent="0" algn="ctr">
              <a:buNone/>
            </a:pPr>
            <a:r>
              <a:rPr lang="en-US" sz="950" dirty="0">
                <a:solidFill>
                  <a:srgbClr val="07111F"/>
                </a:solidFill>
                <a:latin typeface="Space Grotesk Medium" pitchFamily="34" charset="0"/>
                <a:ea typeface="Space Grotesk Medium" pitchFamily="34" charset="-122"/>
                <a:cs typeface="Space Grotesk Medium" pitchFamily="34" charset="-120"/>
              </a:rPr>
              <a:t>4</a:t>
            </a:r>
            <a:endParaRPr lang="en-US" sz="950" dirty="0"/>
          </a:p>
        </p:txBody>
      </p:sp>
      <p:sp>
        <p:nvSpPr>
          <p:cNvPr id="29" name="Text 25"/>
          <p:cNvSpPr/>
          <p:nvPr/>
        </p:nvSpPr>
        <p:spPr>
          <a:xfrm>
            <a:off x="1057275" y="3190577"/>
            <a:ext cx="3417196" cy="151805"/>
          </a:xfrm>
          <a:prstGeom prst="rect">
            <a:avLst/>
          </a:prstGeom>
          <a:noFill/>
          <a:ln/>
        </p:spPr>
        <p:txBody>
          <a:bodyPr wrap="none" lIns="0" tIns="0" rIns="0" bIns="0" rtlCol="0" anchor="t">
            <a:spAutoFit/>
          </a:bodyPr>
          <a:lstStyle/>
          <a:p>
            <a:pPr marL="0" indent="0" algn="l">
              <a:lnSpc>
                <a:spcPct val="100000"/>
              </a:lnSpc>
              <a:buNone/>
            </a:pPr>
            <a:r>
              <a:rPr lang="en-US" sz="850" b="1" dirty="0">
                <a:solidFill>
                  <a:srgbClr val="E6FBFF"/>
                </a:solidFill>
                <a:latin typeface="Inter Bold" pitchFamily="34" charset="0"/>
                <a:ea typeface="Inter Bold" pitchFamily="34" charset="-122"/>
                <a:cs typeface="Inter Bold" pitchFamily="34" charset="-120"/>
              </a:rPr>
              <a:t>Escanear el QR</a:t>
            </a:r>
            <a:r>
              <a:rPr lang="en-US" sz="900" dirty="0">
                <a:solidFill>
                  <a:srgbClr val="B7C8D9"/>
                </a:solidFill>
                <a:latin typeface="Inter" pitchFamily="34" charset="0"/>
                <a:ea typeface="Inter" pitchFamily="34" charset="-122"/>
                <a:cs typeface="Inter" pitchFamily="34" charset="-120"/>
              </a:rPr>
              <a:t> con Hologram desde el teléfono.</a:t>
            </a:r>
            <a:endParaRPr lang="en-US" sz="850" dirty="0"/>
          </a:p>
        </p:txBody>
      </p:sp>
      <p:sp>
        <p:nvSpPr>
          <p:cNvPr id="30" name="Shape 26"/>
          <p:cNvSpPr/>
          <p:nvPr/>
        </p:nvSpPr>
        <p:spPr>
          <a:xfrm>
            <a:off x="657225" y="3441502"/>
            <a:ext cx="3817246" cy="350044"/>
          </a:xfrm>
          <a:prstGeom prst="rect">
            <a:avLst/>
          </a:prstGeom>
          <a:solidFill>
            <a:srgbClr val="000000">
              <a:alpha val="0"/>
            </a:srgbClr>
          </a:solidFill>
          <a:ln/>
        </p:spPr>
      </p:sp>
      <p:sp>
        <p:nvSpPr>
          <p:cNvPr id="31" name="Shape 27"/>
          <p:cNvSpPr/>
          <p:nvPr/>
        </p:nvSpPr>
        <p:spPr>
          <a:xfrm>
            <a:off x="657225" y="3441502"/>
            <a:ext cx="3817246" cy="7144"/>
          </a:xfrm>
          <a:prstGeom prst="rect">
            <a:avLst/>
          </a:prstGeom>
          <a:solidFill>
            <a:srgbClr val="F5F7FA"/>
          </a:solidFill>
          <a:ln/>
        </p:spPr>
      </p:sp>
      <p:sp>
        <p:nvSpPr>
          <p:cNvPr id="32" name="Shape 28"/>
          <p:cNvSpPr/>
          <p:nvPr/>
        </p:nvSpPr>
        <p:spPr>
          <a:xfrm>
            <a:off x="657225" y="3495080"/>
            <a:ext cx="242888" cy="242888"/>
          </a:xfrm>
          <a:prstGeom prst="rect">
            <a:avLst/>
          </a:prstGeom>
          <a:solidFill>
            <a:srgbClr val="22E6A8"/>
          </a:solidFill>
          <a:ln/>
        </p:spPr>
      </p:sp>
      <p:sp>
        <p:nvSpPr>
          <p:cNvPr id="33" name="Text 29"/>
          <p:cNvSpPr/>
          <p:nvPr/>
        </p:nvSpPr>
        <p:spPr>
          <a:xfrm>
            <a:off x="657225" y="3495080"/>
            <a:ext cx="242888" cy="242888"/>
          </a:xfrm>
          <a:prstGeom prst="rect">
            <a:avLst/>
          </a:prstGeom>
          <a:noFill/>
          <a:ln/>
        </p:spPr>
        <p:txBody>
          <a:bodyPr wrap="none" lIns="0" tIns="0" rIns="0" bIns="0" rtlCol="0" anchor="ctr">
            <a:spAutoFit/>
          </a:bodyPr>
          <a:lstStyle/>
          <a:p>
            <a:pPr marL="0" indent="0" algn="ctr">
              <a:buNone/>
            </a:pPr>
            <a:r>
              <a:rPr lang="en-US" sz="950" dirty="0">
                <a:solidFill>
                  <a:srgbClr val="07111F"/>
                </a:solidFill>
                <a:latin typeface="Space Grotesk Medium" pitchFamily="34" charset="0"/>
                <a:ea typeface="Space Grotesk Medium" pitchFamily="34" charset="-122"/>
                <a:cs typeface="Space Grotesk Medium" pitchFamily="34" charset="-120"/>
              </a:rPr>
              <a:t>5</a:t>
            </a:r>
            <a:endParaRPr lang="en-US" sz="950" dirty="0"/>
          </a:p>
        </p:txBody>
      </p:sp>
      <p:sp>
        <p:nvSpPr>
          <p:cNvPr id="34" name="Text 30"/>
          <p:cNvSpPr/>
          <p:nvPr/>
        </p:nvSpPr>
        <p:spPr>
          <a:xfrm>
            <a:off x="1057275" y="3540621"/>
            <a:ext cx="3417196" cy="151805"/>
          </a:xfrm>
          <a:prstGeom prst="rect">
            <a:avLst/>
          </a:prstGeom>
          <a:noFill/>
          <a:ln/>
        </p:spPr>
        <p:txBody>
          <a:bodyPr wrap="none" lIns="0" tIns="0" rIns="0" bIns="0" rtlCol="0" anchor="t">
            <a:spAutoFit/>
          </a:bodyPr>
          <a:lstStyle/>
          <a:p>
            <a:pPr marL="0" indent="0" algn="l">
              <a:lnSpc>
                <a:spcPct val="100000"/>
              </a:lnSpc>
              <a:buNone/>
            </a:pPr>
            <a:r>
              <a:rPr lang="en-US" sz="850" b="1" dirty="0">
                <a:solidFill>
                  <a:srgbClr val="E6FBFF"/>
                </a:solidFill>
                <a:latin typeface="Inter Bold" pitchFamily="34" charset="0"/>
                <a:ea typeface="Inter Bold" pitchFamily="34" charset="-122"/>
                <a:cs typeface="Inter Bold" pitchFamily="34" charset="-120"/>
              </a:rPr>
              <a:t>Chatear en vivo</a:t>
            </a:r>
            <a:r>
              <a:rPr lang="en-US" sz="900" dirty="0">
                <a:solidFill>
                  <a:srgbClr val="B7C8D9"/>
                </a:solidFill>
                <a:latin typeface="Inter" pitchFamily="34" charset="0"/>
                <a:ea typeface="Inter" pitchFamily="34" charset="-122"/>
                <a:cs typeface="Inter" pitchFamily="34" charset="-120"/>
              </a:rPr>
              <a:t> preguntando por clima o Wikipedia.</a:t>
            </a:r>
            <a:endParaRPr lang="en-US" sz="850" dirty="0"/>
          </a:p>
        </p:txBody>
      </p:sp>
      <p:sp>
        <p:nvSpPr>
          <p:cNvPr id="35" name="Shape 31"/>
          <p:cNvSpPr/>
          <p:nvPr/>
        </p:nvSpPr>
        <p:spPr>
          <a:xfrm>
            <a:off x="657225" y="3791545"/>
            <a:ext cx="3817246" cy="350044"/>
          </a:xfrm>
          <a:prstGeom prst="rect">
            <a:avLst/>
          </a:prstGeom>
          <a:solidFill>
            <a:srgbClr val="000000">
              <a:alpha val="0"/>
            </a:srgbClr>
          </a:solidFill>
          <a:ln/>
        </p:spPr>
      </p:sp>
      <p:sp>
        <p:nvSpPr>
          <p:cNvPr id="36" name="Shape 32"/>
          <p:cNvSpPr/>
          <p:nvPr/>
        </p:nvSpPr>
        <p:spPr>
          <a:xfrm>
            <a:off x="657225" y="3791545"/>
            <a:ext cx="3817246" cy="7144"/>
          </a:xfrm>
          <a:prstGeom prst="rect">
            <a:avLst/>
          </a:prstGeom>
          <a:solidFill>
            <a:srgbClr val="F5F7FA"/>
          </a:solidFill>
          <a:ln/>
        </p:spPr>
      </p:sp>
      <p:sp>
        <p:nvSpPr>
          <p:cNvPr id="37" name="Shape 33"/>
          <p:cNvSpPr/>
          <p:nvPr/>
        </p:nvSpPr>
        <p:spPr>
          <a:xfrm>
            <a:off x="657225" y="3845123"/>
            <a:ext cx="242888" cy="242888"/>
          </a:xfrm>
          <a:prstGeom prst="rect">
            <a:avLst/>
          </a:prstGeom>
          <a:solidFill>
            <a:srgbClr val="22E6A8"/>
          </a:solidFill>
          <a:ln/>
        </p:spPr>
      </p:sp>
      <p:sp>
        <p:nvSpPr>
          <p:cNvPr id="38" name="Text 34"/>
          <p:cNvSpPr/>
          <p:nvPr/>
        </p:nvSpPr>
        <p:spPr>
          <a:xfrm>
            <a:off x="657225" y="3845123"/>
            <a:ext cx="242888" cy="242888"/>
          </a:xfrm>
          <a:prstGeom prst="rect">
            <a:avLst/>
          </a:prstGeom>
          <a:noFill/>
          <a:ln/>
        </p:spPr>
        <p:txBody>
          <a:bodyPr wrap="none" lIns="0" tIns="0" rIns="0" bIns="0" rtlCol="0" anchor="ctr">
            <a:spAutoFit/>
          </a:bodyPr>
          <a:lstStyle/>
          <a:p>
            <a:pPr marL="0" indent="0" algn="ctr">
              <a:buNone/>
            </a:pPr>
            <a:r>
              <a:rPr lang="en-US" sz="950" dirty="0">
                <a:solidFill>
                  <a:srgbClr val="07111F"/>
                </a:solidFill>
                <a:latin typeface="Space Grotesk Medium" pitchFamily="34" charset="0"/>
                <a:ea typeface="Space Grotesk Medium" pitchFamily="34" charset="-122"/>
                <a:cs typeface="Space Grotesk Medium" pitchFamily="34" charset="-120"/>
              </a:rPr>
              <a:t>6</a:t>
            </a:r>
            <a:endParaRPr lang="en-US" sz="950" dirty="0"/>
          </a:p>
        </p:txBody>
      </p:sp>
      <p:sp>
        <p:nvSpPr>
          <p:cNvPr id="39" name="Text 35"/>
          <p:cNvSpPr/>
          <p:nvPr/>
        </p:nvSpPr>
        <p:spPr>
          <a:xfrm>
            <a:off x="1057275" y="3890665"/>
            <a:ext cx="3417196" cy="151805"/>
          </a:xfrm>
          <a:prstGeom prst="rect">
            <a:avLst/>
          </a:prstGeom>
          <a:noFill/>
          <a:ln/>
        </p:spPr>
        <p:txBody>
          <a:bodyPr wrap="none" lIns="0" tIns="0" rIns="0" bIns="0" rtlCol="0" anchor="t">
            <a:spAutoFit/>
          </a:bodyPr>
          <a:lstStyle/>
          <a:p>
            <a:pPr marL="0" indent="0" algn="l">
              <a:lnSpc>
                <a:spcPct val="100000"/>
              </a:lnSpc>
              <a:buNone/>
            </a:pPr>
            <a:r>
              <a:rPr lang="en-US" sz="850" b="1" dirty="0">
                <a:solidFill>
                  <a:srgbClr val="E6FBFF"/>
                </a:solidFill>
                <a:latin typeface="Inter Bold" pitchFamily="34" charset="0"/>
                <a:ea typeface="Inter Bold" pitchFamily="34" charset="-122"/>
                <a:cs typeface="Inter Bold" pitchFamily="34" charset="-120"/>
              </a:rPr>
              <a:t>Mostrar el badge</a:t>
            </a:r>
            <a:r>
              <a:rPr lang="en-US" sz="900" dirty="0">
                <a:solidFill>
                  <a:srgbClr val="B7C8D9"/>
                </a:solidFill>
                <a:latin typeface="Inter" pitchFamily="34" charset="0"/>
                <a:ea typeface="Inter" pitchFamily="34" charset="-122"/>
                <a:cs typeface="Inter" pitchFamily="34" charset="-120"/>
              </a:rPr>
              <a:t> de identidad verificable.</a:t>
            </a:r>
            <a:endParaRPr lang="en-US" sz="850" dirty="0"/>
          </a:p>
        </p:txBody>
      </p:sp>
      <p:sp>
        <p:nvSpPr>
          <p:cNvPr id="40" name="Shape 36"/>
          <p:cNvSpPr/>
          <p:nvPr/>
        </p:nvSpPr>
        <p:spPr>
          <a:xfrm>
            <a:off x="4931671" y="1609130"/>
            <a:ext cx="3712239" cy="2643188"/>
          </a:xfrm>
          <a:prstGeom prst="rect">
            <a:avLst/>
          </a:prstGeom>
          <a:solidFill>
            <a:srgbClr val="07111F">
              <a:alpha val="2000"/>
            </a:srgbClr>
          </a:solidFill>
          <a:ln/>
        </p:spPr>
      </p:sp>
      <p:sp>
        <p:nvSpPr>
          <p:cNvPr id="41" name="Shape 37"/>
          <p:cNvSpPr/>
          <p:nvPr/>
        </p:nvSpPr>
        <p:spPr>
          <a:xfrm>
            <a:off x="4931671" y="1609130"/>
            <a:ext cx="3712239" cy="14288"/>
          </a:xfrm>
          <a:prstGeom prst="rect">
            <a:avLst/>
          </a:prstGeom>
          <a:solidFill>
            <a:srgbClr val="76F0C9"/>
          </a:solidFill>
          <a:ln/>
        </p:spPr>
      </p:sp>
      <p:sp>
        <p:nvSpPr>
          <p:cNvPr id="42" name="Text 38"/>
          <p:cNvSpPr/>
          <p:nvPr/>
        </p:nvSpPr>
        <p:spPr>
          <a:xfrm>
            <a:off x="5103121" y="1766292"/>
            <a:ext cx="3369339" cy="210741"/>
          </a:xfrm>
          <a:prstGeom prst="rect">
            <a:avLst/>
          </a:prstGeom>
          <a:noFill/>
          <a:ln/>
        </p:spPr>
        <p:txBody>
          <a:bodyPr wrap="square" lIns="0" tIns="0" rIns="0" bIns="0" rtlCol="0" anchor="t">
            <a:spAutoFit/>
          </a:bodyPr>
          <a:lstStyle/>
          <a:p>
            <a:pPr marL="0" indent="0" algn="l">
              <a:buNone/>
            </a:pPr>
            <a:r>
              <a:rPr lang="en-US" sz="1200" dirty="0">
                <a:solidFill>
                  <a:srgbClr val="22E6A8"/>
                </a:solidFill>
                <a:latin typeface="Space Grotesk Medium" pitchFamily="34" charset="0"/>
                <a:ea typeface="Space Grotesk Medium" pitchFamily="34" charset="-122"/>
                <a:cs typeface="Space Grotesk Medium" pitchFamily="34" charset="-120"/>
              </a:rPr>
              <a:t>Flujo que debe verse en pantalla</a:t>
            </a:r>
            <a:endParaRPr lang="en-US" sz="1200" dirty="0"/>
          </a:p>
        </p:txBody>
      </p:sp>
      <p:sp>
        <p:nvSpPr>
          <p:cNvPr id="43" name="Shape 39"/>
          <p:cNvSpPr/>
          <p:nvPr/>
        </p:nvSpPr>
        <p:spPr>
          <a:xfrm>
            <a:off x="5252498" y="2177058"/>
            <a:ext cx="1214438" cy="600075"/>
          </a:xfrm>
          <a:prstGeom prst="rect">
            <a:avLst/>
          </a:prstGeom>
          <a:solidFill>
            <a:srgbClr val="00D4FF">
              <a:alpha val="6000"/>
            </a:srgbClr>
          </a:solidFill>
          <a:ln/>
        </p:spPr>
      </p:sp>
      <p:sp>
        <p:nvSpPr>
          <p:cNvPr id="44" name="Shape 40"/>
          <p:cNvSpPr/>
          <p:nvPr/>
        </p:nvSpPr>
        <p:spPr>
          <a:xfrm>
            <a:off x="5252498" y="2177058"/>
            <a:ext cx="1214438" cy="7144"/>
          </a:xfrm>
          <a:prstGeom prst="rect">
            <a:avLst/>
          </a:prstGeom>
          <a:solidFill>
            <a:srgbClr val="40DFFF"/>
          </a:solidFill>
          <a:ln/>
        </p:spPr>
      </p:sp>
      <p:sp>
        <p:nvSpPr>
          <p:cNvPr id="45" name="Text 41"/>
          <p:cNvSpPr/>
          <p:nvPr/>
        </p:nvSpPr>
        <p:spPr>
          <a:xfrm>
            <a:off x="5519496" y="2321356"/>
            <a:ext cx="680442" cy="164306"/>
          </a:xfrm>
          <a:prstGeom prst="rect">
            <a:avLst/>
          </a:prstGeom>
          <a:noFill/>
          <a:ln/>
        </p:spPr>
        <p:txBody>
          <a:bodyPr wrap="none" lIns="0" tIns="0" rIns="0" bIns="0" rtlCol="0" anchor="t">
            <a:spAutoFit/>
          </a:bodyPr>
          <a:lstStyle/>
          <a:p>
            <a:pPr marL="0" indent="0" algn="l">
              <a:buNone/>
            </a:pPr>
            <a:r>
              <a:rPr lang="en-US" sz="950" dirty="0">
                <a:solidFill>
                  <a:srgbClr val="E6FBFF"/>
                </a:solidFill>
                <a:latin typeface="Space Grotesk Medium" pitchFamily="34" charset="0"/>
                <a:ea typeface="Space Grotesk Medium" pitchFamily="34" charset="-122"/>
                <a:cs typeface="Space Grotesk Medium" pitchFamily="34" charset="-120"/>
              </a:rPr>
              <a:t>Plataforma</a:t>
            </a:r>
            <a:endParaRPr lang="en-US" sz="950" dirty="0"/>
          </a:p>
        </p:txBody>
      </p:sp>
      <p:sp>
        <p:nvSpPr>
          <p:cNvPr id="46" name="Text 42"/>
          <p:cNvSpPr/>
          <p:nvPr/>
        </p:nvSpPr>
        <p:spPr>
          <a:xfrm>
            <a:off x="5290003" y="2521381"/>
            <a:ext cx="1139428" cy="111426"/>
          </a:xfrm>
          <a:prstGeom prst="rect">
            <a:avLst/>
          </a:prstGeom>
          <a:noFill/>
          <a:ln/>
        </p:spPr>
        <p:txBody>
          <a:bodyPr wrap="none" lIns="0" tIns="0" rIns="0" bIns="0" rtlCol="0" anchor="t">
            <a:spAutoFit/>
          </a:bodyPr>
          <a:lstStyle/>
          <a:p>
            <a:pPr marL="0" indent="0" algn="ctr">
              <a:lnSpc>
                <a:spcPct val="96000"/>
              </a:lnSpc>
              <a:buNone/>
            </a:pPr>
            <a:r>
              <a:rPr lang="en-US" sz="650" dirty="0">
                <a:solidFill>
                  <a:srgbClr val="B7C8D9"/>
                </a:solidFill>
                <a:latin typeface="Inter" pitchFamily="34" charset="0"/>
                <a:ea typeface="Inter" pitchFamily="34" charset="-122"/>
                <a:cs typeface="Inter" pitchFamily="34" charset="-120"/>
              </a:rPr>
              <a:t>Dashboard + agente Alice</a:t>
            </a:r>
            <a:endParaRPr lang="en-US" sz="650" dirty="0"/>
          </a:p>
        </p:txBody>
      </p:sp>
      <p:sp>
        <p:nvSpPr>
          <p:cNvPr id="47" name="Text 43"/>
          <p:cNvSpPr/>
          <p:nvPr/>
        </p:nvSpPr>
        <p:spPr>
          <a:xfrm>
            <a:off x="6666347" y="2321719"/>
            <a:ext cx="242888" cy="310753"/>
          </a:xfrm>
          <a:prstGeom prst="rect">
            <a:avLst/>
          </a:prstGeom>
          <a:noFill/>
          <a:ln/>
        </p:spPr>
        <p:txBody>
          <a:bodyPr wrap="none" lIns="0" tIns="0" rIns="0" bIns="0" rtlCol="0" anchor="t">
            <a:spAutoFit/>
          </a:bodyPr>
          <a:lstStyle/>
          <a:p>
            <a:pPr marL="0" indent="0" algn="l">
              <a:buNone/>
            </a:pPr>
            <a:r>
              <a:rPr lang="en-US" sz="1800" dirty="0">
                <a:solidFill>
                  <a:srgbClr val="00D4FF"/>
                </a:solidFill>
                <a:latin typeface="Space Grotesk Medium" pitchFamily="34" charset="0"/>
                <a:ea typeface="Space Grotesk Medium" pitchFamily="34" charset="-122"/>
                <a:cs typeface="Space Grotesk Medium" pitchFamily="34" charset="-120"/>
              </a:rPr>
              <a:t>→</a:t>
            </a:r>
            <a:endParaRPr lang="en-US" sz="1800" dirty="0"/>
          </a:p>
        </p:txBody>
      </p:sp>
      <p:sp>
        <p:nvSpPr>
          <p:cNvPr id="48" name="Shape 44"/>
          <p:cNvSpPr/>
          <p:nvPr/>
        </p:nvSpPr>
        <p:spPr>
          <a:xfrm>
            <a:off x="7108617" y="2177058"/>
            <a:ext cx="1214438" cy="600075"/>
          </a:xfrm>
          <a:prstGeom prst="rect">
            <a:avLst/>
          </a:prstGeom>
          <a:solidFill>
            <a:srgbClr val="22E6A8">
              <a:alpha val="6000"/>
            </a:srgbClr>
          </a:solidFill>
          <a:ln/>
        </p:spPr>
      </p:sp>
      <p:sp>
        <p:nvSpPr>
          <p:cNvPr id="49" name="Shape 45"/>
          <p:cNvSpPr/>
          <p:nvPr/>
        </p:nvSpPr>
        <p:spPr>
          <a:xfrm>
            <a:off x="7108617" y="2177058"/>
            <a:ext cx="1214438" cy="7144"/>
          </a:xfrm>
          <a:prstGeom prst="rect">
            <a:avLst/>
          </a:prstGeom>
          <a:solidFill>
            <a:srgbClr val="43EAB5"/>
          </a:solidFill>
          <a:ln/>
        </p:spPr>
      </p:sp>
      <p:sp>
        <p:nvSpPr>
          <p:cNvPr id="50" name="Text 46"/>
          <p:cNvSpPr/>
          <p:nvPr/>
        </p:nvSpPr>
        <p:spPr>
          <a:xfrm>
            <a:off x="7631897" y="2187773"/>
            <a:ext cx="167878" cy="164306"/>
          </a:xfrm>
          <a:prstGeom prst="rect">
            <a:avLst/>
          </a:prstGeom>
          <a:noFill/>
          <a:ln/>
        </p:spPr>
        <p:txBody>
          <a:bodyPr wrap="none" lIns="0" tIns="0" rIns="0" bIns="0" rtlCol="0" anchor="t">
            <a:spAutoFit/>
          </a:bodyPr>
          <a:lstStyle/>
          <a:p>
            <a:pPr marL="0" indent="0" algn="l">
              <a:buNone/>
            </a:pPr>
            <a:r>
              <a:rPr lang="en-US" sz="950" dirty="0">
                <a:solidFill>
                  <a:srgbClr val="E6FBFF"/>
                </a:solidFill>
                <a:latin typeface="Space Grotesk Medium" pitchFamily="34" charset="0"/>
                <a:ea typeface="Space Grotesk Medium" pitchFamily="34" charset="-122"/>
                <a:cs typeface="Space Grotesk Medium" pitchFamily="34" charset="-120"/>
              </a:rPr>
              <a:t>QR</a:t>
            </a:r>
            <a:endParaRPr lang="en-US" sz="950" dirty="0"/>
          </a:p>
        </p:txBody>
      </p:sp>
      <p:sp>
        <p:nvSpPr>
          <p:cNvPr id="51" name="Text 47"/>
          <p:cNvSpPr/>
          <p:nvPr/>
        </p:nvSpPr>
        <p:spPr>
          <a:xfrm>
            <a:off x="6712781" y="2814638"/>
            <a:ext cx="150019" cy="310753"/>
          </a:xfrm>
          <a:prstGeom prst="rect">
            <a:avLst/>
          </a:prstGeom>
          <a:noFill/>
          <a:ln/>
        </p:spPr>
        <p:txBody>
          <a:bodyPr wrap="none" lIns="0" tIns="0" rIns="0" bIns="0" rtlCol="0" anchor="t">
            <a:spAutoFit/>
          </a:bodyPr>
          <a:lstStyle/>
          <a:p>
            <a:pPr marL="0" indent="0" algn="l">
              <a:buNone/>
            </a:pPr>
            <a:r>
              <a:rPr lang="en-US" sz="1800" dirty="0">
                <a:solidFill>
                  <a:srgbClr val="22E6A8"/>
                </a:solidFill>
                <a:latin typeface="Space Grotesk Medium" pitchFamily="34" charset="0"/>
                <a:ea typeface="Space Grotesk Medium" pitchFamily="34" charset="-122"/>
                <a:cs typeface="Space Grotesk Medium" pitchFamily="34" charset="-120"/>
              </a:rPr>
              <a:t>↓</a:t>
            </a:r>
            <a:endParaRPr lang="en-US" sz="1800" dirty="0"/>
          </a:p>
        </p:txBody>
      </p:sp>
      <p:sp>
        <p:nvSpPr>
          <p:cNvPr id="52" name="Shape 48"/>
          <p:cNvSpPr/>
          <p:nvPr/>
        </p:nvSpPr>
        <p:spPr>
          <a:xfrm>
            <a:off x="7108617" y="3162895"/>
            <a:ext cx="1214438" cy="600075"/>
          </a:xfrm>
          <a:prstGeom prst="rect">
            <a:avLst/>
          </a:prstGeom>
          <a:solidFill>
            <a:srgbClr val="22E6A8">
              <a:alpha val="6000"/>
            </a:srgbClr>
          </a:solidFill>
          <a:ln/>
        </p:spPr>
      </p:sp>
      <p:sp>
        <p:nvSpPr>
          <p:cNvPr id="53" name="Shape 49"/>
          <p:cNvSpPr/>
          <p:nvPr/>
        </p:nvSpPr>
        <p:spPr>
          <a:xfrm>
            <a:off x="7108617" y="3162895"/>
            <a:ext cx="1214438" cy="7144"/>
          </a:xfrm>
          <a:prstGeom prst="rect">
            <a:avLst/>
          </a:prstGeom>
          <a:solidFill>
            <a:srgbClr val="43EAB5"/>
          </a:solidFill>
          <a:ln/>
        </p:spPr>
      </p:sp>
      <p:sp>
        <p:nvSpPr>
          <p:cNvPr id="54" name="Text 50"/>
          <p:cNvSpPr/>
          <p:nvPr/>
        </p:nvSpPr>
        <p:spPr>
          <a:xfrm>
            <a:off x="7421156" y="3307193"/>
            <a:ext cx="589359" cy="164306"/>
          </a:xfrm>
          <a:prstGeom prst="rect">
            <a:avLst/>
          </a:prstGeom>
          <a:noFill/>
          <a:ln/>
        </p:spPr>
        <p:txBody>
          <a:bodyPr wrap="none" lIns="0" tIns="0" rIns="0" bIns="0" rtlCol="0" anchor="t">
            <a:spAutoFit/>
          </a:bodyPr>
          <a:lstStyle/>
          <a:p>
            <a:pPr marL="0" indent="0" algn="l">
              <a:buNone/>
            </a:pPr>
            <a:r>
              <a:rPr lang="en-US" sz="950" dirty="0">
                <a:solidFill>
                  <a:srgbClr val="E6FBFF"/>
                </a:solidFill>
                <a:latin typeface="Space Grotesk Medium" pitchFamily="34" charset="0"/>
                <a:ea typeface="Space Grotesk Medium" pitchFamily="34" charset="-122"/>
                <a:cs typeface="Space Grotesk Medium" pitchFamily="34" charset="-120"/>
              </a:rPr>
              <a:t>Hologram</a:t>
            </a:r>
            <a:endParaRPr lang="en-US" sz="950" dirty="0"/>
          </a:p>
        </p:txBody>
      </p:sp>
      <p:sp>
        <p:nvSpPr>
          <p:cNvPr id="55" name="Text 51"/>
          <p:cNvSpPr/>
          <p:nvPr/>
        </p:nvSpPr>
        <p:spPr>
          <a:xfrm>
            <a:off x="7206844" y="3507218"/>
            <a:ext cx="1017984" cy="111426"/>
          </a:xfrm>
          <a:prstGeom prst="rect">
            <a:avLst/>
          </a:prstGeom>
          <a:noFill/>
          <a:ln/>
        </p:spPr>
        <p:txBody>
          <a:bodyPr wrap="none" lIns="0" tIns="0" rIns="0" bIns="0" rtlCol="0" anchor="t">
            <a:spAutoFit/>
          </a:bodyPr>
          <a:lstStyle/>
          <a:p>
            <a:pPr marL="0" indent="0" algn="ctr">
              <a:lnSpc>
                <a:spcPct val="96000"/>
              </a:lnSpc>
              <a:buNone/>
            </a:pPr>
            <a:r>
              <a:rPr lang="en-US" sz="650" dirty="0">
                <a:solidFill>
                  <a:srgbClr val="B7C8D9"/>
                </a:solidFill>
                <a:latin typeface="Inter" pitchFamily="34" charset="0"/>
                <a:ea typeface="Inter" pitchFamily="34" charset="-122"/>
                <a:cs typeface="Inter" pitchFamily="34" charset="-120"/>
              </a:rPr>
              <a:t>Chat cifrado DIDComm</a:t>
            </a:r>
            <a:endParaRPr lang="en-US" sz="650" dirty="0"/>
          </a:p>
        </p:txBody>
      </p:sp>
      <p:sp>
        <p:nvSpPr>
          <p:cNvPr id="56" name="Shape 52"/>
          <p:cNvSpPr/>
          <p:nvPr/>
        </p:nvSpPr>
        <p:spPr>
          <a:xfrm>
            <a:off x="5252498" y="3162895"/>
            <a:ext cx="1214438" cy="600075"/>
          </a:xfrm>
          <a:prstGeom prst="rect">
            <a:avLst/>
          </a:prstGeom>
          <a:solidFill>
            <a:srgbClr val="00D4FF">
              <a:alpha val="6000"/>
            </a:srgbClr>
          </a:solidFill>
          <a:ln/>
        </p:spPr>
      </p:sp>
      <p:sp>
        <p:nvSpPr>
          <p:cNvPr id="57" name="Shape 53"/>
          <p:cNvSpPr/>
          <p:nvPr/>
        </p:nvSpPr>
        <p:spPr>
          <a:xfrm>
            <a:off x="5252498" y="3162895"/>
            <a:ext cx="1214438" cy="7144"/>
          </a:xfrm>
          <a:prstGeom prst="rect">
            <a:avLst/>
          </a:prstGeom>
          <a:solidFill>
            <a:srgbClr val="40DFFF"/>
          </a:solidFill>
          <a:ln/>
        </p:spPr>
      </p:sp>
      <p:sp>
        <p:nvSpPr>
          <p:cNvPr id="58" name="Text 54"/>
          <p:cNvSpPr/>
          <p:nvPr/>
        </p:nvSpPr>
        <p:spPr>
          <a:xfrm>
            <a:off x="5544499" y="3307193"/>
            <a:ext cx="630436" cy="164306"/>
          </a:xfrm>
          <a:prstGeom prst="rect">
            <a:avLst/>
          </a:prstGeom>
          <a:noFill/>
          <a:ln/>
        </p:spPr>
        <p:txBody>
          <a:bodyPr wrap="none" lIns="0" tIns="0" rIns="0" bIns="0" rtlCol="0" anchor="t">
            <a:spAutoFit/>
          </a:bodyPr>
          <a:lstStyle/>
          <a:p>
            <a:pPr marL="0" indent="0" algn="l">
              <a:buNone/>
            </a:pPr>
            <a:r>
              <a:rPr lang="en-US" sz="950" dirty="0">
                <a:solidFill>
                  <a:srgbClr val="E6FBFF"/>
                </a:solidFill>
                <a:latin typeface="Space Grotesk Medium" pitchFamily="34" charset="0"/>
                <a:ea typeface="Space Grotesk Medium" pitchFamily="34" charset="-122"/>
                <a:cs typeface="Space Grotesk Medium" pitchFamily="34" charset="-120"/>
              </a:rPr>
              <a:t>Verificado</a:t>
            </a:r>
            <a:endParaRPr lang="en-US" sz="950" dirty="0"/>
          </a:p>
        </p:txBody>
      </p:sp>
      <p:sp>
        <p:nvSpPr>
          <p:cNvPr id="59" name="Text 55"/>
          <p:cNvSpPr/>
          <p:nvPr/>
        </p:nvSpPr>
        <p:spPr>
          <a:xfrm>
            <a:off x="5325721" y="3507218"/>
            <a:ext cx="1067991" cy="111426"/>
          </a:xfrm>
          <a:prstGeom prst="rect">
            <a:avLst/>
          </a:prstGeom>
          <a:noFill/>
          <a:ln/>
        </p:spPr>
        <p:txBody>
          <a:bodyPr wrap="none" lIns="0" tIns="0" rIns="0" bIns="0" rtlCol="0" anchor="t">
            <a:spAutoFit/>
          </a:bodyPr>
          <a:lstStyle/>
          <a:p>
            <a:pPr marL="0" indent="0" algn="ctr">
              <a:lnSpc>
                <a:spcPct val="96000"/>
              </a:lnSpc>
              <a:buNone/>
            </a:pPr>
            <a:r>
              <a:rPr lang="en-US" sz="650" dirty="0">
                <a:solidFill>
                  <a:srgbClr val="B7C8D9"/>
                </a:solidFill>
                <a:latin typeface="Inter" pitchFamily="34" charset="0"/>
                <a:ea typeface="Inter" pitchFamily="34" charset="-122"/>
                <a:cs typeface="Inter" pitchFamily="34" charset="-120"/>
              </a:rPr>
              <a:t>Credencial EAFIT visible</a:t>
            </a:r>
            <a:endParaRPr lang="en-US" sz="650" dirty="0"/>
          </a:p>
        </p:txBody>
      </p:sp>
      <p:sp>
        <p:nvSpPr>
          <p:cNvPr id="60" name="Text 56"/>
          <p:cNvSpPr/>
          <p:nvPr/>
        </p:nvSpPr>
        <p:spPr>
          <a:xfrm>
            <a:off x="500063" y="4705052"/>
            <a:ext cx="1300163" cy="201811"/>
          </a:xfrm>
          <a:prstGeom prst="rect">
            <a:avLst/>
          </a:prstGeom>
          <a:noFill/>
          <a:ln/>
        </p:spPr>
        <p:txBody>
          <a:bodyPr wrap="square" lIns="0" tIns="0" rIns="0" bIns="0" rtlCol="0" anchor="t">
            <a:spAutoFit/>
          </a:bodyPr>
          <a:lstStyle/>
          <a:p>
            <a:pPr marL="0" indent="0" algn="l">
              <a:buNone/>
            </a:pPr>
            <a:r>
              <a:rPr lang="en-US" sz="1150" dirty="0">
                <a:solidFill>
                  <a:srgbClr val="00D4FF"/>
                </a:solidFill>
                <a:latin typeface="Space Grotesk Medium" pitchFamily="34" charset="0"/>
                <a:ea typeface="Space Grotesk Medium" pitchFamily="34" charset="-122"/>
                <a:cs typeface="Space Grotesk Medium" pitchFamily="34" charset="-120"/>
              </a:rPr>
              <a:t>Mensaje clave</a:t>
            </a:r>
            <a:endParaRPr lang="en-US" sz="1150" dirty="0"/>
          </a:p>
        </p:txBody>
      </p:sp>
      <p:sp>
        <p:nvSpPr>
          <p:cNvPr id="61" name="Text 57"/>
          <p:cNvSpPr/>
          <p:nvPr/>
        </p:nvSpPr>
        <p:spPr>
          <a:xfrm>
            <a:off x="1971675" y="4622732"/>
            <a:ext cx="6672263" cy="366452"/>
          </a:xfrm>
          <a:prstGeom prst="rect">
            <a:avLst/>
          </a:prstGeom>
          <a:noFill/>
          <a:ln/>
        </p:spPr>
        <p:txBody>
          <a:bodyPr wrap="square" lIns="0" tIns="0" rIns="0" bIns="0" rtlCol="0" anchor="t">
            <a:spAutoFit/>
          </a:bodyPr>
          <a:lstStyle/>
          <a:p>
            <a:pPr marL="0" indent="0" algn="l">
              <a:lnSpc>
                <a:spcPct val="108000"/>
              </a:lnSpc>
              <a:buNone/>
            </a:pPr>
            <a:r>
              <a:rPr lang="en-US" sz="1000" dirty="0">
                <a:solidFill>
                  <a:srgbClr val="B7C8D9"/>
                </a:solidFill>
                <a:latin typeface="Inter" pitchFamily="34" charset="0"/>
                <a:ea typeface="Inter" pitchFamily="34" charset="-122"/>
                <a:cs typeface="Inter" pitchFamily="34" charset="-120"/>
              </a:rPr>
              <a:t>Todo lo que está detrás de la interfaz — </a:t>
            </a:r>
            <a:r>
              <a:rPr lang="en-US" sz="950" b="1" dirty="0">
                <a:solidFill>
                  <a:srgbClr val="E6FBFF"/>
                </a:solidFill>
                <a:latin typeface="Inter Bold" pitchFamily="34" charset="0"/>
                <a:ea typeface="Inter Bold" pitchFamily="34" charset="-122"/>
                <a:cs typeface="Inter Bold" pitchFamily="34" charset="-120"/>
              </a:rPr>
              <a:t>Kubernetes, Helm, DID, credenciales criptográficas y despliegue</a:t>
            </a:r>
            <a:r>
              <a:rPr lang="en-US" sz="1000" dirty="0">
                <a:solidFill>
                  <a:srgbClr val="B7C8D9"/>
                </a:solidFill>
                <a:latin typeface="Inter" pitchFamily="34" charset="0"/>
                <a:ea typeface="Inter" pitchFamily="34" charset="-122"/>
                <a:cs typeface="Inter" pitchFamily="34" charset="-120"/>
              </a:rPr>
              <a:t> — ocurre automáticamente cuando alguien hace clic en “Publicar”.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00063" y="342900"/>
            <a:ext cx="8143875" cy="128588"/>
          </a:xfrm>
          <a:prstGeom prst="rect">
            <a:avLst/>
          </a:prstGeom>
          <a:noFill/>
          <a:ln/>
        </p:spPr>
        <p:txBody>
          <a:bodyPr wrap="square" lIns="0" tIns="0" rIns="0" bIns="0" rtlCol="0" anchor="t">
            <a:spAutoFit/>
          </a:bodyPr>
          <a:lstStyle/>
          <a:p>
            <a:pPr marL="0" indent="0" algn="l">
              <a:buNone/>
            </a:pPr>
            <a:r>
              <a:rPr lang="en-US" sz="750" b="1" kern="0" spc="2" dirty="0">
                <a:solidFill>
                  <a:srgbClr val="22E6A8"/>
                </a:solidFill>
                <a:latin typeface="Inter ExtraBold" pitchFamily="34" charset="0"/>
                <a:ea typeface="Inter ExtraBold" pitchFamily="34" charset="-122"/>
                <a:cs typeface="Inter ExtraBold" pitchFamily="34" charset="-120"/>
              </a:rPr>
              <a:t>APRENDIZAJES</a:t>
            </a:r>
            <a:endParaRPr lang="en-US" sz="750" dirty="0"/>
          </a:p>
        </p:txBody>
      </p:sp>
      <p:sp>
        <p:nvSpPr>
          <p:cNvPr id="5" name="Text 1"/>
          <p:cNvSpPr/>
          <p:nvPr/>
        </p:nvSpPr>
        <p:spPr>
          <a:xfrm>
            <a:off x="500063" y="571500"/>
            <a:ext cx="6715125" cy="645058"/>
          </a:xfrm>
          <a:prstGeom prst="rect">
            <a:avLst/>
          </a:prstGeom>
          <a:noFill/>
          <a:ln/>
        </p:spPr>
        <p:txBody>
          <a:bodyPr wrap="square" lIns="0" tIns="0" rIns="0" bIns="0" rtlCol="0" anchor="t">
            <a:spAutoFit/>
          </a:bodyPr>
          <a:lstStyle/>
          <a:p>
            <a:pPr marL="0" indent="0" algn="l">
              <a:lnSpc>
                <a:spcPct val="84000"/>
              </a:lnSpc>
              <a:buNone/>
            </a:pPr>
            <a:r>
              <a:rPr lang="en-US" sz="2150" b="1" kern="0" spc="-1" dirty="0">
                <a:solidFill>
                  <a:srgbClr val="E6FBFF"/>
                </a:solidFill>
                <a:latin typeface="Space Grotesk Bold" pitchFamily="34" charset="0"/>
                <a:ea typeface="Space Grotesk Bold" pitchFamily="34" charset="-122"/>
                <a:cs typeface="Space Grotesk Bold" pitchFamily="34" charset="-120"/>
              </a:rPr>
              <a:t>Aprendimos construyendo confianza digital verificable</a:t>
            </a:r>
            <a:endParaRPr lang="en-US" sz="2150" dirty="0"/>
          </a:p>
        </p:txBody>
      </p:sp>
      <p:sp>
        <p:nvSpPr>
          <p:cNvPr id="6" name="Shape 2"/>
          <p:cNvSpPr/>
          <p:nvPr/>
        </p:nvSpPr>
        <p:spPr>
          <a:xfrm>
            <a:off x="500063" y="1402296"/>
            <a:ext cx="8143875" cy="657225"/>
          </a:xfrm>
          <a:prstGeom prst="rect">
            <a:avLst/>
          </a:prstGeom>
          <a:solidFill>
            <a:srgbClr val="00D4FF">
              <a:alpha val="7000"/>
            </a:srgbClr>
          </a:solidFill>
          <a:ln/>
        </p:spPr>
      </p:sp>
      <p:sp>
        <p:nvSpPr>
          <p:cNvPr id="7" name="Shape 3"/>
          <p:cNvSpPr/>
          <p:nvPr/>
        </p:nvSpPr>
        <p:spPr>
          <a:xfrm>
            <a:off x="500063" y="1402296"/>
            <a:ext cx="8143875" cy="14288"/>
          </a:xfrm>
          <a:prstGeom prst="rect">
            <a:avLst/>
          </a:prstGeom>
          <a:solidFill>
            <a:srgbClr val="59ECBE"/>
          </a:solidFill>
          <a:ln/>
        </p:spPr>
      </p:sp>
      <p:sp>
        <p:nvSpPr>
          <p:cNvPr id="8" name="Shape 4"/>
          <p:cNvSpPr/>
          <p:nvPr/>
        </p:nvSpPr>
        <p:spPr>
          <a:xfrm>
            <a:off x="500063" y="2052377"/>
            <a:ext cx="8143875" cy="7144"/>
          </a:xfrm>
          <a:prstGeom prst="rect">
            <a:avLst/>
          </a:prstGeom>
          <a:solidFill>
            <a:srgbClr val="B3F2FF"/>
          </a:solidFill>
          <a:ln/>
        </p:spPr>
      </p:sp>
      <p:sp>
        <p:nvSpPr>
          <p:cNvPr id="9" name="Text 5"/>
          <p:cNvSpPr/>
          <p:nvPr/>
        </p:nvSpPr>
        <p:spPr>
          <a:xfrm>
            <a:off x="700088" y="1513024"/>
            <a:ext cx="7743825" cy="435769"/>
          </a:xfrm>
          <a:prstGeom prst="rect">
            <a:avLst/>
          </a:prstGeom>
          <a:noFill/>
          <a:ln/>
        </p:spPr>
        <p:txBody>
          <a:bodyPr wrap="square" lIns="0" tIns="0" rIns="0" bIns="0" rtlCol="0" anchor="t">
            <a:spAutoFit/>
          </a:bodyPr>
          <a:lstStyle/>
          <a:p>
            <a:pPr marL="0" indent="0" algn="l">
              <a:lnSpc>
                <a:spcPct val="97600"/>
              </a:lnSpc>
              <a:buNone/>
            </a:pPr>
            <a:r>
              <a:rPr lang="en-US" sz="1300" dirty="0">
                <a:solidFill>
                  <a:srgbClr val="E6FBFF"/>
                </a:solidFill>
                <a:latin typeface="Space Grotesk Medium" pitchFamily="34" charset="0"/>
                <a:ea typeface="Space Grotesk Medium" pitchFamily="34" charset="-122"/>
                <a:cs typeface="Space Grotesk Medium" pitchFamily="34" charset="-120"/>
              </a:rPr>
              <a:t>El reto no fue solo integrar tecnologías avanzadas: fue convertirlas en una experiencia </a:t>
            </a:r>
            <a:r>
              <a:rPr lang="en-US" sz="1250" b="1" dirty="0">
                <a:solidFill>
                  <a:srgbClr val="22E6A8"/>
                </a:solidFill>
                <a:latin typeface="Space Grotesk Bold" pitchFamily="34" charset="0"/>
                <a:ea typeface="Space Grotesk Bold" pitchFamily="34" charset="-122"/>
                <a:cs typeface="Space Grotesk Bold" pitchFamily="34" charset="-120"/>
              </a:rPr>
              <a:t>usable, segura y reproducible</a:t>
            </a:r>
            <a:r>
              <a:rPr lang="en-US" sz="1300" dirty="0">
                <a:solidFill>
                  <a:srgbClr val="E6FBFF"/>
                </a:solidFill>
                <a:latin typeface="Space Grotesk Medium" pitchFamily="34" charset="0"/>
                <a:ea typeface="Space Grotesk Medium" pitchFamily="34" charset="-122"/>
                <a:cs typeface="Space Grotesk Medium" pitchFamily="34" charset="-120"/>
              </a:rPr>
              <a:t>.</a:t>
            </a:r>
            <a:endParaRPr lang="en-US" sz="1300" dirty="0"/>
          </a:p>
        </p:txBody>
      </p:sp>
      <p:sp>
        <p:nvSpPr>
          <p:cNvPr id="10" name="Shape 6"/>
          <p:cNvSpPr/>
          <p:nvPr/>
        </p:nvSpPr>
        <p:spPr>
          <a:xfrm>
            <a:off x="500063" y="2309552"/>
            <a:ext cx="2035969" cy="2028825"/>
          </a:xfrm>
          <a:prstGeom prst="rect">
            <a:avLst/>
          </a:prstGeom>
          <a:solidFill>
            <a:srgbClr val="07111F">
              <a:alpha val="2000"/>
            </a:srgbClr>
          </a:solidFill>
          <a:ln/>
        </p:spPr>
      </p:sp>
      <p:sp>
        <p:nvSpPr>
          <p:cNvPr id="11" name="Shape 7"/>
          <p:cNvSpPr/>
          <p:nvPr/>
        </p:nvSpPr>
        <p:spPr>
          <a:xfrm>
            <a:off x="2528888" y="2309552"/>
            <a:ext cx="7144" cy="2028825"/>
          </a:xfrm>
          <a:prstGeom prst="rect">
            <a:avLst/>
          </a:prstGeom>
          <a:solidFill>
            <a:srgbClr val="C7F6FF"/>
          </a:solidFill>
          <a:ln/>
        </p:spPr>
      </p:sp>
      <p:sp>
        <p:nvSpPr>
          <p:cNvPr id="12" name="Text 8"/>
          <p:cNvSpPr/>
          <p:nvPr/>
        </p:nvSpPr>
        <p:spPr>
          <a:xfrm>
            <a:off x="657225" y="2481002"/>
            <a:ext cx="1721644" cy="185738"/>
          </a:xfrm>
          <a:prstGeom prst="rect">
            <a:avLst/>
          </a:prstGeom>
          <a:noFill/>
          <a:ln/>
        </p:spPr>
        <p:txBody>
          <a:bodyPr wrap="none" lIns="0" tIns="0" rIns="0" bIns="0" rtlCol="0" anchor="t">
            <a:spAutoFit/>
          </a:bodyPr>
          <a:lstStyle/>
          <a:p>
            <a:pPr marL="0" indent="0" algn="l">
              <a:lnSpc>
                <a:spcPct val="80000"/>
              </a:lnSpc>
              <a:buNone/>
            </a:pPr>
            <a:r>
              <a:rPr lang="en-US" sz="1400" dirty="0">
                <a:solidFill>
                  <a:srgbClr val="00D4FF"/>
                </a:solidFill>
                <a:latin typeface="Space Grotesk Medium" pitchFamily="34" charset="0"/>
                <a:ea typeface="Space Grotesk Medium" pitchFamily="34" charset="-122"/>
                <a:cs typeface="Space Grotesk Medium" pitchFamily="34" charset="-120"/>
              </a:rPr>
              <a:t>01</a:t>
            </a:r>
            <a:endParaRPr lang="en-US" sz="1400" dirty="0"/>
          </a:p>
        </p:txBody>
      </p:sp>
      <p:sp>
        <p:nvSpPr>
          <p:cNvPr id="13" name="Text 9"/>
          <p:cNvSpPr/>
          <p:nvPr/>
        </p:nvSpPr>
        <p:spPr>
          <a:xfrm>
            <a:off x="657225" y="2723890"/>
            <a:ext cx="1721644" cy="328613"/>
          </a:xfrm>
          <a:prstGeom prst="rect">
            <a:avLst/>
          </a:prstGeom>
          <a:noFill/>
          <a:ln/>
        </p:spPr>
        <p:txBody>
          <a:bodyPr wrap="square" lIns="0" tIns="0" rIns="0" bIns="0" rtlCol="0" anchor="t">
            <a:spAutoFit/>
          </a:bodyPr>
          <a:lstStyle/>
          <a:p>
            <a:pPr marL="0" indent="0" algn="l">
              <a:lnSpc>
                <a:spcPct val="86400"/>
              </a:lnSpc>
              <a:buNone/>
            </a:pPr>
            <a:r>
              <a:rPr lang="en-US" sz="1050" b="1" dirty="0">
                <a:solidFill>
                  <a:srgbClr val="E6FBFF"/>
                </a:solidFill>
                <a:latin typeface="Space Grotesk Bold" pitchFamily="34" charset="0"/>
                <a:ea typeface="Space Grotesk Bold" pitchFamily="34" charset="-122"/>
                <a:cs typeface="Space Grotesk Bold" pitchFamily="34" charset="-120"/>
              </a:rPr>
              <a:t>Full-stack web</a:t>
            </a:r>
            <a:endParaRPr lang="en-US" sz="1050" dirty="0"/>
          </a:p>
        </p:txBody>
      </p:sp>
      <p:sp>
        <p:nvSpPr>
          <p:cNvPr id="14" name="Text 10"/>
          <p:cNvSpPr/>
          <p:nvPr/>
        </p:nvSpPr>
        <p:spPr>
          <a:xfrm>
            <a:off x="657225" y="3123940"/>
            <a:ext cx="1721644" cy="742950"/>
          </a:xfrm>
          <a:prstGeom prst="rect">
            <a:avLst/>
          </a:prstGeom>
          <a:noFill/>
          <a:ln/>
        </p:spPr>
        <p:txBody>
          <a:bodyPr wrap="square" lIns="0" tIns="0" rIns="51054" bIns="0" rtlCol="0" anchor="t">
            <a:spAutoFit/>
          </a:bodyPr>
          <a:lstStyle/>
          <a:p>
            <a:pPr marL="0" indent="0" algn="l">
              <a:lnSpc>
                <a:spcPct val="110400"/>
              </a:lnSpc>
              <a:buNone/>
            </a:pPr>
            <a:r>
              <a:rPr lang="en-US" sz="850" dirty="0">
                <a:solidFill>
                  <a:srgbClr val="B7C8D9"/>
                </a:solidFill>
                <a:latin typeface="Inter" pitchFamily="34" charset="0"/>
                <a:ea typeface="Inter" pitchFamily="34" charset="-122"/>
                <a:cs typeface="Inter" pitchFamily="34" charset="-120"/>
              </a:rPr>
              <a:t>React, Node.js y Express permitieron crear una SPA con autenticación JWT, Google OAuth, carga de archivos y una API REST lista para producción.</a:t>
            </a:r>
            <a:endParaRPr lang="en-US" sz="850" dirty="0"/>
          </a:p>
        </p:txBody>
      </p:sp>
      <p:sp>
        <p:nvSpPr>
          <p:cNvPr id="15" name="Shape 11"/>
          <p:cNvSpPr/>
          <p:nvPr/>
        </p:nvSpPr>
        <p:spPr>
          <a:xfrm>
            <a:off x="2536031" y="2309552"/>
            <a:ext cx="2035969" cy="2028825"/>
          </a:xfrm>
          <a:prstGeom prst="rect">
            <a:avLst/>
          </a:prstGeom>
          <a:solidFill>
            <a:srgbClr val="07111F">
              <a:alpha val="2000"/>
            </a:srgbClr>
          </a:solidFill>
          <a:ln/>
        </p:spPr>
      </p:sp>
      <p:sp>
        <p:nvSpPr>
          <p:cNvPr id="16" name="Shape 12"/>
          <p:cNvSpPr/>
          <p:nvPr/>
        </p:nvSpPr>
        <p:spPr>
          <a:xfrm>
            <a:off x="4564856" y="2309552"/>
            <a:ext cx="7144" cy="2028825"/>
          </a:xfrm>
          <a:prstGeom prst="rect">
            <a:avLst/>
          </a:prstGeom>
          <a:solidFill>
            <a:srgbClr val="C7F6FF"/>
          </a:solidFill>
          <a:ln/>
        </p:spPr>
      </p:sp>
      <p:sp>
        <p:nvSpPr>
          <p:cNvPr id="17" name="Text 13"/>
          <p:cNvSpPr/>
          <p:nvPr/>
        </p:nvSpPr>
        <p:spPr>
          <a:xfrm>
            <a:off x="2693194" y="2481002"/>
            <a:ext cx="1721644" cy="185738"/>
          </a:xfrm>
          <a:prstGeom prst="rect">
            <a:avLst/>
          </a:prstGeom>
          <a:noFill/>
          <a:ln/>
        </p:spPr>
        <p:txBody>
          <a:bodyPr wrap="none" lIns="0" tIns="0" rIns="0" bIns="0" rtlCol="0" anchor="t">
            <a:spAutoFit/>
          </a:bodyPr>
          <a:lstStyle/>
          <a:p>
            <a:pPr marL="0" indent="0" algn="l">
              <a:lnSpc>
                <a:spcPct val="80000"/>
              </a:lnSpc>
              <a:buNone/>
            </a:pPr>
            <a:r>
              <a:rPr lang="en-US" sz="1400" dirty="0">
                <a:solidFill>
                  <a:srgbClr val="00D4FF"/>
                </a:solidFill>
                <a:latin typeface="Space Grotesk Medium" pitchFamily="34" charset="0"/>
                <a:ea typeface="Space Grotesk Medium" pitchFamily="34" charset="-122"/>
                <a:cs typeface="Space Grotesk Medium" pitchFamily="34" charset="-120"/>
              </a:rPr>
              <a:t>02</a:t>
            </a:r>
            <a:endParaRPr lang="en-US" sz="1400" dirty="0"/>
          </a:p>
        </p:txBody>
      </p:sp>
      <p:sp>
        <p:nvSpPr>
          <p:cNvPr id="18" name="Text 14"/>
          <p:cNvSpPr/>
          <p:nvPr/>
        </p:nvSpPr>
        <p:spPr>
          <a:xfrm>
            <a:off x="2693194" y="2723890"/>
            <a:ext cx="1721644" cy="328613"/>
          </a:xfrm>
          <a:prstGeom prst="rect">
            <a:avLst/>
          </a:prstGeom>
          <a:noFill/>
          <a:ln/>
        </p:spPr>
        <p:txBody>
          <a:bodyPr wrap="square" lIns="0" tIns="0" rIns="0" bIns="0" rtlCol="0" anchor="t">
            <a:spAutoFit/>
          </a:bodyPr>
          <a:lstStyle/>
          <a:p>
            <a:pPr marL="0" indent="0" algn="l">
              <a:lnSpc>
                <a:spcPct val="86400"/>
              </a:lnSpc>
              <a:buNone/>
            </a:pPr>
            <a:r>
              <a:rPr lang="en-US" sz="1050" b="1" dirty="0">
                <a:solidFill>
                  <a:srgbClr val="E6FBFF"/>
                </a:solidFill>
                <a:latin typeface="Space Grotesk Bold" pitchFamily="34" charset="0"/>
                <a:ea typeface="Space Grotesk Bold" pitchFamily="34" charset="-122"/>
                <a:cs typeface="Space Grotesk Bold" pitchFamily="34" charset="-120"/>
              </a:rPr>
              <a:t>Docker y despliegue</a:t>
            </a:r>
            <a:endParaRPr lang="en-US" sz="1050" dirty="0"/>
          </a:p>
        </p:txBody>
      </p:sp>
      <p:sp>
        <p:nvSpPr>
          <p:cNvPr id="19" name="Text 15"/>
          <p:cNvSpPr/>
          <p:nvPr/>
        </p:nvSpPr>
        <p:spPr>
          <a:xfrm>
            <a:off x="2693194" y="3123940"/>
            <a:ext cx="1721644" cy="742950"/>
          </a:xfrm>
          <a:prstGeom prst="rect">
            <a:avLst/>
          </a:prstGeom>
          <a:noFill/>
          <a:ln/>
        </p:spPr>
        <p:txBody>
          <a:bodyPr wrap="square" lIns="0" tIns="0" rIns="0" bIns="0" rtlCol="0" anchor="t">
            <a:spAutoFit/>
          </a:bodyPr>
          <a:lstStyle/>
          <a:p>
            <a:pPr marL="0" indent="0" algn="l">
              <a:lnSpc>
                <a:spcPct val="110400"/>
              </a:lnSpc>
              <a:buNone/>
            </a:pPr>
            <a:r>
              <a:rPr lang="en-US" sz="850" dirty="0">
                <a:solidFill>
                  <a:srgbClr val="B7C8D9"/>
                </a:solidFill>
                <a:latin typeface="Inter" pitchFamily="34" charset="0"/>
                <a:ea typeface="Inter" pitchFamily="34" charset="-122"/>
                <a:cs typeface="Inter" pitchFamily="34" charset="-120"/>
              </a:rPr>
              <a:t>Dockerfiles multi-etapa, Docker Compose y variables de entorno hicieron posible pasar de desarrollo local a contenedores trazables.</a:t>
            </a:r>
            <a:endParaRPr lang="en-US" sz="850" dirty="0"/>
          </a:p>
        </p:txBody>
      </p:sp>
      <p:sp>
        <p:nvSpPr>
          <p:cNvPr id="20" name="Shape 16"/>
          <p:cNvSpPr/>
          <p:nvPr/>
        </p:nvSpPr>
        <p:spPr>
          <a:xfrm>
            <a:off x="4572000" y="2309552"/>
            <a:ext cx="2035969" cy="2028825"/>
          </a:xfrm>
          <a:prstGeom prst="rect">
            <a:avLst/>
          </a:prstGeom>
          <a:solidFill>
            <a:srgbClr val="07111F">
              <a:alpha val="2000"/>
            </a:srgbClr>
          </a:solidFill>
          <a:ln/>
        </p:spPr>
      </p:sp>
      <p:sp>
        <p:nvSpPr>
          <p:cNvPr id="21" name="Shape 17"/>
          <p:cNvSpPr/>
          <p:nvPr/>
        </p:nvSpPr>
        <p:spPr>
          <a:xfrm>
            <a:off x="6600825" y="2309552"/>
            <a:ext cx="7144" cy="2028825"/>
          </a:xfrm>
          <a:prstGeom prst="rect">
            <a:avLst/>
          </a:prstGeom>
          <a:solidFill>
            <a:srgbClr val="C7F6FF"/>
          </a:solidFill>
          <a:ln/>
        </p:spPr>
      </p:sp>
      <p:sp>
        <p:nvSpPr>
          <p:cNvPr id="22" name="Text 18"/>
          <p:cNvSpPr/>
          <p:nvPr/>
        </p:nvSpPr>
        <p:spPr>
          <a:xfrm>
            <a:off x="4729163" y="2481002"/>
            <a:ext cx="1721644" cy="185738"/>
          </a:xfrm>
          <a:prstGeom prst="rect">
            <a:avLst/>
          </a:prstGeom>
          <a:noFill/>
          <a:ln/>
        </p:spPr>
        <p:txBody>
          <a:bodyPr wrap="none" lIns="0" tIns="0" rIns="0" bIns="0" rtlCol="0" anchor="t">
            <a:spAutoFit/>
          </a:bodyPr>
          <a:lstStyle/>
          <a:p>
            <a:pPr marL="0" indent="0" algn="l">
              <a:lnSpc>
                <a:spcPct val="80000"/>
              </a:lnSpc>
              <a:buNone/>
            </a:pPr>
            <a:r>
              <a:rPr lang="en-US" sz="1400" dirty="0">
                <a:solidFill>
                  <a:srgbClr val="00D4FF"/>
                </a:solidFill>
                <a:latin typeface="Space Grotesk Medium" pitchFamily="34" charset="0"/>
                <a:ea typeface="Space Grotesk Medium" pitchFamily="34" charset="-122"/>
                <a:cs typeface="Space Grotesk Medium" pitchFamily="34" charset="-120"/>
              </a:rPr>
              <a:t>03</a:t>
            </a:r>
            <a:endParaRPr lang="en-US" sz="1400" dirty="0"/>
          </a:p>
        </p:txBody>
      </p:sp>
      <p:sp>
        <p:nvSpPr>
          <p:cNvPr id="23" name="Text 19"/>
          <p:cNvSpPr/>
          <p:nvPr/>
        </p:nvSpPr>
        <p:spPr>
          <a:xfrm>
            <a:off x="4729163" y="2723890"/>
            <a:ext cx="1721644" cy="328613"/>
          </a:xfrm>
          <a:prstGeom prst="rect">
            <a:avLst/>
          </a:prstGeom>
          <a:noFill/>
          <a:ln/>
        </p:spPr>
        <p:txBody>
          <a:bodyPr wrap="square" lIns="0" tIns="0" rIns="0" bIns="0" rtlCol="0" anchor="t">
            <a:spAutoFit/>
          </a:bodyPr>
          <a:lstStyle/>
          <a:p>
            <a:pPr marL="0" indent="0" algn="l">
              <a:lnSpc>
                <a:spcPct val="86400"/>
              </a:lnSpc>
              <a:buNone/>
            </a:pPr>
            <a:r>
              <a:rPr lang="en-US" sz="1050" b="1" dirty="0">
                <a:solidFill>
                  <a:srgbClr val="E6FBFF"/>
                </a:solidFill>
                <a:latin typeface="Space Grotesk Bold" pitchFamily="34" charset="0"/>
                <a:ea typeface="Space Grotesk Bold" pitchFamily="34" charset="-122"/>
                <a:cs typeface="Space Grotesk Bold" pitchFamily="34" charset="-120"/>
              </a:rPr>
              <a:t>Verana / Hologram</a:t>
            </a:r>
            <a:endParaRPr lang="en-US" sz="1050" dirty="0"/>
          </a:p>
        </p:txBody>
      </p:sp>
      <p:sp>
        <p:nvSpPr>
          <p:cNvPr id="24" name="Text 20"/>
          <p:cNvSpPr/>
          <p:nvPr/>
        </p:nvSpPr>
        <p:spPr>
          <a:xfrm>
            <a:off x="4729163" y="3123940"/>
            <a:ext cx="1721644" cy="630882"/>
          </a:xfrm>
          <a:prstGeom prst="rect">
            <a:avLst/>
          </a:prstGeom>
          <a:noFill/>
          <a:ln/>
        </p:spPr>
        <p:txBody>
          <a:bodyPr wrap="square" lIns="0" tIns="0" rIns="51054" bIns="0" rtlCol="0" anchor="t">
            <a:spAutoFit/>
          </a:bodyPr>
          <a:lstStyle/>
          <a:p>
            <a:pPr marL="0" indent="0" algn="l">
              <a:lnSpc>
                <a:spcPct val="110400"/>
              </a:lnSpc>
              <a:buNone/>
            </a:pPr>
            <a:r>
              <a:rPr lang="en-US" sz="850" dirty="0">
                <a:solidFill>
                  <a:srgbClr val="B7C8D9"/>
                </a:solidFill>
                <a:latin typeface="Inter" pitchFamily="34" charset="0"/>
                <a:ea typeface="Inter" pitchFamily="34" charset="-122"/>
                <a:cs typeface="Inter" pitchFamily="34" charset="-120"/>
              </a:rPr>
              <a:t>Comprendimos el ciclo de </a:t>
            </a:r>
            <a:r>
              <a:rPr lang="en-US" sz="800" b="1" dirty="0">
                <a:solidFill>
                  <a:srgbClr val="B7C8D9"/>
                </a:solidFill>
                <a:latin typeface="Inter Bold" pitchFamily="34" charset="0"/>
                <a:ea typeface="Inter Bold" pitchFamily="34" charset="-122"/>
                <a:cs typeface="Inter Bold" pitchFamily="34" charset="-120"/>
              </a:rPr>
              <a:t>DID → credencial verificable → DIDComm</a:t>
            </a:r>
            <a:r>
              <a:rPr lang="en-US" sz="850" dirty="0">
                <a:solidFill>
                  <a:srgbClr val="B7C8D9"/>
                </a:solidFill>
                <a:latin typeface="Inter" pitchFamily="34" charset="0"/>
                <a:ea typeface="Inter" pitchFamily="34" charset="-122"/>
                <a:cs typeface="Inter" pitchFamily="34" charset="-120"/>
              </a:rPr>
              <a:t> y su aplicación en agentes de IA reales.</a:t>
            </a:r>
            <a:endParaRPr lang="en-US" sz="850" dirty="0"/>
          </a:p>
        </p:txBody>
      </p:sp>
      <p:sp>
        <p:nvSpPr>
          <p:cNvPr id="25" name="Shape 21"/>
          <p:cNvSpPr/>
          <p:nvPr/>
        </p:nvSpPr>
        <p:spPr>
          <a:xfrm>
            <a:off x="6450807" y="2309552"/>
            <a:ext cx="2035969" cy="2028825"/>
          </a:xfrm>
          <a:prstGeom prst="rect">
            <a:avLst/>
          </a:prstGeom>
          <a:solidFill>
            <a:srgbClr val="07111F">
              <a:alpha val="2000"/>
            </a:srgbClr>
          </a:solidFill>
          <a:ln/>
        </p:spPr>
      </p:sp>
      <p:sp>
        <p:nvSpPr>
          <p:cNvPr id="26" name="Text 22"/>
          <p:cNvSpPr/>
          <p:nvPr/>
        </p:nvSpPr>
        <p:spPr>
          <a:xfrm>
            <a:off x="6765131" y="2481002"/>
            <a:ext cx="1721644" cy="185738"/>
          </a:xfrm>
          <a:prstGeom prst="rect">
            <a:avLst/>
          </a:prstGeom>
          <a:noFill/>
          <a:ln/>
        </p:spPr>
        <p:txBody>
          <a:bodyPr wrap="none" lIns="0" tIns="0" rIns="0" bIns="0" rtlCol="0" anchor="t">
            <a:spAutoFit/>
          </a:bodyPr>
          <a:lstStyle/>
          <a:p>
            <a:pPr marL="0" indent="0" algn="l">
              <a:lnSpc>
                <a:spcPct val="80000"/>
              </a:lnSpc>
              <a:buNone/>
            </a:pPr>
            <a:r>
              <a:rPr lang="en-US" sz="1400" dirty="0">
                <a:solidFill>
                  <a:srgbClr val="00D4FF"/>
                </a:solidFill>
                <a:latin typeface="Space Grotesk Medium" pitchFamily="34" charset="0"/>
                <a:ea typeface="Space Grotesk Medium" pitchFamily="34" charset="-122"/>
                <a:cs typeface="Space Grotesk Medium" pitchFamily="34" charset="-120"/>
              </a:rPr>
              <a:t>04</a:t>
            </a:r>
            <a:endParaRPr lang="en-US" sz="1400" dirty="0"/>
          </a:p>
        </p:txBody>
      </p:sp>
      <p:sp>
        <p:nvSpPr>
          <p:cNvPr id="27" name="Text 23"/>
          <p:cNvSpPr/>
          <p:nvPr/>
        </p:nvSpPr>
        <p:spPr>
          <a:xfrm>
            <a:off x="6765131" y="2723890"/>
            <a:ext cx="1721644" cy="161583"/>
          </a:xfrm>
          <a:prstGeom prst="rect">
            <a:avLst/>
          </a:prstGeom>
          <a:noFill/>
          <a:ln/>
        </p:spPr>
        <p:txBody>
          <a:bodyPr wrap="square" lIns="0" tIns="0" rIns="0" bIns="0" rtlCol="0" anchor="t">
            <a:spAutoFit/>
          </a:bodyPr>
          <a:lstStyle/>
          <a:p>
            <a:r>
              <a:rPr lang="en-US" sz="1050" b="1" dirty="0">
                <a:solidFill>
                  <a:srgbClr val="E6FBFF"/>
                </a:solidFill>
                <a:latin typeface="Space Grotesk Bold" pitchFamily="34" charset="0"/>
                <a:ea typeface="Space Grotesk Bold" pitchFamily="34" charset="-122"/>
                <a:cs typeface="Space Grotesk Bold" pitchFamily="34" charset="-120"/>
              </a:rPr>
              <a:t>Kubernetes &amp;</a:t>
            </a:r>
            <a:r>
              <a:rPr lang="en-US" sz="1050" b="1" dirty="0">
                <a:solidFill>
                  <a:srgbClr val="38BDF8"/>
                </a:solidFill>
                <a:latin typeface="Outfit Bold" pitchFamily="34" charset="0"/>
                <a:ea typeface="Outfit Bold" pitchFamily="34" charset="-122"/>
                <a:cs typeface="Outfit Bold" pitchFamily="34" charset="-120"/>
              </a:rPr>
              <a:t> </a:t>
            </a:r>
            <a:r>
              <a:rPr lang="en-US" sz="1050" b="1" dirty="0">
                <a:solidFill>
                  <a:srgbClr val="E6FBFF"/>
                </a:solidFill>
                <a:latin typeface="Space Grotesk Bold" pitchFamily="34" charset="0"/>
                <a:ea typeface="Space Grotesk Bold" pitchFamily="34" charset="-122"/>
                <a:cs typeface="Space Grotesk Bold" pitchFamily="34" charset="-120"/>
              </a:rPr>
              <a:t>Infra</a:t>
            </a:r>
          </a:p>
        </p:txBody>
      </p:sp>
      <p:sp>
        <p:nvSpPr>
          <p:cNvPr id="28" name="Text 24"/>
          <p:cNvSpPr/>
          <p:nvPr/>
        </p:nvSpPr>
        <p:spPr>
          <a:xfrm>
            <a:off x="6765131" y="3123940"/>
            <a:ext cx="1721644" cy="880241"/>
          </a:xfrm>
          <a:prstGeom prst="rect">
            <a:avLst/>
          </a:prstGeom>
          <a:noFill/>
          <a:ln/>
        </p:spPr>
        <p:txBody>
          <a:bodyPr wrap="square" lIns="0" tIns="0" rIns="0" bIns="0" rtlCol="0" anchor="t">
            <a:spAutoFit/>
          </a:bodyPr>
          <a:lstStyle/>
          <a:p>
            <a:pPr>
              <a:lnSpc>
                <a:spcPct val="110400"/>
              </a:lnSpc>
            </a:pPr>
            <a:r>
              <a:rPr lang="en-US" sz="850" dirty="0" smtClean="0">
                <a:solidFill>
                  <a:srgbClr val="B7C8D9"/>
                </a:solidFill>
                <a:latin typeface="Inter" pitchFamily="34" charset="0"/>
                <a:ea typeface="Inter" pitchFamily="34" charset="-122"/>
                <a:cs typeface="Inter" pitchFamily="34" charset="-120"/>
              </a:rPr>
              <a:t>GitHub Actions, </a:t>
            </a:r>
            <a:r>
              <a:rPr lang="en-US" sz="900" dirty="0" err="1" smtClean="0">
                <a:solidFill>
                  <a:srgbClr val="CBD5E1"/>
                </a:solidFill>
                <a:latin typeface="Inter" pitchFamily="34" charset="0"/>
                <a:ea typeface="Inter" pitchFamily="34" charset="-122"/>
                <a:cs typeface="Inter" pitchFamily="34" charset="-120"/>
              </a:rPr>
              <a:t>configuración</a:t>
            </a:r>
            <a:r>
              <a:rPr lang="en-US" sz="900" dirty="0" smtClean="0">
                <a:solidFill>
                  <a:srgbClr val="CBD5E1"/>
                </a:solidFill>
                <a:latin typeface="Inter" pitchFamily="34" charset="0"/>
                <a:ea typeface="Inter" pitchFamily="34" charset="-122"/>
                <a:cs typeface="Inter" pitchFamily="34" charset="-120"/>
              </a:rPr>
              <a:t> </a:t>
            </a:r>
            <a:r>
              <a:rPr lang="en-US" sz="900" dirty="0">
                <a:solidFill>
                  <a:srgbClr val="CBD5E1"/>
                </a:solidFill>
                <a:latin typeface="Inter" pitchFamily="34" charset="0"/>
                <a:ea typeface="Inter" pitchFamily="34" charset="-122"/>
                <a:cs typeface="Inter" pitchFamily="34" charset="-120"/>
              </a:rPr>
              <a:t>de </a:t>
            </a:r>
            <a:r>
              <a:rPr lang="en-US" sz="800" b="1" dirty="0">
                <a:solidFill>
                  <a:srgbClr val="CBD5E1"/>
                </a:solidFill>
                <a:latin typeface="Inter Bold" pitchFamily="34" charset="0"/>
                <a:ea typeface="Inter Bold" pitchFamily="34" charset="-122"/>
                <a:cs typeface="Inter Bold" pitchFamily="34" charset="-120"/>
              </a:rPr>
              <a:t>Ingress</a:t>
            </a:r>
            <a:r>
              <a:rPr lang="en-US" sz="900" dirty="0">
                <a:solidFill>
                  <a:srgbClr val="CBD5E1"/>
                </a:solidFill>
                <a:latin typeface="Inter" pitchFamily="34" charset="0"/>
                <a:ea typeface="Inter" pitchFamily="34" charset="-122"/>
                <a:cs typeface="Inter" pitchFamily="34" charset="-120"/>
              </a:rPr>
              <a:t> con TLS y </a:t>
            </a:r>
            <a:r>
              <a:rPr lang="en-US" sz="900" dirty="0" err="1">
                <a:solidFill>
                  <a:srgbClr val="CBD5E1"/>
                </a:solidFill>
                <a:latin typeface="Inter" pitchFamily="34" charset="0"/>
                <a:ea typeface="Inter" pitchFamily="34" charset="-122"/>
                <a:cs typeface="Inter" pitchFamily="34" charset="-120"/>
              </a:rPr>
              <a:t>subdominios</a:t>
            </a:r>
            <a:r>
              <a:rPr lang="en-US" sz="900" dirty="0">
                <a:solidFill>
                  <a:srgbClr val="CBD5E1"/>
                </a:solidFill>
                <a:latin typeface="Inter" pitchFamily="34" charset="0"/>
                <a:ea typeface="Inter" pitchFamily="34" charset="-122"/>
                <a:cs typeface="Inter" pitchFamily="34" charset="-120"/>
              </a:rPr>
              <a:t>.</a:t>
            </a:r>
            <a:endParaRPr lang="en-US" sz="900" dirty="0"/>
          </a:p>
          <a:p>
            <a:pPr marL="0" indent="0" algn="l">
              <a:lnSpc>
                <a:spcPct val="110400"/>
              </a:lnSpc>
              <a:buNone/>
            </a:pPr>
            <a:r>
              <a:rPr lang="en-US" sz="850" dirty="0" smtClean="0">
                <a:solidFill>
                  <a:srgbClr val="B7C8D9"/>
                </a:solidFill>
                <a:latin typeface="Inter" pitchFamily="34" charset="0"/>
                <a:ea typeface="Inter" pitchFamily="34" charset="-122"/>
                <a:cs typeface="Inter" pitchFamily="34" charset="-120"/>
              </a:rPr>
              <a:t>,Kubernetes y Helm </a:t>
            </a:r>
            <a:r>
              <a:rPr lang="en-US" sz="850" dirty="0" err="1" smtClean="0">
                <a:solidFill>
                  <a:srgbClr val="B7C8D9"/>
                </a:solidFill>
                <a:latin typeface="Inter" pitchFamily="34" charset="0"/>
                <a:ea typeface="Inter" pitchFamily="34" charset="-122"/>
                <a:cs typeface="Inter" pitchFamily="34" charset="-120"/>
              </a:rPr>
              <a:t>permitieron</a:t>
            </a:r>
            <a:r>
              <a:rPr lang="en-US" sz="850" dirty="0" smtClean="0">
                <a:solidFill>
                  <a:srgbClr val="B7C8D9"/>
                </a:solidFill>
                <a:latin typeface="Inter" pitchFamily="34" charset="0"/>
                <a:ea typeface="Inter" pitchFamily="34" charset="-122"/>
                <a:cs typeface="Inter" pitchFamily="34" charset="-120"/>
              </a:rPr>
              <a:t> </a:t>
            </a:r>
            <a:r>
              <a:rPr lang="en-US" sz="850" dirty="0" err="1" smtClean="0">
                <a:solidFill>
                  <a:srgbClr val="B7C8D9"/>
                </a:solidFill>
                <a:latin typeface="Inter" pitchFamily="34" charset="0"/>
                <a:ea typeface="Inter" pitchFamily="34" charset="-122"/>
                <a:cs typeface="Inter" pitchFamily="34" charset="-120"/>
              </a:rPr>
              <a:t>automatizar</a:t>
            </a:r>
            <a:r>
              <a:rPr lang="en-US" sz="850" dirty="0" smtClean="0">
                <a:solidFill>
                  <a:srgbClr val="B7C8D9"/>
                </a:solidFill>
                <a:latin typeface="Inter" pitchFamily="34" charset="0"/>
                <a:ea typeface="Inter" pitchFamily="34" charset="-122"/>
                <a:cs typeface="Inter" pitchFamily="34" charset="-120"/>
              </a:rPr>
              <a:t> build, </a:t>
            </a:r>
            <a:r>
              <a:rPr lang="en-US" sz="850" dirty="0" err="1" smtClean="0">
                <a:solidFill>
                  <a:srgbClr val="B7C8D9"/>
                </a:solidFill>
                <a:latin typeface="Inter" pitchFamily="34" charset="0"/>
                <a:ea typeface="Inter" pitchFamily="34" charset="-122"/>
                <a:cs typeface="Inter" pitchFamily="34" charset="-120"/>
              </a:rPr>
              <a:t>publicación</a:t>
            </a:r>
            <a:r>
              <a:rPr lang="en-US" sz="850" dirty="0" smtClean="0">
                <a:solidFill>
                  <a:srgbClr val="B7C8D9"/>
                </a:solidFill>
                <a:latin typeface="Inter" pitchFamily="34" charset="0"/>
                <a:ea typeface="Inter" pitchFamily="34" charset="-122"/>
                <a:cs typeface="Inter" pitchFamily="34" charset="-120"/>
              </a:rPr>
              <a:t>, </a:t>
            </a:r>
            <a:r>
              <a:rPr lang="en-US" sz="850" dirty="0" err="1" smtClean="0">
                <a:solidFill>
                  <a:srgbClr val="B7C8D9"/>
                </a:solidFill>
                <a:latin typeface="Inter" pitchFamily="34" charset="0"/>
                <a:ea typeface="Inter" pitchFamily="34" charset="-122"/>
                <a:cs typeface="Inter" pitchFamily="34" charset="-120"/>
              </a:rPr>
              <a:t>despliegue</a:t>
            </a:r>
            <a:r>
              <a:rPr lang="en-US" sz="850" dirty="0" smtClean="0">
                <a:solidFill>
                  <a:srgbClr val="B7C8D9"/>
                </a:solidFill>
                <a:latin typeface="Inter" pitchFamily="34" charset="0"/>
                <a:ea typeface="Inter" pitchFamily="34" charset="-122"/>
                <a:cs typeface="Inter" pitchFamily="34" charset="-120"/>
              </a:rPr>
              <a:t>,  y </a:t>
            </a:r>
            <a:r>
              <a:rPr lang="en-US" sz="850" dirty="0" err="1" smtClean="0">
                <a:solidFill>
                  <a:srgbClr val="B7C8D9"/>
                </a:solidFill>
                <a:latin typeface="Inter" pitchFamily="34" charset="0"/>
                <a:ea typeface="Inter" pitchFamily="34" charset="-122"/>
                <a:cs typeface="Inter" pitchFamily="34" charset="-120"/>
              </a:rPr>
              <a:t>verificación</a:t>
            </a:r>
            <a:r>
              <a:rPr lang="en-US" sz="850" dirty="0" smtClean="0">
                <a:solidFill>
                  <a:srgbClr val="B7C8D9"/>
                </a:solidFill>
                <a:latin typeface="Inter" pitchFamily="34" charset="0"/>
                <a:ea typeface="Inter" pitchFamily="34" charset="-122"/>
                <a:cs typeface="Inter" pitchFamily="34" charset="-120"/>
              </a:rPr>
              <a:t> post-deploy.</a:t>
            </a:r>
            <a:endParaRPr lang="en-US" sz="850" dirty="0"/>
          </a:p>
        </p:txBody>
      </p:sp>
      <p:sp>
        <p:nvSpPr>
          <p:cNvPr id="29" name="Text 25"/>
          <p:cNvSpPr/>
          <p:nvPr/>
        </p:nvSpPr>
        <p:spPr>
          <a:xfrm>
            <a:off x="500063" y="4737367"/>
            <a:ext cx="1607344" cy="180715"/>
          </a:xfrm>
          <a:prstGeom prst="rect">
            <a:avLst/>
          </a:prstGeom>
          <a:noFill/>
          <a:ln/>
        </p:spPr>
        <p:txBody>
          <a:bodyPr wrap="none" lIns="0" tIns="0" rIns="0" bIns="0" rtlCol="0" anchor="t">
            <a:spAutoFit/>
          </a:bodyPr>
          <a:lstStyle/>
          <a:p>
            <a:pPr marL="0" indent="0" algn="l">
              <a:lnSpc>
                <a:spcPct val="88000"/>
              </a:lnSpc>
              <a:buNone/>
            </a:pPr>
            <a:r>
              <a:rPr lang="en-US" sz="1200" dirty="0">
                <a:solidFill>
                  <a:srgbClr val="00D4FF"/>
                </a:solidFill>
                <a:latin typeface="Space Grotesk Medium" pitchFamily="34" charset="0"/>
                <a:ea typeface="Space Grotesk Medium" pitchFamily="34" charset="-122"/>
                <a:cs typeface="Space Grotesk Medium" pitchFamily="34" charset="-120"/>
              </a:rPr>
              <a:t>Aprendizaje central</a:t>
            </a:r>
            <a:endParaRPr lang="en-US" sz="1200" dirty="0"/>
          </a:p>
        </p:txBody>
      </p:sp>
      <p:sp>
        <p:nvSpPr>
          <p:cNvPr id="30" name="Text 26"/>
          <p:cNvSpPr/>
          <p:nvPr/>
        </p:nvSpPr>
        <p:spPr>
          <a:xfrm>
            <a:off x="2321719" y="4630573"/>
            <a:ext cx="6322219" cy="394302"/>
          </a:xfrm>
          <a:prstGeom prst="rect">
            <a:avLst/>
          </a:prstGeom>
          <a:noFill/>
          <a:ln/>
        </p:spPr>
        <p:txBody>
          <a:bodyPr wrap="square" lIns="0" tIns="0" rIns="0" bIns="0" rtlCol="0" anchor="t">
            <a:spAutoFit/>
          </a:bodyPr>
          <a:lstStyle/>
          <a:p>
            <a:pPr marL="0" indent="0" algn="l">
              <a:lnSpc>
                <a:spcPct val="92000"/>
              </a:lnSpc>
              <a:buNone/>
            </a:pPr>
            <a:r>
              <a:rPr lang="en-US" sz="1200" b="1" dirty="0">
                <a:solidFill>
                  <a:srgbClr val="22E6A8"/>
                </a:solidFill>
                <a:latin typeface="Inter Bold" pitchFamily="34" charset="0"/>
                <a:ea typeface="Inter Bold" pitchFamily="34" charset="-122"/>
                <a:cs typeface="Inter Bold" pitchFamily="34" charset="-120"/>
              </a:rPr>
              <a:t>La tecnología más avanzada pierde valor si el usuario no puede usarla fácilmente.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00063" y="328613"/>
            <a:ext cx="8143875" cy="128588"/>
          </a:xfrm>
          <a:prstGeom prst="rect">
            <a:avLst/>
          </a:prstGeom>
          <a:noFill/>
          <a:ln/>
        </p:spPr>
        <p:txBody>
          <a:bodyPr wrap="square" lIns="0" tIns="0" rIns="0" bIns="0" rtlCol="0" anchor="t">
            <a:spAutoFit/>
          </a:bodyPr>
          <a:lstStyle/>
          <a:p>
            <a:pPr marL="0" indent="0" algn="l">
              <a:buNone/>
            </a:pPr>
            <a:r>
              <a:rPr lang="en-US" sz="750" b="1" kern="0" spc="2" dirty="0">
                <a:solidFill>
                  <a:srgbClr val="22E6A8"/>
                </a:solidFill>
                <a:latin typeface="Inter ExtraBold" pitchFamily="34" charset="0"/>
                <a:ea typeface="Inter ExtraBold" pitchFamily="34" charset="-122"/>
                <a:cs typeface="Inter ExtraBold" pitchFamily="34" charset="-120"/>
              </a:rPr>
              <a:t>RETOS ENCONTRADOS</a:t>
            </a:r>
            <a:endParaRPr lang="en-US" sz="750" dirty="0"/>
          </a:p>
        </p:txBody>
      </p:sp>
      <p:sp>
        <p:nvSpPr>
          <p:cNvPr id="5" name="Text 1"/>
          <p:cNvSpPr/>
          <p:nvPr/>
        </p:nvSpPr>
        <p:spPr>
          <a:xfrm>
            <a:off x="500063" y="550069"/>
            <a:ext cx="6858000" cy="645058"/>
          </a:xfrm>
          <a:prstGeom prst="rect">
            <a:avLst/>
          </a:prstGeom>
          <a:noFill/>
          <a:ln/>
        </p:spPr>
        <p:txBody>
          <a:bodyPr wrap="square" lIns="0" tIns="0" rIns="0" bIns="0" rtlCol="0" anchor="t">
            <a:spAutoFit/>
          </a:bodyPr>
          <a:lstStyle/>
          <a:p>
            <a:pPr marL="0" indent="0" algn="l">
              <a:lnSpc>
                <a:spcPct val="84000"/>
              </a:lnSpc>
              <a:buNone/>
            </a:pPr>
            <a:r>
              <a:rPr lang="en-US" sz="2150" b="1" kern="0" spc="-1" dirty="0">
                <a:solidFill>
                  <a:srgbClr val="E6FBFF"/>
                </a:solidFill>
                <a:latin typeface="Space Grotesk Bold" pitchFamily="34" charset="0"/>
                <a:ea typeface="Space Grotesk Bold" pitchFamily="34" charset="-122"/>
                <a:cs typeface="Space Grotesk Bold" pitchFamily="34" charset="-120"/>
              </a:rPr>
              <a:t>Los obstáculos técnicos fortalecieron el producto</a:t>
            </a:r>
            <a:endParaRPr lang="en-US" sz="2150" dirty="0"/>
          </a:p>
        </p:txBody>
      </p:sp>
      <p:sp>
        <p:nvSpPr>
          <p:cNvPr id="6" name="Shape 2"/>
          <p:cNvSpPr/>
          <p:nvPr/>
        </p:nvSpPr>
        <p:spPr>
          <a:xfrm>
            <a:off x="500063" y="1352290"/>
            <a:ext cx="8143875" cy="471488"/>
          </a:xfrm>
          <a:prstGeom prst="rect">
            <a:avLst/>
          </a:prstGeom>
          <a:solidFill>
            <a:srgbClr val="22E6A8">
              <a:alpha val="6000"/>
            </a:srgbClr>
          </a:solidFill>
          <a:ln/>
        </p:spPr>
      </p:sp>
      <p:sp>
        <p:nvSpPr>
          <p:cNvPr id="7" name="Shape 3"/>
          <p:cNvSpPr/>
          <p:nvPr/>
        </p:nvSpPr>
        <p:spPr>
          <a:xfrm>
            <a:off x="500063" y="1352290"/>
            <a:ext cx="8143875" cy="14288"/>
          </a:xfrm>
          <a:prstGeom prst="rect">
            <a:avLst/>
          </a:prstGeom>
          <a:solidFill>
            <a:srgbClr val="61E4FF"/>
          </a:solidFill>
          <a:ln/>
        </p:spPr>
      </p:sp>
      <p:sp>
        <p:nvSpPr>
          <p:cNvPr id="8" name="Shape 4"/>
          <p:cNvSpPr/>
          <p:nvPr/>
        </p:nvSpPr>
        <p:spPr>
          <a:xfrm>
            <a:off x="500063" y="1816633"/>
            <a:ext cx="8143875" cy="7144"/>
          </a:xfrm>
          <a:prstGeom prst="rect">
            <a:avLst/>
          </a:prstGeom>
          <a:solidFill>
            <a:srgbClr val="B4F7E1"/>
          </a:solidFill>
          <a:ln/>
        </p:spPr>
      </p:sp>
      <p:sp>
        <p:nvSpPr>
          <p:cNvPr id="9" name="Text 5"/>
          <p:cNvSpPr/>
          <p:nvPr/>
        </p:nvSpPr>
        <p:spPr>
          <a:xfrm>
            <a:off x="642938" y="1378883"/>
            <a:ext cx="7858125" cy="418300"/>
          </a:xfrm>
          <a:prstGeom prst="rect">
            <a:avLst/>
          </a:prstGeom>
          <a:noFill/>
          <a:ln/>
        </p:spPr>
        <p:txBody>
          <a:bodyPr wrap="square" lIns="0" tIns="0" rIns="0" bIns="0" rtlCol="0" anchor="t">
            <a:spAutoFit/>
          </a:bodyPr>
          <a:lstStyle/>
          <a:p>
            <a:pPr marL="0" indent="0" algn="l">
              <a:lnSpc>
                <a:spcPct val="97600"/>
              </a:lnSpc>
              <a:buNone/>
            </a:pPr>
            <a:r>
              <a:rPr lang="en-US" sz="1250" dirty="0">
                <a:solidFill>
                  <a:srgbClr val="E6FBFF"/>
                </a:solidFill>
                <a:latin typeface="Space Grotesk Medium" pitchFamily="34" charset="0"/>
                <a:ea typeface="Space Grotesk Medium" pitchFamily="34" charset="-122"/>
                <a:cs typeface="Space Grotesk Medium" pitchFamily="34" charset="-120"/>
              </a:rPr>
              <a:t>Cada reto reveló una pieza crítica del sistema y terminó convertido en una mejora de </a:t>
            </a:r>
            <a:r>
              <a:rPr lang="en-US" sz="1200" b="1" dirty="0">
                <a:solidFill>
                  <a:srgbClr val="22E6A8"/>
                </a:solidFill>
                <a:latin typeface="Space Grotesk Bold" pitchFamily="34" charset="0"/>
                <a:ea typeface="Space Grotesk Bold" pitchFamily="34" charset="-122"/>
                <a:cs typeface="Space Grotesk Bold" pitchFamily="34" charset="-120"/>
              </a:rPr>
              <a:t>robustez, trazabilidad y experiencia de usuario</a:t>
            </a:r>
            <a:r>
              <a:rPr lang="en-US" sz="1250" dirty="0">
                <a:solidFill>
                  <a:srgbClr val="E6FBFF"/>
                </a:solidFill>
                <a:latin typeface="Space Grotesk Medium" pitchFamily="34" charset="0"/>
                <a:ea typeface="Space Grotesk Medium" pitchFamily="34" charset="-122"/>
                <a:cs typeface="Space Grotesk Medium" pitchFamily="34" charset="-120"/>
              </a:rPr>
              <a:t>.</a:t>
            </a:r>
            <a:endParaRPr lang="en-US" sz="1250" dirty="0"/>
          </a:p>
        </p:txBody>
      </p:sp>
      <p:sp>
        <p:nvSpPr>
          <p:cNvPr id="10" name="Shape 6"/>
          <p:cNvSpPr/>
          <p:nvPr/>
        </p:nvSpPr>
        <p:spPr>
          <a:xfrm>
            <a:off x="500063" y="2023802"/>
            <a:ext cx="8143875" cy="2257425"/>
          </a:xfrm>
          <a:prstGeom prst="rect">
            <a:avLst/>
          </a:prstGeom>
          <a:solidFill>
            <a:srgbClr val="07111F">
              <a:alpha val="2000"/>
            </a:srgbClr>
          </a:solidFill>
          <a:ln/>
        </p:spPr>
      </p:sp>
      <p:sp>
        <p:nvSpPr>
          <p:cNvPr id="11" name="Shape 7"/>
          <p:cNvSpPr/>
          <p:nvPr/>
        </p:nvSpPr>
        <p:spPr>
          <a:xfrm>
            <a:off x="500063" y="2023802"/>
            <a:ext cx="8143875" cy="7144"/>
          </a:xfrm>
          <a:prstGeom prst="rect">
            <a:avLst/>
          </a:prstGeom>
          <a:solidFill>
            <a:srgbClr val="85EAFF"/>
          </a:solidFill>
          <a:ln/>
        </p:spPr>
      </p:sp>
      <p:sp>
        <p:nvSpPr>
          <p:cNvPr id="12" name="Shape 8"/>
          <p:cNvSpPr/>
          <p:nvPr/>
        </p:nvSpPr>
        <p:spPr>
          <a:xfrm>
            <a:off x="500063" y="4274083"/>
            <a:ext cx="8143875" cy="7144"/>
          </a:xfrm>
          <a:prstGeom prst="rect">
            <a:avLst/>
          </a:prstGeom>
          <a:solidFill>
            <a:srgbClr val="BDF4FF"/>
          </a:solidFill>
          <a:ln/>
        </p:spPr>
      </p:sp>
      <p:sp>
        <p:nvSpPr>
          <p:cNvPr id="13" name="Shape 9"/>
          <p:cNvSpPr/>
          <p:nvPr/>
        </p:nvSpPr>
        <p:spPr>
          <a:xfrm>
            <a:off x="500063" y="2023802"/>
            <a:ext cx="8143875" cy="314325"/>
          </a:xfrm>
          <a:prstGeom prst="rect">
            <a:avLst/>
          </a:prstGeom>
          <a:solidFill>
            <a:srgbClr val="000000">
              <a:alpha val="0"/>
            </a:srgbClr>
          </a:solidFill>
          <a:ln/>
        </p:spPr>
      </p:sp>
      <p:sp>
        <p:nvSpPr>
          <p:cNvPr id="14" name="Shape 10"/>
          <p:cNvSpPr/>
          <p:nvPr/>
        </p:nvSpPr>
        <p:spPr>
          <a:xfrm>
            <a:off x="500063" y="2330983"/>
            <a:ext cx="8143875" cy="7144"/>
          </a:xfrm>
          <a:prstGeom prst="rect">
            <a:avLst/>
          </a:prstGeom>
          <a:solidFill>
            <a:srgbClr val="B8F3FF"/>
          </a:solidFill>
          <a:ln/>
        </p:spPr>
      </p:sp>
      <p:sp>
        <p:nvSpPr>
          <p:cNvPr id="15" name="Text 11"/>
          <p:cNvSpPr/>
          <p:nvPr/>
        </p:nvSpPr>
        <p:spPr>
          <a:xfrm>
            <a:off x="657225" y="2112206"/>
            <a:ext cx="500063" cy="137517"/>
          </a:xfrm>
          <a:prstGeom prst="rect">
            <a:avLst/>
          </a:prstGeom>
          <a:noFill/>
          <a:ln/>
        </p:spPr>
        <p:txBody>
          <a:bodyPr wrap="none" lIns="0" tIns="0" rIns="0" bIns="0" rtlCol="0" anchor="t">
            <a:spAutoFit/>
          </a:bodyPr>
          <a:lstStyle/>
          <a:p>
            <a:pPr marL="0" indent="0" algn="l">
              <a:buNone/>
            </a:pPr>
            <a:r>
              <a:rPr lang="en-US" sz="800" kern="0" spc="1" dirty="0">
                <a:solidFill>
                  <a:srgbClr val="00D4FF"/>
                </a:solidFill>
                <a:latin typeface="Space Grotesk Medium" pitchFamily="34" charset="0"/>
                <a:ea typeface="Space Grotesk Medium" pitchFamily="34" charset="-122"/>
                <a:cs typeface="Space Grotesk Medium" pitchFamily="34" charset="-120"/>
              </a:rPr>
              <a:t>ID</a:t>
            </a:r>
            <a:endParaRPr lang="en-US" sz="800" dirty="0"/>
          </a:p>
        </p:txBody>
      </p:sp>
      <p:sp>
        <p:nvSpPr>
          <p:cNvPr id="16" name="Text 12"/>
          <p:cNvSpPr/>
          <p:nvPr/>
        </p:nvSpPr>
        <p:spPr>
          <a:xfrm>
            <a:off x="1328738" y="2112206"/>
            <a:ext cx="2714625" cy="137517"/>
          </a:xfrm>
          <a:prstGeom prst="rect">
            <a:avLst/>
          </a:prstGeom>
          <a:noFill/>
          <a:ln/>
        </p:spPr>
        <p:txBody>
          <a:bodyPr wrap="square" lIns="0" tIns="0" rIns="0" bIns="0" rtlCol="0" anchor="t">
            <a:spAutoFit/>
          </a:bodyPr>
          <a:lstStyle/>
          <a:p>
            <a:pPr marL="0" indent="0" algn="l">
              <a:buNone/>
            </a:pPr>
            <a:r>
              <a:rPr lang="en-US" sz="800" kern="0" spc="1" dirty="0">
                <a:solidFill>
                  <a:srgbClr val="00D4FF"/>
                </a:solidFill>
                <a:latin typeface="Space Grotesk Medium" pitchFamily="34" charset="0"/>
                <a:ea typeface="Space Grotesk Medium" pitchFamily="34" charset="-122"/>
                <a:cs typeface="Space Grotesk Medium" pitchFamily="34" charset="-120"/>
              </a:rPr>
              <a:t>RETO</a:t>
            </a:r>
            <a:endParaRPr lang="en-US" sz="800" dirty="0"/>
          </a:p>
        </p:txBody>
      </p:sp>
      <p:sp>
        <p:nvSpPr>
          <p:cNvPr id="17" name="Text 13"/>
          <p:cNvSpPr/>
          <p:nvPr/>
        </p:nvSpPr>
        <p:spPr>
          <a:xfrm>
            <a:off x="4214813" y="2112206"/>
            <a:ext cx="4271963" cy="137517"/>
          </a:xfrm>
          <a:prstGeom prst="rect">
            <a:avLst/>
          </a:prstGeom>
          <a:noFill/>
          <a:ln/>
        </p:spPr>
        <p:txBody>
          <a:bodyPr wrap="square" lIns="0" tIns="0" rIns="0" bIns="0" rtlCol="0" anchor="t">
            <a:spAutoFit/>
          </a:bodyPr>
          <a:lstStyle/>
          <a:p>
            <a:pPr marL="0" indent="0" algn="l">
              <a:buNone/>
            </a:pPr>
            <a:r>
              <a:rPr lang="en-US" sz="800" kern="0" spc="1" dirty="0">
                <a:solidFill>
                  <a:srgbClr val="00D4FF"/>
                </a:solidFill>
                <a:latin typeface="Space Grotesk Medium" pitchFamily="34" charset="0"/>
                <a:ea typeface="Space Grotesk Medium" pitchFamily="34" charset="-122"/>
                <a:cs typeface="Space Grotesk Medium" pitchFamily="34" charset="-120"/>
              </a:rPr>
              <a:t>RESOLUCIÓN APLICADA</a:t>
            </a:r>
            <a:endParaRPr lang="en-US" sz="800" dirty="0"/>
          </a:p>
        </p:txBody>
      </p:sp>
      <p:sp>
        <p:nvSpPr>
          <p:cNvPr id="18" name="Shape 14"/>
          <p:cNvSpPr/>
          <p:nvPr/>
        </p:nvSpPr>
        <p:spPr>
          <a:xfrm>
            <a:off x="500063" y="2338127"/>
            <a:ext cx="8143875" cy="385763"/>
          </a:xfrm>
          <a:prstGeom prst="rect">
            <a:avLst/>
          </a:prstGeom>
          <a:solidFill>
            <a:srgbClr val="000000">
              <a:alpha val="0"/>
            </a:srgbClr>
          </a:solidFill>
          <a:ln/>
        </p:spPr>
      </p:sp>
      <p:sp>
        <p:nvSpPr>
          <p:cNvPr id="19" name="Shape 15"/>
          <p:cNvSpPr/>
          <p:nvPr/>
        </p:nvSpPr>
        <p:spPr>
          <a:xfrm>
            <a:off x="500063" y="2338127"/>
            <a:ext cx="8143875" cy="7144"/>
          </a:xfrm>
          <a:prstGeom prst="rect">
            <a:avLst/>
          </a:prstGeom>
          <a:solidFill>
            <a:srgbClr val="F5F7FA"/>
          </a:solidFill>
          <a:ln/>
        </p:spPr>
      </p:sp>
      <p:sp>
        <p:nvSpPr>
          <p:cNvPr id="20" name="Text 16"/>
          <p:cNvSpPr/>
          <p:nvPr/>
        </p:nvSpPr>
        <p:spPr>
          <a:xfrm>
            <a:off x="657225" y="2448855"/>
            <a:ext cx="500063" cy="164306"/>
          </a:xfrm>
          <a:prstGeom prst="rect">
            <a:avLst/>
          </a:prstGeom>
          <a:noFill/>
          <a:ln/>
        </p:spPr>
        <p:txBody>
          <a:bodyPr wrap="none" lIns="0" tIns="0" rIns="0" bIns="0" rtlCol="0" anchor="t">
            <a:spAutoFit/>
          </a:bodyPr>
          <a:lstStyle/>
          <a:p>
            <a:pPr marL="0" indent="0" algn="l">
              <a:buNone/>
            </a:pPr>
            <a:r>
              <a:rPr lang="en-US" sz="900" b="1" dirty="0">
                <a:solidFill>
                  <a:srgbClr val="FFB547"/>
                </a:solidFill>
                <a:latin typeface="Space Grotesk Bold" pitchFamily="34" charset="0"/>
                <a:ea typeface="Space Grotesk Bold" pitchFamily="34" charset="-122"/>
                <a:cs typeface="Space Grotesk Bold" pitchFamily="34" charset="-120"/>
              </a:rPr>
              <a:t>R-01</a:t>
            </a:r>
            <a:endParaRPr lang="en-US" sz="900" dirty="0"/>
          </a:p>
        </p:txBody>
      </p:sp>
      <p:sp>
        <p:nvSpPr>
          <p:cNvPr id="21" name="Text 17"/>
          <p:cNvSpPr/>
          <p:nvPr/>
        </p:nvSpPr>
        <p:spPr>
          <a:xfrm>
            <a:off x="1328738" y="2419583"/>
            <a:ext cx="2714625" cy="111426"/>
          </a:xfrm>
          <a:prstGeom prst="rect">
            <a:avLst/>
          </a:prstGeom>
          <a:noFill/>
          <a:ln/>
        </p:spPr>
        <p:txBody>
          <a:bodyPr wrap="none" lIns="0" tIns="0" rIns="0" bIns="0" rtlCol="0" anchor="t">
            <a:spAutoFit/>
          </a:bodyPr>
          <a:lstStyle/>
          <a:p>
            <a:pPr marL="0" indent="0" algn="l">
              <a:lnSpc>
                <a:spcPct val="96000"/>
              </a:lnSpc>
              <a:buNone/>
            </a:pPr>
            <a:r>
              <a:rPr lang="en-US" sz="650" dirty="0">
                <a:solidFill>
                  <a:srgbClr val="B7C8D9"/>
                </a:solidFill>
                <a:latin typeface="Inter Medium" pitchFamily="34" charset="0"/>
                <a:ea typeface="Inter Medium" pitchFamily="34" charset="-122"/>
                <a:cs typeface="Inter Medium" pitchFamily="34" charset="-120"/>
              </a:rPr>
              <a:t>Timing de credencialización</a:t>
            </a:r>
            <a:endParaRPr lang="en-US" sz="650" dirty="0"/>
          </a:p>
        </p:txBody>
      </p:sp>
      <p:sp>
        <p:nvSpPr>
          <p:cNvPr id="22" name="Text 18"/>
          <p:cNvSpPr/>
          <p:nvPr/>
        </p:nvSpPr>
        <p:spPr>
          <a:xfrm>
            <a:off x="1328738" y="2566727"/>
            <a:ext cx="2714625" cy="111426"/>
          </a:xfrm>
          <a:prstGeom prst="rect">
            <a:avLst/>
          </a:prstGeom>
          <a:noFill/>
          <a:ln/>
        </p:spPr>
        <p:txBody>
          <a:bodyPr wrap="none" lIns="0" tIns="0" rIns="0" bIns="0" rtlCol="0" anchor="t">
            <a:spAutoFit/>
          </a:bodyPr>
          <a:lstStyle/>
          <a:p>
            <a:pPr marL="0" indent="0" algn="l">
              <a:lnSpc>
                <a:spcPct val="96000"/>
              </a:lnSpc>
              <a:buNone/>
            </a:pPr>
            <a:r>
              <a:rPr lang="en-US" sz="650" dirty="0">
                <a:solidFill>
                  <a:srgbClr val="B7C8D9"/>
                </a:solidFill>
                <a:latin typeface="Inter Medium" pitchFamily="34" charset="0"/>
                <a:ea typeface="Inter Medium" pitchFamily="34" charset="-122"/>
                <a:cs typeface="Inter Medium" pitchFamily="34" charset="-120"/>
              </a:rPr>
              <a:t>El DID tarda 3–7 min en propagarse antes de recibir VC.</a:t>
            </a:r>
            <a:endParaRPr lang="en-US" sz="650" dirty="0"/>
          </a:p>
        </p:txBody>
      </p:sp>
      <p:sp>
        <p:nvSpPr>
          <p:cNvPr id="23" name="Text 19"/>
          <p:cNvSpPr/>
          <p:nvPr/>
        </p:nvSpPr>
        <p:spPr>
          <a:xfrm>
            <a:off x="4214813" y="2384729"/>
            <a:ext cx="4271963" cy="292559"/>
          </a:xfrm>
          <a:prstGeom prst="rect">
            <a:avLst/>
          </a:prstGeom>
          <a:noFill/>
          <a:ln/>
        </p:spPr>
        <p:txBody>
          <a:bodyPr wrap="square" lIns="0"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Se implementó un </a:t>
            </a:r>
            <a:r>
              <a:rPr lang="en-US" sz="800" b="1" dirty="0">
                <a:solidFill>
                  <a:srgbClr val="22E6A8"/>
                </a:solidFill>
                <a:latin typeface="Inter Bold" pitchFamily="34" charset="0"/>
                <a:ea typeface="Inter Bold" pitchFamily="34" charset="-122"/>
                <a:cs typeface="Inter Bold" pitchFamily="34" charset="-120"/>
              </a:rPr>
              <a:t>bucle de sondeo con backoff exponencial</a:t>
            </a:r>
            <a:r>
              <a:rPr lang="en-US" sz="850" dirty="0">
                <a:solidFill>
                  <a:srgbClr val="B7C8D9"/>
                </a:solidFill>
                <a:latin typeface="Inter" pitchFamily="34" charset="0"/>
                <a:ea typeface="Inter" pitchFamily="34" charset="-122"/>
                <a:cs typeface="Inter" pitchFamily="34" charset="-120"/>
              </a:rPr>
              <a:t>, esperando pacientemente y notificando al usuario.</a:t>
            </a:r>
            <a:endParaRPr lang="en-US" sz="850" dirty="0"/>
          </a:p>
        </p:txBody>
      </p:sp>
      <p:sp>
        <p:nvSpPr>
          <p:cNvPr id="24" name="Shape 20"/>
          <p:cNvSpPr/>
          <p:nvPr/>
        </p:nvSpPr>
        <p:spPr>
          <a:xfrm>
            <a:off x="500063" y="2723890"/>
            <a:ext cx="8143875" cy="385763"/>
          </a:xfrm>
          <a:prstGeom prst="rect">
            <a:avLst/>
          </a:prstGeom>
          <a:solidFill>
            <a:srgbClr val="000000">
              <a:alpha val="0"/>
            </a:srgbClr>
          </a:solidFill>
          <a:ln/>
        </p:spPr>
      </p:sp>
      <p:sp>
        <p:nvSpPr>
          <p:cNvPr id="25" name="Shape 21"/>
          <p:cNvSpPr/>
          <p:nvPr/>
        </p:nvSpPr>
        <p:spPr>
          <a:xfrm>
            <a:off x="500063" y="2723890"/>
            <a:ext cx="8143875" cy="7144"/>
          </a:xfrm>
          <a:prstGeom prst="rect">
            <a:avLst/>
          </a:prstGeom>
          <a:solidFill>
            <a:srgbClr val="F5F7FA"/>
          </a:solidFill>
          <a:ln/>
        </p:spPr>
      </p:sp>
      <p:sp>
        <p:nvSpPr>
          <p:cNvPr id="26" name="Text 22"/>
          <p:cNvSpPr/>
          <p:nvPr/>
        </p:nvSpPr>
        <p:spPr>
          <a:xfrm>
            <a:off x="657225" y="2834618"/>
            <a:ext cx="500063" cy="164306"/>
          </a:xfrm>
          <a:prstGeom prst="rect">
            <a:avLst/>
          </a:prstGeom>
          <a:noFill/>
          <a:ln/>
        </p:spPr>
        <p:txBody>
          <a:bodyPr wrap="none" lIns="0" tIns="0" rIns="0" bIns="0" rtlCol="0" anchor="t">
            <a:spAutoFit/>
          </a:bodyPr>
          <a:lstStyle/>
          <a:p>
            <a:pPr marL="0" indent="0" algn="l">
              <a:buNone/>
            </a:pPr>
            <a:r>
              <a:rPr lang="en-US" sz="900" b="1" dirty="0">
                <a:solidFill>
                  <a:srgbClr val="FFB547"/>
                </a:solidFill>
                <a:latin typeface="Space Grotesk Bold" pitchFamily="34" charset="0"/>
                <a:ea typeface="Space Grotesk Bold" pitchFamily="34" charset="-122"/>
                <a:cs typeface="Space Grotesk Bold" pitchFamily="34" charset="-120"/>
              </a:rPr>
              <a:t>R-02</a:t>
            </a:r>
            <a:endParaRPr lang="en-US" sz="900" dirty="0"/>
          </a:p>
        </p:txBody>
      </p:sp>
      <p:sp>
        <p:nvSpPr>
          <p:cNvPr id="27" name="Text 23"/>
          <p:cNvSpPr/>
          <p:nvPr/>
        </p:nvSpPr>
        <p:spPr>
          <a:xfrm>
            <a:off x="1328738" y="2805345"/>
            <a:ext cx="2714625" cy="111426"/>
          </a:xfrm>
          <a:prstGeom prst="rect">
            <a:avLst/>
          </a:prstGeom>
          <a:noFill/>
          <a:ln/>
        </p:spPr>
        <p:txBody>
          <a:bodyPr wrap="none" lIns="0" tIns="0" rIns="0" bIns="0" rtlCol="0" anchor="t">
            <a:spAutoFit/>
          </a:bodyPr>
          <a:lstStyle/>
          <a:p>
            <a:pPr marL="0" indent="0" algn="l">
              <a:lnSpc>
                <a:spcPct val="96000"/>
              </a:lnSpc>
              <a:buNone/>
            </a:pPr>
            <a:r>
              <a:rPr lang="en-US" sz="650" dirty="0">
                <a:solidFill>
                  <a:srgbClr val="B7C8D9"/>
                </a:solidFill>
                <a:latin typeface="Inter Medium" pitchFamily="34" charset="0"/>
                <a:ea typeface="Inter Medium" pitchFamily="34" charset="-122"/>
                <a:cs typeface="Inter Medium" pitchFamily="34" charset="-120"/>
              </a:rPr>
              <a:t>Lock de Helm</a:t>
            </a:r>
            <a:endParaRPr lang="en-US" sz="650" dirty="0"/>
          </a:p>
        </p:txBody>
      </p:sp>
      <p:sp>
        <p:nvSpPr>
          <p:cNvPr id="28" name="Text 24"/>
          <p:cNvSpPr/>
          <p:nvPr/>
        </p:nvSpPr>
        <p:spPr>
          <a:xfrm>
            <a:off x="1328738" y="2952490"/>
            <a:ext cx="2714625" cy="111426"/>
          </a:xfrm>
          <a:prstGeom prst="rect">
            <a:avLst/>
          </a:prstGeom>
          <a:noFill/>
          <a:ln/>
        </p:spPr>
        <p:txBody>
          <a:bodyPr wrap="none" lIns="0" tIns="0" rIns="0" bIns="0" rtlCol="0" anchor="t">
            <a:spAutoFit/>
          </a:bodyPr>
          <a:lstStyle/>
          <a:p>
            <a:pPr marL="0" indent="0" algn="l">
              <a:lnSpc>
                <a:spcPct val="96000"/>
              </a:lnSpc>
              <a:buNone/>
            </a:pPr>
            <a:r>
              <a:rPr lang="en-US" sz="650" dirty="0">
                <a:solidFill>
                  <a:srgbClr val="B7C8D9"/>
                </a:solidFill>
                <a:latin typeface="Inter Medium" pitchFamily="34" charset="0"/>
                <a:ea typeface="Inter Medium" pitchFamily="34" charset="-122"/>
                <a:cs typeface="Inter Medium" pitchFamily="34" charset="-120"/>
              </a:rPr>
              <a:t>Un despliegue fallido podía bloquear los siguientes releases.</a:t>
            </a:r>
            <a:endParaRPr lang="en-US" sz="650" dirty="0"/>
          </a:p>
        </p:txBody>
      </p:sp>
      <p:sp>
        <p:nvSpPr>
          <p:cNvPr id="29" name="Text 25"/>
          <p:cNvSpPr/>
          <p:nvPr/>
        </p:nvSpPr>
        <p:spPr>
          <a:xfrm>
            <a:off x="4214813" y="2843631"/>
            <a:ext cx="4271963" cy="146279"/>
          </a:xfrm>
          <a:prstGeom prst="rect">
            <a:avLst/>
          </a:prstGeom>
          <a:noFill/>
          <a:ln/>
        </p:spPr>
        <p:txBody>
          <a:bodyPr wrap="none" lIns="0"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Se agregó </a:t>
            </a:r>
            <a:r>
              <a:rPr lang="en-US" sz="800" b="1" dirty="0">
                <a:solidFill>
                  <a:srgbClr val="22E6A8"/>
                </a:solidFill>
                <a:latin typeface="Inter Bold" pitchFamily="34" charset="0"/>
                <a:ea typeface="Inter Bold" pitchFamily="34" charset="-122"/>
                <a:cs typeface="Inter Bold" pitchFamily="34" charset="-120"/>
              </a:rPr>
              <a:t>limpieza automática pre-deploy</a:t>
            </a:r>
            <a:r>
              <a:rPr lang="en-US" sz="850" dirty="0">
                <a:solidFill>
                  <a:srgbClr val="B7C8D9"/>
                </a:solidFill>
                <a:latin typeface="Inter" pitchFamily="34" charset="0"/>
                <a:ea typeface="Inter" pitchFamily="34" charset="-122"/>
                <a:cs typeface="Inter" pitchFamily="34" charset="-120"/>
              </a:rPr>
              <a:t> del lock dentro del pipeline CI/CD.</a:t>
            </a:r>
            <a:endParaRPr lang="en-US" sz="850" dirty="0"/>
          </a:p>
        </p:txBody>
      </p:sp>
      <p:sp>
        <p:nvSpPr>
          <p:cNvPr id="30" name="Shape 26"/>
          <p:cNvSpPr/>
          <p:nvPr/>
        </p:nvSpPr>
        <p:spPr>
          <a:xfrm>
            <a:off x="500063" y="3109652"/>
            <a:ext cx="8143875" cy="385763"/>
          </a:xfrm>
          <a:prstGeom prst="rect">
            <a:avLst/>
          </a:prstGeom>
          <a:solidFill>
            <a:srgbClr val="000000">
              <a:alpha val="0"/>
            </a:srgbClr>
          </a:solidFill>
          <a:ln/>
        </p:spPr>
      </p:sp>
      <p:sp>
        <p:nvSpPr>
          <p:cNvPr id="31" name="Shape 27"/>
          <p:cNvSpPr/>
          <p:nvPr/>
        </p:nvSpPr>
        <p:spPr>
          <a:xfrm>
            <a:off x="500063" y="3109652"/>
            <a:ext cx="8143875" cy="7144"/>
          </a:xfrm>
          <a:prstGeom prst="rect">
            <a:avLst/>
          </a:prstGeom>
          <a:solidFill>
            <a:srgbClr val="F5F7FA"/>
          </a:solidFill>
          <a:ln/>
        </p:spPr>
      </p:sp>
      <p:sp>
        <p:nvSpPr>
          <p:cNvPr id="32" name="Text 28"/>
          <p:cNvSpPr/>
          <p:nvPr/>
        </p:nvSpPr>
        <p:spPr>
          <a:xfrm>
            <a:off x="657225" y="3220380"/>
            <a:ext cx="500063" cy="164306"/>
          </a:xfrm>
          <a:prstGeom prst="rect">
            <a:avLst/>
          </a:prstGeom>
          <a:noFill/>
          <a:ln/>
        </p:spPr>
        <p:txBody>
          <a:bodyPr wrap="none" lIns="0" tIns="0" rIns="0" bIns="0" rtlCol="0" anchor="t">
            <a:spAutoFit/>
          </a:bodyPr>
          <a:lstStyle/>
          <a:p>
            <a:pPr marL="0" indent="0" algn="l">
              <a:buNone/>
            </a:pPr>
            <a:r>
              <a:rPr lang="en-US" sz="900" b="1" dirty="0">
                <a:solidFill>
                  <a:srgbClr val="FFB547"/>
                </a:solidFill>
                <a:latin typeface="Space Grotesk Bold" pitchFamily="34" charset="0"/>
                <a:ea typeface="Space Grotesk Bold" pitchFamily="34" charset="-122"/>
                <a:cs typeface="Space Grotesk Bold" pitchFamily="34" charset="-120"/>
              </a:rPr>
              <a:t>R-03</a:t>
            </a:r>
            <a:endParaRPr lang="en-US" sz="900" dirty="0"/>
          </a:p>
        </p:txBody>
      </p:sp>
      <p:sp>
        <p:nvSpPr>
          <p:cNvPr id="33" name="Text 29"/>
          <p:cNvSpPr/>
          <p:nvPr/>
        </p:nvSpPr>
        <p:spPr>
          <a:xfrm>
            <a:off x="1328738" y="3191108"/>
            <a:ext cx="2714625" cy="111426"/>
          </a:xfrm>
          <a:prstGeom prst="rect">
            <a:avLst/>
          </a:prstGeom>
          <a:noFill/>
          <a:ln/>
        </p:spPr>
        <p:txBody>
          <a:bodyPr wrap="none" lIns="0" tIns="0" rIns="0" bIns="0" rtlCol="0" anchor="t">
            <a:spAutoFit/>
          </a:bodyPr>
          <a:lstStyle/>
          <a:p>
            <a:pPr marL="0" indent="0" algn="l">
              <a:lnSpc>
                <a:spcPct val="96000"/>
              </a:lnSpc>
              <a:buNone/>
            </a:pPr>
            <a:r>
              <a:rPr lang="en-US" sz="650" dirty="0">
                <a:solidFill>
                  <a:srgbClr val="B7C8D9"/>
                </a:solidFill>
                <a:latin typeface="Inter Medium" pitchFamily="34" charset="0"/>
                <a:ea typeface="Inter Medium" pitchFamily="34" charset="-122"/>
                <a:cs typeface="Inter Medium" pitchFamily="34" charset="-120"/>
              </a:rPr>
              <a:t>QR de invitación OOB</a:t>
            </a:r>
            <a:endParaRPr lang="en-US" sz="650" dirty="0"/>
          </a:p>
        </p:txBody>
      </p:sp>
      <p:sp>
        <p:nvSpPr>
          <p:cNvPr id="34" name="Text 30"/>
          <p:cNvSpPr/>
          <p:nvPr/>
        </p:nvSpPr>
        <p:spPr>
          <a:xfrm>
            <a:off x="1328738" y="3338252"/>
            <a:ext cx="2714625" cy="111426"/>
          </a:xfrm>
          <a:prstGeom prst="rect">
            <a:avLst/>
          </a:prstGeom>
          <a:noFill/>
          <a:ln/>
        </p:spPr>
        <p:txBody>
          <a:bodyPr wrap="none" lIns="0" tIns="0" rIns="0" bIns="0" rtlCol="0" anchor="t">
            <a:spAutoFit/>
          </a:bodyPr>
          <a:lstStyle/>
          <a:p>
            <a:pPr marL="0" indent="0" algn="l">
              <a:lnSpc>
                <a:spcPct val="96000"/>
              </a:lnSpc>
              <a:buNone/>
            </a:pPr>
            <a:r>
              <a:rPr lang="en-US" sz="650" dirty="0">
                <a:solidFill>
                  <a:srgbClr val="B7C8D9"/>
                </a:solidFill>
                <a:latin typeface="Inter Medium" pitchFamily="34" charset="0"/>
                <a:ea typeface="Inter Medium" pitchFamily="34" charset="-122"/>
                <a:cs typeface="Inter Medium" pitchFamily="34" charset="-120"/>
              </a:rPr>
              <a:t>El VS Agent no expone fácilmente la invitación directa.</a:t>
            </a:r>
            <a:endParaRPr lang="en-US" sz="650" dirty="0"/>
          </a:p>
        </p:txBody>
      </p:sp>
      <p:sp>
        <p:nvSpPr>
          <p:cNvPr id="35" name="Text 31"/>
          <p:cNvSpPr/>
          <p:nvPr/>
        </p:nvSpPr>
        <p:spPr>
          <a:xfrm>
            <a:off x="4214813" y="3156254"/>
            <a:ext cx="4271963" cy="292559"/>
          </a:xfrm>
          <a:prstGeom prst="rect">
            <a:avLst/>
          </a:prstGeom>
          <a:noFill/>
          <a:ln/>
        </p:spPr>
        <p:txBody>
          <a:bodyPr wrap="square" lIns="0"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Se habilitó una </a:t>
            </a:r>
            <a:r>
              <a:rPr lang="en-US" sz="800" b="1" dirty="0">
                <a:solidFill>
                  <a:srgbClr val="22E6A8"/>
                </a:solidFill>
                <a:latin typeface="Inter Bold" pitchFamily="34" charset="0"/>
                <a:ea typeface="Inter Bold" pitchFamily="34" charset="-122"/>
                <a:cs typeface="Inter Bold" pitchFamily="34" charset="-120"/>
              </a:rPr>
              <a:t>solución temporal funcional</a:t>
            </a:r>
            <a:r>
              <a:rPr lang="en-US" sz="850" dirty="0">
                <a:solidFill>
                  <a:srgbClr val="B7C8D9"/>
                </a:solidFill>
                <a:latin typeface="Inter" pitchFamily="34" charset="0"/>
                <a:ea typeface="Inter" pitchFamily="34" charset="-122"/>
                <a:cs typeface="Inter" pitchFamily="34" charset="-120"/>
              </a:rPr>
              <a:t> con página pública del VS Agent; el flujo directo queda en desarrollo.</a:t>
            </a:r>
            <a:endParaRPr lang="en-US" sz="850" dirty="0"/>
          </a:p>
        </p:txBody>
      </p:sp>
      <p:sp>
        <p:nvSpPr>
          <p:cNvPr id="37" name="Shape 33"/>
          <p:cNvSpPr/>
          <p:nvPr/>
        </p:nvSpPr>
        <p:spPr>
          <a:xfrm>
            <a:off x="500063" y="3495415"/>
            <a:ext cx="8143875" cy="7144"/>
          </a:xfrm>
          <a:prstGeom prst="rect">
            <a:avLst/>
          </a:prstGeom>
          <a:solidFill>
            <a:srgbClr val="F5F7FA"/>
          </a:solidFill>
          <a:ln/>
        </p:spPr>
      </p:sp>
      <p:sp>
        <p:nvSpPr>
          <p:cNvPr id="38" name="Text 34"/>
          <p:cNvSpPr/>
          <p:nvPr/>
        </p:nvSpPr>
        <p:spPr>
          <a:xfrm>
            <a:off x="657225" y="3606143"/>
            <a:ext cx="500063" cy="164306"/>
          </a:xfrm>
          <a:prstGeom prst="rect">
            <a:avLst/>
          </a:prstGeom>
          <a:noFill/>
          <a:ln/>
        </p:spPr>
        <p:txBody>
          <a:bodyPr wrap="none" lIns="0" tIns="0" rIns="0" bIns="0" rtlCol="0" anchor="t">
            <a:spAutoFit/>
          </a:bodyPr>
          <a:lstStyle/>
          <a:p>
            <a:pPr marL="0" indent="0" algn="l">
              <a:buNone/>
            </a:pPr>
            <a:r>
              <a:rPr lang="en-US" sz="900" b="1" dirty="0">
                <a:solidFill>
                  <a:srgbClr val="FFB547"/>
                </a:solidFill>
                <a:latin typeface="Space Grotesk Bold" pitchFamily="34" charset="0"/>
                <a:ea typeface="Space Grotesk Bold" pitchFamily="34" charset="-122"/>
                <a:cs typeface="Space Grotesk Bold" pitchFamily="34" charset="-120"/>
              </a:rPr>
              <a:t>R-04</a:t>
            </a:r>
            <a:endParaRPr lang="en-US" sz="900" dirty="0"/>
          </a:p>
        </p:txBody>
      </p:sp>
      <p:sp>
        <p:nvSpPr>
          <p:cNvPr id="39" name="Text 35"/>
          <p:cNvSpPr/>
          <p:nvPr/>
        </p:nvSpPr>
        <p:spPr>
          <a:xfrm>
            <a:off x="1328738" y="3576870"/>
            <a:ext cx="900888" cy="96052"/>
          </a:xfrm>
          <a:prstGeom prst="rect">
            <a:avLst/>
          </a:prstGeom>
          <a:noFill/>
          <a:ln/>
        </p:spPr>
        <p:txBody>
          <a:bodyPr wrap="none" lIns="0" tIns="0" rIns="0" bIns="0" rtlCol="0" anchor="t">
            <a:spAutoFit/>
          </a:bodyPr>
          <a:lstStyle/>
          <a:p>
            <a:pPr marL="0" indent="0" algn="l">
              <a:lnSpc>
                <a:spcPct val="96000"/>
              </a:lnSpc>
              <a:buNone/>
            </a:pPr>
            <a:r>
              <a:rPr lang="en-US" sz="650" dirty="0" err="1" smtClean="0">
                <a:solidFill>
                  <a:srgbClr val="B7C8D9"/>
                </a:solidFill>
                <a:latin typeface="Inter Medium" pitchFamily="34" charset="0"/>
                <a:ea typeface="Inter Medium" pitchFamily="34" charset="-122"/>
                <a:cs typeface="Inter Medium" pitchFamily="34" charset="-120"/>
              </a:rPr>
              <a:t>Espacio</a:t>
            </a:r>
            <a:r>
              <a:rPr lang="en-US" sz="650" dirty="0" smtClean="0">
                <a:solidFill>
                  <a:srgbClr val="B7C8D9"/>
                </a:solidFill>
                <a:latin typeface="Inter Medium" pitchFamily="34" charset="0"/>
                <a:ea typeface="Inter Medium" pitchFamily="34" charset="-122"/>
                <a:cs typeface="Inter Medium" pitchFamily="34" charset="-120"/>
              </a:rPr>
              <a:t> del Namespace</a:t>
            </a:r>
            <a:endParaRPr lang="en-US" sz="650" dirty="0"/>
          </a:p>
        </p:txBody>
      </p:sp>
      <p:sp>
        <p:nvSpPr>
          <p:cNvPr id="40" name="Text 36"/>
          <p:cNvSpPr/>
          <p:nvPr/>
        </p:nvSpPr>
        <p:spPr>
          <a:xfrm>
            <a:off x="1328738" y="3724015"/>
            <a:ext cx="1183016" cy="96052"/>
          </a:xfrm>
          <a:prstGeom prst="rect">
            <a:avLst/>
          </a:prstGeom>
          <a:noFill/>
          <a:ln/>
        </p:spPr>
        <p:txBody>
          <a:bodyPr wrap="none" lIns="0" tIns="0" rIns="0" bIns="0" rtlCol="0" anchor="t">
            <a:spAutoFit/>
          </a:bodyPr>
          <a:lstStyle/>
          <a:p>
            <a:pPr marL="0" indent="0" algn="l">
              <a:lnSpc>
                <a:spcPct val="96000"/>
              </a:lnSpc>
              <a:buNone/>
            </a:pPr>
            <a:r>
              <a:rPr lang="en-US" sz="650" dirty="0" smtClean="0">
                <a:solidFill>
                  <a:srgbClr val="B7C8D9"/>
                </a:solidFill>
                <a:latin typeface="Inter Medium" pitchFamily="34" charset="0"/>
                <a:ea typeface="Inter Medium" pitchFamily="34" charset="-122"/>
                <a:cs typeface="Inter Medium" pitchFamily="34" charset="-120"/>
              </a:rPr>
              <a:t>Namespace </a:t>
            </a:r>
            <a:r>
              <a:rPr lang="en-US" sz="650" dirty="0" err="1" smtClean="0">
                <a:solidFill>
                  <a:srgbClr val="B7C8D9"/>
                </a:solidFill>
                <a:latin typeface="Inter Medium" pitchFamily="34" charset="0"/>
                <a:ea typeface="Inter Medium" pitchFamily="34" charset="-122"/>
                <a:cs typeface="Inter Medium" pitchFamily="34" charset="-120"/>
              </a:rPr>
              <a:t>limitado</a:t>
            </a:r>
            <a:r>
              <a:rPr lang="en-US" sz="650" dirty="0" smtClean="0">
                <a:solidFill>
                  <a:srgbClr val="B7C8D9"/>
                </a:solidFill>
                <a:latin typeface="Inter Medium" pitchFamily="34" charset="0"/>
                <a:ea typeface="Inter Medium" pitchFamily="34" charset="-122"/>
                <a:cs typeface="Inter Medium" pitchFamily="34" charset="-120"/>
              </a:rPr>
              <a:t> </a:t>
            </a:r>
            <a:r>
              <a:rPr lang="en-US" sz="650" dirty="0" err="1" smtClean="0">
                <a:solidFill>
                  <a:srgbClr val="B7C8D9"/>
                </a:solidFill>
                <a:latin typeface="Inter Medium" pitchFamily="34" charset="0"/>
                <a:ea typeface="Inter Medium" pitchFamily="34" charset="-122"/>
                <a:cs typeface="Inter Medium" pitchFamily="34" charset="-120"/>
              </a:rPr>
              <a:t>en</a:t>
            </a:r>
            <a:r>
              <a:rPr lang="en-US" sz="650" dirty="0" smtClean="0">
                <a:solidFill>
                  <a:srgbClr val="B7C8D9"/>
                </a:solidFill>
                <a:latin typeface="Inter Medium" pitchFamily="34" charset="0"/>
                <a:ea typeface="Inter Medium" pitchFamily="34" charset="-122"/>
                <a:cs typeface="Inter Medium" pitchFamily="34" charset="-120"/>
              </a:rPr>
              <a:t> </a:t>
            </a:r>
            <a:r>
              <a:rPr lang="en-US" sz="650" dirty="0" err="1" smtClean="0">
                <a:solidFill>
                  <a:srgbClr val="B7C8D9"/>
                </a:solidFill>
                <a:latin typeface="Inter Medium" pitchFamily="34" charset="0"/>
                <a:ea typeface="Inter Medium" pitchFamily="34" charset="-122"/>
                <a:cs typeface="Inter Medium" pitchFamily="34" charset="-120"/>
              </a:rPr>
              <a:t>espacio</a:t>
            </a:r>
            <a:endParaRPr lang="en-US" sz="650" dirty="0"/>
          </a:p>
        </p:txBody>
      </p:sp>
      <p:sp>
        <p:nvSpPr>
          <p:cNvPr id="41" name="Text 37"/>
          <p:cNvSpPr/>
          <p:nvPr/>
        </p:nvSpPr>
        <p:spPr>
          <a:xfrm>
            <a:off x="4214812" y="3627844"/>
            <a:ext cx="4271963" cy="128048"/>
          </a:xfrm>
          <a:prstGeom prst="rect">
            <a:avLst/>
          </a:prstGeom>
          <a:noFill/>
          <a:ln/>
        </p:spPr>
        <p:txBody>
          <a:bodyPr wrap="square" lIns="0" tIns="0" rIns="0" bIns="0" rtlCol="0" anchor="t">
            <a:spAutoFit/>
          </a:bodyPr>
          <a:lstStyle/>
          <a:p>
            <a:pPr marL="0" indent="0" algn="l">
              <a:lnSpc>
                <a:spcPct val="102400"/>
              </a:lnSpc>
              <a:buNone/>
            </a:pPr>
            <a:r>
              <a:rPr lang="en-US" sz="850" dirty="0" err="1" smtClean="0">
                <a:solidFill>
                  <a:srgbClr val="B7C8D9"/>
                </a:solidFill>
                <a:latin typeface="Inter" pitchFamily="34" charset="0"/>
                <a:ea typeface="Inter" pitchFamily="34" charset="-122"/>
                <a:cs typeface="Inter" pitchFamily="34" charset="-120"/>
              </a:rPr>
              <a:t>Permitia</a:t>
            </a:r>
            <a:r>
              <a:rPr lang="en-US" sz="850" dirty="0" smtClean="0">
                <a:solidFill>
                  <a:srgbClr val="B7C8D9"/>
                </a:solidFill>
                <a:latin typeface="Inter" pitchFamily="34" charset="0"/>
                <a:ea typeface="Inter" pitchFamily="34" charset="-122"/>
                <a:cs typeface="Inter" pitchFamily="34" charset="-120"/>
              </a:rPr>
              <a:t> </a:t>
            </a:r>
            <a:r>
              <a:rPr lang="en-US" sz="800" b="1" dirty="0" err="1">
                <a:solidFill>
                  <a:srgbClr val="22E6A8"/>
                </a:solidFill>
                <a:latin typeface="Inter Bold" pitchFamily="34" charset="0"/>
                <a:ea typeface="Inter Bold" pitchFamily="34" charset="-122"/>
                <a:cs typeface="Inter Bold" pitchFamily="34" charset="-120"/>
              </a:rPr>
              <a:t>publicar</a:t>
            </a:r>
            <a:r>
              <a:rPr lang="en-US" sz="800" b="1" dirty="0">
                <a:solidFill>
                  <a:srgbClr val="22E6A8"/>
                </a:solidFill>
                <a:latin typeface="Inter Bold" pitchFamily="34" charset="0"/>
                <a:ea typeface="Inter Bold" pitchFamily="34" charset="-122"/>
                <a:cs typeface="Inter Bold" pitchFamily="34" charset="-120"/>
              </a:rPr>
              <a:t> </a:t>
            </a:r>
            <a:r>
              <a:rPr lang="en-US" sz="800" b="1" dirty="0" err="1">
                <a:solidFill>
                  <a:srgbClr val="22E6A8"/>
                </a:solidFill>
                <a:latin typeface="Inter Bold" pitchFamily="34" charset="0"/>
                <a:ea typeface="Inter Bold" pitchFamily="34" charset="-122"/>
                <a:cs typeface="Inter Bold" pitchFamily="34" charset="-120"/>
              </a:rPr>
              <a:t>una</a:t>
            </a:r>
            <a:r>
              <a:rPr lang="en-US" sz="800" b="1" dirty="0">
                <a:solidFill>
                  <a:srgbClr val="22E6A8"/>
                </a:solidFill>
                <a:latin typeface="Inter Bold" pitchFamily="34" charset="0"/>
                <a:ea typeface="Inter Bold" pitchFamily="34" charset="-122"/>
                <a:cs typeface="Inter Bold" pitchFamily="34" charset="-120"/>
              </a:rPr>
              <a:t> </a:t>
            </a:r>
            <a:r>
              <a:rPr lang="en-US" sz="800" b="1" dirty="0" err="1">
                <a:solidFill>
                  <a:srgbClr val="22E6A8"/>
                </a:solidFill>
                <a:latin typeface="Inter Bold" pitchFamily="34" charset="0"/>
                <a:ea typeface="Inter Bold" pitchFamily="34" charset="-122"/>
                <a:cs typeface="Inter Bold" pitchFamily="34" charset="-120"/>
              </a:rPr>
              <a:t>cantidad</a:t>
            </a:r>
            <a:r>
              <a:rPr lang="en-US" sz="800" b="1" dirty="0">
                <a:solidFill>
                  <a:srgbClr val="22E6A8"/>
                </a:solidFill>
                <a:latin typeface="Inter Bold" pitchFamily="34" charset="0"/>
                <a:ea typeface="Inter Bold" pitchFamily="34" charset="-122"/>
                <a:cs typeface="Inter Bold" pitchFamily="34" charset="-120"/>
              </a:rPr>
              <a:t> </a:t>
            </a:r>
            <a:r>
              <a:rPr lang="en-US" sz="850" dirty="0" err="1" smtClean="0">
                <a:solidFill>
                  <a:srgbClr val="B7C8D9"/>
                </a:solidFill>
                <a:latin typeface="Inter" pitchFamily="34" charset="0"/>
                <a:ea typeface="Inter" pitchFamily="34" charset="-122"/>
                <a:cs typeface="Inter" pitchFamily="34" charset="-120"/>
              </a:rPr>
              <a:t>limitada</a:t>
            </a:r>
            <a:r>
              <a:rPr lang="en-US" sz="850" dirty="0" smtClean="0">
                <a:solidFill>
                  <a:srgbClr val="B7C8D9"/>
                </a:solidFill>
                <a:latin typeface="Inter" pitchFamily="34" charset="0"/>
                <a:ea typeface="Inter" pitchFamily="34" charset="-122"/>
                <a:cs typeface="Inter" pitchFamily="34" charset="-120"/>
              </a:rPr>
              <a:t> de </a:t>
            </a:r>
            <a:r>
              <a:rPr lang="en-US" sz="850" dirty="0" err="1" smtClean="0">
                <a:solidFill>
                  <a:srgbClr val="B7C8D9"/>
                </a:solidFill>
                <a:latin typeface="Inter" pitchFamily="34" charset="0"/>
                <a:ea typeface="Inter" pitchFamily="34" charset="-122"/>
                <a:cs typeface="Inter" pitchFamily="34" charset="-120"/>
              </a:rPr>
              <a:t>agentes</a:t>
            </a:r>
            <a:r>
              <a:rPr lang="en-US" sz="850" dirty="0" smtClean="0">
                <a:solidFill>
                  <a:srgbClr val="B7C8D9"/>
                </a:solidFill>
                <a:latin typeface="Inter" pitchFamily="34" charset="0"/>
                <a:ea typeface="Inter" pitchFamily="34" charset="-122"/>
                <a:cs typeface="Inter" pitchFamily="34" charset="-120"/>
              </a:rPr>
              <a:t>.</a:t>
            </a:r>
            <a:endParaRPr lang="en-US" sz="850" dirty="0"/>
          </a:p>
        </p:txBody>
      </p:sp>
      <p:sp>
        <p:nvSpPr>
          <p:cNvPr id="42" name="Shape 38"/>
          <p:cNvSpPr/>
          <p:nvPr/>
        </p:nvSpPr>
        <p:spPr>
          <a:xfrm>
            <a:off x="500063" y="3881177"/>
            <a:ext cx="8143875" cy="385763"/>
          </a:xfrm>
          <a:prstGeom prst="rect">
            <a:avLst/>
          </a:prstGeom>
          <a:solidFill>
            <a:srgbClr val="000000">
              <a:alpha val="0"/>
            </a:srgbClr>
          </a:solidFill>
          <a:ln/>
        </p:spPr>
      </p:sp>
      <p:sp>
        <p:nvSpPr>
          <p:cNvPr id="43" name="Shape 39"/>
          <p:cNvSpPr/>
          <p:nvPr/>
        </p:nvSpPr>
        <p:spPr>
          <a:xfrm>
            <a:off x="500063" y="3881177"/>
            <a:ext cx="8143875" cy="7144"/>
          </a:xfrm>
          <a:prstGeom prst="rect">
            <a:avLst/>
          </a:prstGeom>
          <a:solidFill>
            <a:srgbClr val="F5F7FA"/>
          </a:solidFill>
          <a:ln/>
        </p:spPr>
      </p:sp>
      <p:sp>
        <p:nvSpPr>
          <p:cNvPr id="44" name="Text 40"/>
          <p:cNvSpPr/>
          <p:nvPr/>
        </p:nvSpPr>
        <p:spPr>
          <a:xfrm>
            <a:off x="657225" y="3991905"/>
            <a:ext cx="500063" cy="164306"/>
          </a:xfrm>
          <a:prstGeom prst="rect">
            <a:avLst/>
          </a:prstGeom>
          <a:noFill/>
          <a:ln/>
        </p:spPr>
        <p:txBody>
          <a:bodyPr wrap="none" lIns="0" tIns="0" rIns="0" bIns="0" rtlCol="0" anchor="t">
            <a:spAutoFit/>
          </a:bodyPr>
          <a:lstStyle/>
          <a:p>
            <a:pPr marL="0" indent="0" algn="l">
              <a:buNone/>
            </a:pPr>
            <a:r>
              <a:rPr lang="en-US" sz="900" b="1" dirty="0">
                <a:solidFill>
                  <a:srgbClr val="FFB547"/>
                </a:solidFill>
                <a:latin typeface="Space Grotesk Bold" pitchFamily="34" charset="0"/>
                <a:ea typeface="Space Grotesk Bold" pitchFamily="34" charset="-122"/>
                <a:cs typeface="Space Grotesk Bold" pitchFamily="34" charset="-120"/>
              </a:rPr>
              <a:t>R-05</a:t>
            </a:r>
            <a:endParaRPr lang="en-US" sz="900" dirty="0"/>
          </a:p>
        </p:txBody>
      </p:sp>
      <p:sp>
        <p:nvSpPr>
          <p:cNvPr id="45" name="Text 41"/>
          <p:cNvSpPr/>
          <p:nvPr/>
        </p:nvSpPr>
        <p:spPr>
          <a:xfrm>
            <a:off x="1328738" y="3962633"/>
            <a:ext cx="2714625" cy="111426"/>
          </a:xfrm>
          <a:prstGeom prst="rect">
            <a:avLst/>
          </a:prstGeom>
          <a:noFill/>
          <a:ln/>
        </p:spPr>
        <p:txBody>
          <a:bodyPr wrap="none" lIns="0" tIns="0" rIns="0" bIns="0" rtlCol="0" anchor="t">
            <a:spAutoFit/>
          </a:bodyPr>
          <a:lstStyle/>
          <a:p>
            <a:pPr marL="0" indent="0" algn="l">
              <a:lnSpc>
                <a:spcPct val="96000"/>
              </a:lnSpc>
              <a:buNone/>
            </a:pPr>
            <a:r>
              <a:rPr lang="en-US" sz="650" dirty="0">
                <a:solidFill>
                  <a:srgbClr val="B7C8D9"/>
                </a:solidFill>
                <a:latin typeface="Inter Medium" pitchFamily="34" charset="0"/>
                <a:ea typeface="Inter Medium" pitchFamily="34" charset="-122"/>
                <a:cs typeface="Inter Medium" pitchFamily="34" charset="-120"/>
              </a:rPr>
              <a:t>Google OAuth en producción</a:t>
            </a:r>
            <a:endParaRPr lang="en-US" sz="650" dirty="0"/>
          </a:p>
        </p:txBody>
      </p:sp>
      <p:sp>
        <p:nvSpPr>
          <p:cNvPr id="46" name="Text 42"/>
          <p:cNvSpPr/>
          <p:nvPr/>
        </p:nvSpPr>
        <p:spPr>
          <a:xfrm>
            <a:off x="1328738" y="4109777"/>
            <a:ext cx="2714625" cy="111426"/>
          </a:xfrm>
          <a:prstGeom prst="rect">
            <a:avLst/>
          </a:prstGeom>
          <a:noFill/>
          <a:ln/>
        </p:spPr>
        <p:txBody>
          <a:bodyPr wrap="none" lIns="0" tIns="0" rIns="0" bIns="0" rtlCol="0" anchor="t">
            <a:spAutoFit/>
          </a:bodyPr>
          <a:lstStyle/>
          <a:p>
            <a:pPr marL="0" indent="0" algn="l">
              <a:lnSpc>
                <a:spcPct val="96000"/>
              </a:lnSpc>
              <a:buNone/>
            </a:pPr>
            <a:r>
              <a:rPr lang="en-US" sz="650" dirty="0">
                <a:solidFill>
                  <a:srgbClr val="B7C8D9"/>
                </a:solidFill>
                <a:latin typeface="Inter Medium" pitchFamily="34" charset="0"/>
                <a:ea typeface="Inter Medium" pitchFamily="34" charset="-122"/>
                <a:cs typeface="Inter Medium" pitchFamily="34" charset="-120"/>
              </a:rPr>
              <a:t>Las URLs heredadas apuntaban a localhost.</a:t>
            </a:r>
            <a:endParaRPr lang="en-US" sz="650" dirty="0"/>
          </a:p>
        </p:txBody>
      </p:sp>
      <p:sp>
        <p:nvSpPr>
          <p:cNvPr id="47" name="Text 43"/>
          <p:cNvSpPr/>
          <p:nvPr/>
        </p:nvSpPr>
        <p:spPr>
          <a:xfrm>
            <a:off x="4214813" y="4000919"/>
            <a:ext cx="4271963" cy="146279"/>
          </a:xfrm>
          <a:prstGeom prst="rect">
            <a:avLst/>
          </a:prstGeom>
          <a:noFill/>
          <a:ln/>
        </p:spPr>
        <p:txBody>
          <a:bodyPr wrap="none" lIns="0"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Se migró a </a:t>
            </a:r>
            <a:r>
              <a:rPr lang="en-US" sz="800" b="1" dirty="0">
                <a:solidFill>
                  <a:srgbClr val="22E6A8"/>
                </a:solidFill>
                <a:latin typeface="Inter Bold" pitchFamily="34" charset="0"/>
                <a:ea typeface="Inter Bold" pitchFamily="34" charset="-122"/>
                <a:cs typeface="Inter Bold" pitchFamily="34" charset="-120"/>
              </a:rPr>
              <a:t>rutas relativas</a:t>
            </a:r>
            <a:r>
              <a:rPr lang="en-US" sz="850" dirty="0">
                <a:solidFill>
                  <a:srgbClr val="B7C8D9"/>
                </a:solidFill>
                <a:latin typeface="Inter" pitchFamily="34" charset="0"/>
                <a:ea typeface="Inter" pitchFamily="34" charset="-122"/>
                <a:cs typeface="Inter" pitchFamily="34" charset="-120"/>
              </a:rPr>
              <a:t> y variables de entorno correctas en Helm.</a:t>
            </a:r>
            <a:endParaRPr lang="en-US" sz="850" dirty="0"/>
          </a:p>
        </p:txBody>
      </p:sp>
      <p:sp>
        <p:nvSpPr>
          <p:cNvPr id="48" name="Text 44"/>
          <p:cNvSpPr/>
          <p:nvPr/>
        </p:nvSpPr>
        <p:spPr>
          <a:xfrm>
            <a:off x="500063" y="4687360"/>
            <a:ext cx="1785938" cy="180715"/>
          </a:xfrm>
          <a:prstGeom prst="rect">
            <a:avLst/>
          </a:prstGeom>
          <a:noFill/>
          <a:ln/>
        </p:spPr>
        <p:txBody>
          <a:bodyPr wrap="none" lIns="0" tIns="0" rIns="0" bIns="0" rtlCol="0" anchor="t">
            <a:spAutoFit/>
          </a:bodyPr>
          <a:lstStyle/>
          <a:p>
            <a:pPr marL="0" indent="0" algn="l">
              <a:lnSpc>
                <a:spcPct val="88000"/>
              </a:lnSpc>
              <a:buNone/>
            </a:pPr>
            <a:r>
              <a:rPr lang="en-US" sz="1200" dirty="0">
                <a:solidFill>
                  <a:srgbClr val="00D4FF"/>
                </a:solidFill>
                <a:latin typeface="Space Grotesk Medium" pitchFamily="34" charset="0"/>
                <a:ea typeface="Space Grotesk Medium" pitchFamily="34" charset="-122"/>
                <a:cs typeface="Space Grotesk Medium" pitchFamily="34" charset="-120"/>
              </a:rPr>
              <a:t>Lectura correcta</a:t>
            </a:r>
            <a:endParaRPr lang="en-US" sz="1200" dirty="0"/>
          </a:p>
        </p:txBody>
      </p:sp>
      <p:sp>
        <p:nvSpPr>
          <p:cNvPr id="49" name="Text 45"/>
          <p:cNvSpPr/>
          <p:nvPr/>
        </p:nvSpPr>
        <p:spPr>
          <a:xfrm>
            <a:off x="2500313" y="4589134"/>
            <a:ext cx="6143625" cy="377168"/>
          </a:xfrm>
          <a:prstGeom prst="rect">
            <a:avLst/>
          </a:prstGeom>
          <a:noFill/>
          <a:ln/>
        </p:spPr>
        <p:txBody>
          <a:bodyPr wrap="square" lIns="0" tIns="0" rIns="0" bIns="0" rtlCol="0" anchor="t">
            <a:spAutoFit/>
          </a:bodyPr>
          <a:lstStyle/>
          <a:p>
            <a:pPr marL="0" indent="0" algn="l">
              <a:lnSpc>
                <a:spcPct val="105600"/>
              </a:lnSpc>
              <a:buNone/>
            </a:pPr>
            <a:r>
              <a:rPr lang="en-US" sz="1050" dirty="0">
                <a:solidFill>
                  <a:srgbClr val="B7C8D9"/>
                </a:solidFill>
                <a:latin typeface="Inter" pitchFamily="34" charset="0"/>
                <a:ea typeface="Inter" pitchFamily="34" charset="-122"/>
                <a:cs typeface="Inter" pitchFamily="34" charset="-120"/>
              </a:rPr>
              <a:t>Estos retos no son fallas: son evidencia de profundidad técnica. </a:t>
            </a:r>
            <a:r>
              <a:rPr lang="en-US" sz="1000" b="1" dirty="0">
                <a:solidFill>
                  <a:srgbClr val="E6FBFF"/>
                </a:solidFill>
                <a:latin typeface="Inter Bold" pitchFamily="34" charset="0"/>
                <a:ea typeface="Inter Bold" pitchFamily="34" charset="-122"/>
                <a:cs typeface="Inter Bold" pitchFamily="34" charset="-120"/>
              </a:rPr>
              <a:t>Los errores de producción enseñan más que los tutoriales.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00063" y="328613"/>
            <a:ext cx="8143875" cy="128588"/>
          </a:xfrm>
          <a:prstGeom prst="rect">
            <a:avLst/>
          </a:prstGeom>
          <a:noFill/>
          <a:ln/>
        </p:spPr>
        <p:txBody>
          <a:bodyPr wrap="square" lIns="0" tIns="0" rIns="0" bIns="0" rtlCol="0" anchor="t">
            <a:spAutoFit/>
          </a:bodyPr>
          <a:lstStyle/>
          <a:p>
            <a:pPr marL="0" indent="0" algn="l">
              <a:buNone/>
            </a:pPr>
            <a:r>
              <a:rPr lang="en-US" sz="750" b="1" kern="0" spc="2" dirty="0">
                <a:solidFill>
                  <a:srgbClr val="22E6A8"/>
                </a:solidFill>
                <a:latin typeface="Inter ExtraBold" pitchFamily="34" charset="0"/>
                <a:ea typeface="Inter ExtraBold" pitchFamily="34" charset="-122"/>
                <a:cs typeface="Inter ExtraBold" pitchFamily="34" charset="-120"/>
              </a:rPr>
              <a:t>FUTURO DEL PROYECTO</a:t>
            </a:r>
            <a:endParaRPr lang="en-US" sz="750" dirty="0"/>
          </a:p>
        </p:txBody>
      </p:sp>
      <p:sp>
        <p:nvSpPr>
          <p:cNvPr id="5" name="Text 1"/>
          <p:cNvSpPr/>
          <p:nvPr/>
        </p:nvSpPr>
        <p:spPr>
          <a:xfrm>
            <a:off x="500063" y="550069"/>
            <a:ext cx="6715125" cy="645058"/>
          </a:xfrm>
          <a:prstGeom prst="rect">
            <a:avLst/>
          </a:prstGeom>
          <a:noFill/>
          <a:ln/>
        </p:spPr>
        <p:txBody>
          <a:bodyPr wrap="square" lIns="0" tIns="0" rIns="0" bIns="0" rtlCol="0" anchor="t">
            <a:spAutoFit/>
          </a:bodyPr>
          <a:lstStyle/>
          <a:p>
            <a:pPr marL="0" indent="0" algn="l">
              <a:lnSpc>
                <a:spcPct val="84000"/>
              </a:lnSpc>
              <a:buNone/>
            </a:pPr>
            <a:r>
              <a:rPr lang="en-US" sz="2150" b="1" kern="0" spc="-1" dirty="0">
                <a:solidFill>
                  <a:srgbClr val="E6FBFF"/>
                </a:solidFill>
                <a:latin typeface="Space Grotesk Bold" pitchFamily="34" charset="0"/>
                <a:ea typeface="Space Grotesk Bold" pitchFamily="34" charset="-122"/>
                <a:cs typeface="Space Grotesk Bold" pitchFamily="34" charset="-120"/>
              </a:rPr>
              <a:t>NextAgent apunta a agentes verificables a escala</a:t>
            </a:r>
            <a:endParaRPr lang="en-US" sz="2150" dirty="0"/>
          </a:p>
        </p:txBody>
      </p:sp>
      <p:sp>
        <p:nvSpPr>
          <p:cNvPr id="6" name="Shape 2"/>
          <p:cNvSpPr/>
          <p:nvPr/>
        </p:nvSpPr>
        <p:spPr>
          <a:xfrm>
            <a:off x="500063" y="1366577"/>
            <a:ext cx="8143875" cy="742950"/>
          </a:xfrm>
          <a:prstGeom prst="rect">
            <a:avLst/>
          </a:prstGeom>
          <a:solidFill>
            <a:srgbClr val="00D4FF">
              <a:alpha val="7000"/>
            </a:srgbClr>
          </a:solidFill>
          <a:ln/>
        </p:spPr>
      </p:sp>
      <p:sp>
        <p:nvSpPr>
          <p:cNvPr id="7" name="Shape 3"/>
          <p:cNvSpPr/>
          <p:nvPr/>
        </p:nvSpPr>
        <p:spPr>
          <a:xfrm>
            <a:off x="500063" y="1366577"/>
            <a:ext cx="8143875" cy="14288"/>
          </a:xfrm>
          <a:prstGeom prst="rect">
            <a:avLst/>
          </a:prstGeom>
          <a:solidFill>
            <a:srgbClr val="60EDC0"/>
          </a:solidFill>
          <a:ln/>
        </p:spPr>
      </p:sp>
      <p:sp>
        <p:nvSpPr>
          <p:cNvPr id="8" name="Shape 4"/>
          <p:cNvSpPr/>
          <p:nvPr/>
        </p:nvSpPr>
        <p:spPr>
          <a:xfrm>
            <a:off x="500063" y="2102383"/>
            <a:ext cx="8143875" cy="7144"/>
          </a:xfrm>
          <a:prstGeom prst="rect">
            <a:avLst/>
          </a:prstGeom>
          <a:solidFill>
            <a:srgbClr val="A8F0FF"/>
          </a:solidFill>
          <a:ln/>
        </p:spPr>
      </p:sp>
      <p:sp>
        <p:nvSpPr>
          <p:cNvPr id="9" name="Text 5"/>
          <p:cNvSpPr/>
          <p:nvPr/>
        </p:nvSpPr>
        <p:spPr>
          <a:xfrm>
            <a:off x="685800" y="1629110"/>
            <a:ext cx="1214438" cy="217884"/>
          </a:xfrm>
          <a:prstGeom prst="rect">
            <a:avLst/>
          </a:prstGeom>
          <a:noFill/>
          <a:ln/>
        </p:spPr>
        <p:txBody>
          <a:bodyPr wrap="none" lIns="0" tIns="0" rIns="0" bIns="0" rtlCol="0" anchor="t">
            <a:spAutoFit/>
          </a:bodyPr>
          <a:lstStyle/>
          <a:p>
            <a:pPr marL="0" indent="0" algn="l">
              <a:buNone/>
            </a:pPr>
            <a:r>
              <a:rPr lang="en-US" sz="1250" dirty="0">
                <a:solidFill>
                  <a:srgbClr val="00D4FF"/>
                </a:solidFill>
                <a:latin typeface="Space Grotesk Medium" pitchFamily="34" charset="0"/>
                <a:ea typeface="Space Grotesk Medium" pitchFamily="34" charset="-122"/>
                <a:cs typeface="Space Grotesk Medium" pitchFamily="34" charset="-120"/>
              </a:rPr>
              <a:t>Visión</a:t>
            </a:r>
            <a:endParaRPr lang="en-US" sz="1250" dirty="0"/>
          </a:p>
        </p:txBody>
      </p:sp>
      <p:sp>
        <p:nvSpPr>
          <p:cNvPr id="10" name="Text 6"/>
          <p:cNvSpPr/>
          <p:nvPr/>
        </p:nvSpPr>
        <p:spPr>
          <a:xfrm>
            <a:off x="2085975" y="1518884"/>
            <a:ext cx="6343650" cy="438336"/>
          </a:xfrm>
          <a:prstGeom prst="rect">
            <a:avLst/>
          </a:prstGeom>
          <a:noFill/>
          <a:ln/>
        </p:spPr>
        <p:txBody>
          <a:bodyPr wrap="square" lIns="0" tIns="0" rIns="0" bIns="0" rtlCol="0" anchor="t">
            <a:spAutoFit/>
          </a:bodyPr>
          <a:lstStyle/>
          <a:p>
            <a:pPr marL="0" indent="0" algn="l">
              <a:lnSpc>
                <a:spcPct val="94400"/>
              </a:lnSpc>
              <a:buNone/>
            </a:pPr>
            <a:r>
              <a:rPr lang="en-US" sz="1400" dirty="0">
                <a:solidFill>
                  <a:srgbClr val="E6FBFF"/>
                </a:solidFill>
                <a:latin typeface="Space Grotesk Medium" pitchFamily="34" charset="0"/>
                <a:ea typeface="Space Grotesk Medium" pitchFamily="34" charset="-122"/>
                <a:cs typeface="Space Grotesk Medium" pitchFamily="34" charset="-120"/>
              </a:rPr>
              <a:t>Publicar un agente de IA verificable debería ser tan simple como </a:t>
            </a:r>
            <a:r>
              <a:rPr lang="en-US" sz="1300" b="1" dirty="0">
                <a:solidFill>
                  <a:srgbClr val="22E6A8"/>
                </a:solidFill>
                <a:latin typeface="Space Grotesk Bold" pitchFamily="34" charset="0"/>
                <a:ea typeface="Space Grotesk Bold" pitchFamily="34" charset="-122"/>
                <a:cs typeface="Space Grotesk Bold" pitchFamily="34" charset="-120"/>
              </a:rPr>
              <a:t>publicar una página web</a:t>
            </a:r>
            <a:r>
              <a:rPr lang="en-US" sz="1400" dirty="0">
                <a:solidFill>
                  <a:srgbClr val="E6FBFF"/>
                </a:solidFill>
                <a:latin typeface="Space Grotesk Medium" pitchFamily="34" charset="0"/>
                <a:ea typeface="Space Grotesk Medium" pitchFamily="34" charset="-122"/>
                <a:cs typeface="Space Grotesk Medium" pitchFamily="34" charset="-120"/>
              </a:rPr>
              <a:t>.</a:t>
            </a:r>
            <a:endParaRPr lang="en-US" sz="1400" dirty="0"/>
          </a:p>
        </p:txBody>
      </p:sp>
      <p:sp>
        <p:nvSpPr>
          <p:cNvPr id="11" name="Shape 7"/>
          <p:cNvSpPr/>
          <p:nvPr/>
        </p:nvSpPr>
        <p:spPr>
          <a:xfrm>
            <a:off x="500063" y="2409565"/>
            <a:ext cx="2552691" cy="1800225"/>
          </a:xfrm>
          <a:prstGeom prst="rect">
            <a:avLst/>
          </a:prstGeom>
          <a:solidFill>
            <a:srgbClr val="07111F">
              <a:alpha val="2000"/>
            </a:srgbClr>
          </a:solidFill>
          <a:ln/>
        </p:spPr>
      </p:sp>
      <p:sp>
        <p:nvSpPr>
          <p:cNvPr id="12" name="Shape 8"/>
          <p:cNvSpPr/>
          <p:nvPr/>
        </p:nvSpPr>
        <p:spPr>
          <a:xfrm>
            <a:off x="500063" y="2409565"/>
            <a:ext cx="2552691" cy="14288"/>
          </a:xfrm>
          <a:prstGeom prst="rect">
            <a:avLst/>
          </a:prstGeom>
          <a:solidFill>
            <a:srgbClr val="61E4FF"/>
          </a:solidFill>
          <a:ln/>
        </p:spPr>
      </p:sp>
      <p:sp>
        <p:nvSpPr>
          <p:cNvPr id="13" name="Shape 9"/>
          <p:cNvSpPr/>
          <p:nvPr/>
        </p:nvSpPr>
        <p:spPr>
          <a:xfrm rot="2700000">
            <a:off x="685800" y="2030946"/>
            <a:ext cx="271463" cy="271463"/>
          </a:xfrm>
          <a:prstGeom prst="rect">
            <a:avLst/>
          </a:prstGeom>
          <a:solidFill>
            <a:srgbClr val="07111F"/>
          </a:solidFill>
          <a:ln w="18288">
            <a:solidFill>
              <a:srgbClr val="00D4FF"/>
            </a:solidFill>
            <a:prstDash val="solid"/>
          </a:ln>
        </p:spPr>
      </p:sp>
      <p:sp>
        <p:nvSpPr>
          <p:cNvPr id="14" name="Text 10"/>
          <p:cNvSpPr/>
          <p:nvPr/>
        </p:nvSpPr>
        <p:spPr>
          <a:xfrm>
            <a:off x="695903" y="2035131"/>
            <a:ext cx="271463" cy="242888"/>
          </a:xfrm>
          <a:prstGeom prst="rect">
            <a:avLst/>
          </a:prstGeom>
          <a:noFill/>
          <a:ln/>
        </p:spPr>
        <p:txBody>
          <a:bodyPr wrap="none" lIns="0" tIns="0" rIns="0" bIns="0" rtlCol="0" anchor="t">
            <a:spAutoFit/>
          </a:bodyPr>
          <a:lstStyle/>
          <a:p>
            <a:pPr marL="0" indent="0" algn="ctr">
              <a:lnSpc>
                <a:spcPct val="209231"/>
              </a:lnSpc>
              <a:buNone/>
            </a:pPr>
            <a:r>
              <a:rPr lang="en-US" sz="650" b="1" dirty="0">
                <a:solidFill>
                  <a:srgbClr val="E6FBFF"/>
                </a:solidFill>
                <a:latin typeface="Space Grotesk Bold" pitchFamily="34" charset="0"/>
                <a:ea typeface="Space Grotesk Bold" pitchFamily="34" charset="-122"/>
                <a:cs typeface="Space Grotesk Bold" pitchFamily="34" charset="-120"/>
              </a:rPr>
              <a:t>1</a:t>
            </a:r>
            <a:endParaRPr lang="en-US" sz="650" dirty="0"/>
          </a:p>
        </p:txBody>
      </p:sp>
      <p:sp>
        <p:nvSpPr>
          <p:cNvPr id="15" name="Text 11"/>
          <p:cNvSpPr/>
          <p:nvPr/>
        </p:nvSpPr>
        <p:spPr>
          <a:xfrm>
            <a:off x="671513" y="2609590"/>
            <a:ext cx="2238366" cy="112514"/>
          </a:xfrm>
          <a:prstGeom prst="rect">
            <a:avLst/>
          </a:prstGeom>
          <a:noFill/>
          <a:ln/>
        </p:spPr>
        <p:txBody>
          <a:bodyPr wrap="square" lIns="0" tIns="0" rIns="0" bIns="0" rtlCol="0" anchor="t">
            <a:spAutoFit/>
          </a:bodyPr>
          <a:lstStyle/>
          <a:p>
            <a:pPr marL="0" indent="0" algn="l">
              <a:buNone/>
            </a:pPr>
            <a:r>
              <a:rPr lang="en-US" sz="650" b="1" kern="0" spc="1" dirty="0">
                <a:solidFill>
                  <a:srgbClr val="22E6A8"/>
                </a:solidFill>
                <a:latin typeface="Inter ExtraBold" pitchFamily="34" charset="0"/>
                <a:ea typeface="Inter ExtraBold" pitchFamily="34" charset="-122"/>
                <a:cs typeface="Inter ExtraBold" pitchFamily="34" charset="-120"/>
              </a:rPr>
              <a:t>CORTO PLAZO</a:t>
            </a:r>
            <a:endParaRPr lang="en-US" sz="650" dirty="0"/>
          </a:p>
        </p:txBody>
      </p:sp>
      <p:sp>
        <p:nvSpPr>
          <p:cNvPr id="16" name="Text 12"/>
          <p:cNvSpPr/>
          <p:nvPr/>
        </p:nvSpPr>
        <p:spPr>
          <a:xfrm>
            <a:off x="671513" y="2836404"/>
            <a:ext cx="2238366" cy="192881"/>
          </a:xfrm>
          <a:prstGeom prst="rect">
            <a:avLst/>
          </a:prstGeom>
          <a:noFill/>
          <a:ln/>
        </p:spPr>
        <p:txBody>
          <a:bodyPr wrap="none" lIns="0" tIns="0" rIns="0" bIns="0" rtlCol="0" anchor="t">
            <a:spAutoFit/>
          </a:bodyPr>
          <a:lstStyle/>
          <a:p>
            <a:pPr marL="0" indent="0" algn="l">
              <a:lnSpc>
                <a:spcPct val="86400"/>
              </a:lnSpc>
              <a:buNone/>
            </a:pPr>
            <a:r>
              <a:rPr lang="en-US" sz="1250" b="1" dirty="0">
                <a:solidFill>
                  <a:srgbClr val="E6FBFF"/>
                </a:solidFill>
                <a:latin typeface="Space Grotesk Bold" pitchFamily="34" charset="0"/>
                <a:ea typeface="Space Grotesk Bold" pitchFamily="34" charset="-122"/>
                <a:cs typeface="Space Grotesk Bold" pitchFamily="34" charset="-120"/>
              </a:rPr>
              <a:t>Completar el flujo base</a:t>
            </a:r>
            <a:endParaRPr lang="en-US" sz="1250" dirty="0"/>
          </a:p>
        </p:txBody>
      </p:sp>
      <p:sp>
        <p:nvSpPr>
          <p:cNvPr id="17" name="Text 13"/>
          <p:cNvSpPr/>
          <p:nvPr/>
        </p:nvSpPr>
        <p:spPr>
          <a:xfrm>
            <a:off x="671513" y="3143585"/>
            <a:ext cx="2238366" cy="146279"/>
          </a:xfrm>
          <a:prstGeom prst="rect">
            <a:avLst/>
          </a:prstGeom>
          <a:noFill/>
          <a:ln/>
        </p:spPr>
        <p:txBody>
          <a:bodyPr wrap="none" lIns="153035"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QR de invitación OOB directo.</a:t>
            </a:r>
            <a:endParaRPr lang="en-US" sz="850" dirty="0"/>
          </a:p>
        </p:txBody>
      </p:sp>
      <p:sp>
        <p:nvSpPr>
          <p:cNvPr id="18" name="Text 14"/>
          <p:cNvSpPr/>
          <p:nvPr/>
        </p:nvSpPr>
        <p:spPr>
          <a:xfrm>
            <a:off x="671513" y="3361302"/>
            <a:ext cx="2238366" cy="146279"/>
          </a:xfrm>
          <a:prstGeom prst="rect">
            <a:avLst/>
          </a:prstGeom>
          <a:noFill/>
          <a:ln/>
        </p:spPr>
        <p:txBody>
          <a:bodyPr wrap="none" lIns="153035"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Google Calendar MCP completo.</a:t>
            </a:r>
            <a:endParaRPr lang="en-US" sz="850" dirty="0"/>
          </a:p>
        </p:txBody>
      </p:sp>
      <p:sp>
        <p:nvSpPr>
          <p:cNvPr id="19" name="Text 15"/>
          <p:cNvSpPr/>
          <p:nvPr/>
        </p:nvSpPr>
        <p:spPr>
          <a:xfrm>
            <a:off x="671513" y="3579019"/>
            <a:ext cx="2238366" cy="292559"/>
          </a:xfrm>
          <a:prstGeom prst="rect">
            <a:avLst/>
          </a:prstGeom>
          <a:noFill/>
          <a:ln/>
        </p:spPr>
        <p:txBody>
          <a:bodyPr wrap="square" lIns="153035"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Migración de JSON a base de datos relacional.</a:t>
            </a:r>
            <a:endParaRPr lang="en-US" sz="850" dirty="0"/>
          </a:p>
        </p:txBody>
      </p:sp>
      <p:sp>
        <p:nvSpPr>
          <p:cNvPr id="20" name="Shape 16"/>
          <p:cNvSpPr/>
          <p:nvPr/>
        </p:nvSpPr>
        <p:spPr>
          <a:xfrm>
            <a:off x="3295641" y="2409565"/>
            <a:ext cx="2552691" cy="1800225"/>
          </a:xfrm>
          <a:prstGeom prst="rect">
            <a:avLst/>
          </a:prstGeom>
          <a:solidFill>
            <a:srgbClr val="07111F">
              <a:alpha val="2000"/>
            </a:srgbClr>
          </a:solidFill>
          <a:ln/>
        </p:spPr>
      </p:sp>
      <p:sp>
        <p:nvSpPr>
          <p:cNvPr id="21" name="Shape 17"/>
          <p:cNvSpPr/>
          <p:nvPr/>
        </p:nvSpPr>
        <p:spPr>
          <a:xfrm>
            <a:off x="3295641" y="2409565"/>
            <a:ext cx="2552691" cy="14288"/>
          </a:xfrm>
          <a:prstGeom prst="rect">
            <a:avLst/>
          </a:prstGeom>
          <a:solidFill>
            <a:srgbClr val="64EEC2"/>
          </a:solidFill>
          <a:ln/>
        </p:spPr>
      </p:sp>
      <p:sp>
        <p:nvSpPr>
          <p:cNvPr id="22" name="Text 18"/>
          <p:cNvSpPr/>
          <p:nvPr/>
        </p:nvSpPr>
        <p:spPr>
          <a:xfrm>
            <a:off x="671513" y="3143585"/>
            <a:ext cx="55364" cy="91418"/>
          </a:xfrm>
          <a:prstGeom prst="rect">
            <a:avLst/>
          </a:prstGeom>
          <a:noFill/>
          <a:ln/>
        </p:spPr>
        <p:txBody>
          <a:bodyPr wrap="none" lIns="0" tIns="0" rIns="0" bIns="0" rtlCol="0" anchor="t">
            <a:spAutoFit/>
          </a:bodyPr>
          <a:lstStyle/>
          <a:p>
            <a:pPr marL="0" indent="0" algn="l">
              <a:lnSpc>
                <a:spcPct val="102400"/>
              </a:lnSpc>
              <a:buNone/>
            </a:pPr>
            <a:r>
              <a:rPr lang="en-US" sz="500" dirty="0">
                <a:solidFill>
                  <a:srgbClr val="00D4FF"/>
                </a:solidFill>
                <a:latin typeface="Inter" pitchFamily="34" charset="0"/>
                <a:ea typeface="Inter" pitchFamily="34" charset="-122"/>
                <a:cs typeface="Inter" pitchFamily="34" charset="-120"/>
              </a:rPr>
              <a:t>◆</a:t>
            </a:r>
            <a:endParaRPr lang="en-US" sz="500" dirty="0"/>
          </a:p>
        </p:txBody>
      </p:sp>
      <p:sp>
        <p:nvSpPr>
          <p:cNvPr id="23" name="Text 19"/>
          <p:cNvSpPr/>
          <p:nvPr/>
        </p:nvSpPr>
        <p:spPr>
          <a:xfrm>
            <a:off x="671513" y="3361302"/>
            <a:ext cx="55364" cy="91418"/>
          </a:xfrm>
          <a:prstGeom prst="rect">
            <a:avLst/>
          </a:prstGeom>
          <a:noFill/>
          <a:ln/>
        </p:spPr>
        <p:txBody>
          <a:bodyPr wrap="none" lIns="0" tIns="0" rIns="0" bIns="0" rtlCol="0" anchor="t">
            <a:spAutoFit/>
          </a:bodyPr>
          <a:lstStyle/>
          <a:p>
            <a:pPr marL="0" indent="0" algn="l">
              <a:lnSpc>
                <a:spcPct val="102400"/>
              </a:lnSpc>
              <a:buNone/>
            </a:pPr>
            <a:r>
              <a:rPr lang="en-US" sz="500" dirty="0">
                <a:solidFill>
                  <a:srgbClr val="00D4FF"/>
                </a:solidFill>
                <a:latin typeface="Inter" pitchFamily="34" charset="0"/>
                <a:ea typeface="Inter" pitchFamily="34" charset="-122"/>
                <a:cs typeface="Inter" pitchFamily="34" charset="-120"/>
              </a:rPr>
              <a:t>◆</a:t>
            </a:r>
            <a:endParaRPr lang="en-US" sz="500" dirty="0"/>
          </a:p>
        </p:txBody>
      </p:sp>
      <p:sp>
        <p:nvSpPr>
          <p:cNvPr id="24" name="Text 20"/>
          <p:cNvSpPr/>
          <p:nvPr/>
        </p:nvSpPr>
        <p:spPr>
          <a:xfrm>
            <a:off x="671513" y="3579019"/>
            <a:ext cx="55364" cy="91418"/>
          </a:xfrm>
          <a:prstGeom prst="rect">
            <a:avLst/>
          </a:prstGeom>
          <a:noFill/>
          <a:ln/>
        </p:spPr>
        <p:txBody>
          <a:bodyPr wrap="none" lIns="0" tIns="0" rIns="0" bIns="0" rtlCol="0" anchor="t">
            <a:spAutoFit/>
          </a:bodyPr>
          <a:lstStyle/>
          <a:p>
            <a:pPr marL="0" indent="0" algn="l">
              <a:lnSpc>
                <a:spcPct val="102400"/>
              </a:lnSpc>
              <a:buNone/>
            </a:pPr>
            <a:r>
              <a:rPr lang="en-US" sz="500" dirty="0">
                <a:solidFill>
                  <a:srgbClr val="00D4FF"/>
                </a:solidFill>
                <a:latin typeface="Inter" pitchFamily="34" charset="0"/>
                <a:ea typeface="Inter" pitchFamily="34" charset="-122"/>
                <a:cs typeface="Inter" pitchFamily="34" charset="-120"/>
              </a:rPr>
              <a:t>◆</a:t>
            </a:r>
            <a:endParaRPr lang="en-US" sz="500" dirty="0"/>
          </a:p>
        </p:txBody>
      </p:sp>
      <p:sp>
        <p:nvSpPr>
          <p:cNvPr id="25" name="Shape 21"/>
          <p:cNvSpPr/>
          <p:nvPr/>
        </p:nvSpPr>
        <p:spPr>
          <a:xfrm rot="2700000">
            <a:off x="3481378" y="2030946"/>
            <a:ext cx="271463" cy="271463"/>
          </a:xfrm>
          <a:prstGeom prst="rect">
            <a:avLst/>
          </a:prstGeom>
          <a:solidFill>
            <a:srgbClr val="07111F"/>
          </a:solidFill>
          <a:ln w="18288">
            <a:solidFill>
              <a:srgbClr val="22E6A8"/>
            </a:solidFill>
            <a:prstDash val="solid"/>
          </a:ln>
        </p:spPr>
      </p:sp>
      <p:sp>
        <p:nvSpPr>
          <p:cNvPr id="26" name="Text 22"/>
          <p:cNvSpPr/>
          <p:nvPr/>
        </p:nvSpPr>
        <p:spPr>
          <a:xfrm>
            <a:off x="3491481" y="2035131"/>
            <a:ext cx="271462" cy="242888"/>
          </a:xfrm>
          <a:prstGeom prst="rect">
            <a:avLst/>
          </a:prstGeom>
          <a:noFill/>
          <a:ln/>
        </p:spPr>
        <p:txBody>
          <a:bodyPr wrap="none" lIns="0" tIns="0" rIns="0" bIns="0" rtlCol="0" anchor="t">
            <a:spAutoFit/>
          </a:bodyPr>
          <a:lstStyle/>
          <a:p>
            <a:pPr marL="0" indent="0" algn="ctr">
              <a:lnSpc>
                <a:spcPct val="209231"/>
              </a:lnSpc>
              <a:buNone/>
            </a:pPr>
            <a:r>
              <a:rPr lang="en-US" sz="650" b="1" dirty="0">
                <a:solidFill>
                  <a:srgbClr val="E6FBFF"/>
                </a:solidFill>
                <a:latin typeface="Space Grotesk Bold" pitchFamily="34" charset="0"/>
                <a:ea typeface="Space Grotesk Bold" pitchFamily="34" charset="-122"/>
                <a:cs typeface="Space Grotesk Bold" pitchFamily="34" charset="-120"/>
              </a:rPr>
              <a:t>2</a:t>
            </a:r>
            <a:endParaRPr lang="en-US" sz="650" dirty="0"/>
          </a:p>
        </p:txBody>
      </p:sp>
      <p:sp>
        <p:nvSpPr>
          <p:cNvPr id="27" name="Text 23"/>
          <p:cNvSpPr/>
          <p:nvPr/>
        </p:nvSpPr>
        <p:spPr>
          <a:xfrm>
            <a:off x="3467091" y="2609590"/>
            <a:ext cx="2238366" cy="112514"/>
          </a:xfrm>
          <a:prstGeom prst="rect">
            <a:avLst/>
          </a:prstGeom>
          <a:noFill/>
          <a:ln/>
        </p:spPr>
        <p:txBody>
          <a:bodyPr wrap="square" lIns="0" tIns="0" rIns="0" bIns="0" rtlCol="0" anchor="t">
            <a:spAutoFit/>
          </a:bodyPr>
          <a:lstStyle/>
          <a:p>
            <a:pPr marL="0" indent="0" algn="l">
              <a:buNone/>
            </a:pPr>
            <a:r>
              <a:rPr lang="en-US" sz="650" b="1" kern="0" spc="1" dirty="0">
                <a:solidFill>
                  <a:srgbClr val="22E6A8"/>
                </a:solidFill>
                <a:latin typeface="Inter ExtraBold" pitchFamily="34" charset="0"/>
                <a:ea typeface="Inter ExtraBold" pitchFamily="34" charset="-122"/>
                <a:cs typeface="Inter ExtraBold" pitchFamily="34" charset="-120"/>
              </a:rPr>
              <a:t>MEDIANO PLAZO</a:t>
            </a:r>
            <a:endParaRPr lang="en-US" sz="650" dirty="0"/>
          </a:p>
        </p:txBody>
      </p:sp>
      <p:sp>
        <p:nvSpPr>
          <p:cNvPr id="28" name="Text 24"/>
          <p:cNvSpPr/>
          <p:nvPr/>
        </p:nvSpPr>
        <p:spPr>
          <a:xfrm>
            <a:off x="3467091" y="2836404"/>
            <a:ext cx="2238366" cy="192881"/>
          </a:xfrm>
          <a:prstGeom prst="rect">
            <a:avLst/>
          </a:prstGeom>
          <a:noFill/>
          <a:ln/>
        </p:spPr>
        <p:txBody>
          <a:bodyPr wrap="none" lIns="0" tIns="0" rIns="0" bIns="0" rtlCol="0" anchor="t">
            <a:spAutoFit/>
          </a:bodyPr>
          <a:lstStyle/>
          <a:p>
            <a:pPr marL="0" indent="0" algn="l">
              <a:lnSpc>
                <a:spcPct val="86400"/>
              </a:lnSpc>
              <a:buNone/>
            </a:pPr>
            <a:r>
              <a:rPr lang="en-US" sz="1250" b="1" dirty="0">
                <a:solidFill>
                  <a:srgbClr val="E6FBFF"/>
                </a:solidFill>
                <a:latin typeface="Space Grotesk Bold" pitchFamily="34" charset="0"/>
                <a:ea typeface="Space Grotesk Bold" pitchFamily="34" charset="-122"/>
                <a:cs typeface="Space Grotesk Bold" pitchFamily="34" charset="-120"/>
              </a:rPr>
              <a:t>Medir e integrar más</a:t>
            </a:r>
            <a:endParaRPr lang="en-US" sz="1250" dirty="0"/>
          </a:p>
        </p:txBody>
      </p:sp>
      <p:sp>
        <p:nvSpPr>
          <p:cNvPr id="29" name="Text 25"/>
          <p:cNvSpPr/>
          <p:nvPr/>
        </p:nvSpPr>
        <p:spPr>
          <a:xfrm>
            <a:off x="3467091" y="3143585"/>
            <a:ext cx="2238366" cy="292559"/>
          </a:xfrm>
          <a:prstGeom prst="rect">
            <a:avLst/>
          </a:prstGeom>
          <a:noFill/>
          <a:ln/>
        </p:spPr>
        <p:txBody>
          <a:bodyPr wrap="square" lIns="153035"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Métricas de conversaciones, MCP y tiempos de respuesta.</a:t>
            </a:r>
            <a:endParaRPr lang="en-US" sz="850" dirty="0"/>
          </a:p>
        </p:txBody>
      </p:sp>
      <p:sp>
        <p:nvSpPr>
          <p:cNvPr id="30" name="Text 26"/>
          <p:cNvSpPr/>
          <p:nvPr/>
        </p:nvSpPr>
        <p:spPr>
          <a:xfrm>
            <a:off x="3467091" y="3507581"/>
            <a:ext cx="2238366" cy="292559"/>
          </a:xfrm>
          <a:prstGeom prst="rect">
            <a:avLst/>
          </a:prstGeom>
          <a:noFill/>
          <a:ln/>
        </p:spPr>
        <p:txBody>
          <a:bodyPr wrap="square" lIns="153035"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Integraciones con CRM, WhatsApp, Sheets y APIs.</a:t>
            </a:r>
            <a:endParaRPr lang="en-US" sz="850" dirty="0"/>
          </a:p>
        </p:txBody>
      </p:sp>
      <p:sp>
        <p:nvSpPr>
          <p:cNvPr id="31" name="Text 27"/>
          <p:cNvSpPr/>
          <p:nvPr/>
        </p:nvSpPr>
        <p:spPr>
          <a:xfrm>
            <a:off x="3467091" y="3871578"/>
            <a:ext cx="2238366" cy="292559"/>
          </a:xfrm>
          <a:prstGeom prst="rect">
            <a:avLst/>
          </a:prstGeom>
          <a:noFill/>
          <a:ln/>
        </p:spPr>
        <p:txBody>
          <a:bodyPr wrap="square" lIns="153035"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Soporte multi-organización con credenciales propias.</a:t>
            </a:r>
            <a:endParaRPr lang="en-US" sz="850" dirty="0"/>
          </a:p>
        </p:txBody>
      </p:sp>
      <p:sp>
        <p:nvSpPr>
          <p:cNvPr id="32" name="Shape 28"/>
          <p:cNvSpPr/>
          <p:nvPr/>
        </p:nvSpPr>
        <p:spPr>
          <a:xfrm>
            <a:off x="6091219" y="2409565"/>
            <a:ext cx="2552719" cy="1800225"/>
          </a:xfrm>
          <a:prstGeom prst="rect">
            <a:avLst/>
          </a:prstGeom>
          <a:solidFill>
            <a:srgbClr val="22E6A8">
              <a:alpha val="4000"/>
            </a:srgbClr>
          </a:solidFill>
          <a:ln/>
        </p:spPr>
      </p:sp>
      <p:sp>
        <p:nvSpPr>
          <p:cNvPr id="33" name="Shape 29"/>
          <p:cNvSpPr/>
          <p:nvPr/>
        </p:nvSpPr>
        <p:spPr>
          <a:xfrm>
            <a:off x="6091219" y="2409565"/>
            <a:ext cx="2552719" cy="14288"/>
          </a:xfrm>
          <a:prstGeom prst="rect">
            <a:avLst/>
          </a:prstGeom>
          <a:solidFill>
            <a:srgbClr val="38DDFF"/>
          </a:solidFill>
          <a:ln/>
        </p:spPr>
      </p:sp>
      <p:sp>
        <p:nvSpPr>
          <p:cNvPr id="34" name="Text 30"/>
          <p:cNvSpPr/>
          <p:nvPr/>
        </p:nvSpPr>
        <p:spPr>
          <a:xfrm>
            <a:off x="3467091" y="3143585"/>
            <a:ext cx="55364" cy="91418"/>
          </a:xfrm>
          <a:prstGeom prst="rect">
            <a:avLst/>
          </a:prstGeom>
          <a:noFill/>
          <a:ln/>
        </p:spPr>
        <p:txBody>
          <a:bodyPr wrap="none" lIns="0" tIns="0" rIns="0" bIns="0" rtlCol="0" anchor="t">
            <a:spAutoFit/>
          </a:bodyPr>
          <a:lstStyle/>
          <a:p>
            <a:pPr marL="0" indent="0" algn="l">
              <a:lnSpc>
                <a:spcPct val="102400"/>
              </a:lnSpc>
              <a:buNone/>
            </a:pPr>
            <a:r>
              <a:rPr lang="en-US" sz="500" dirty="0">
                <a:solidFill>
                  <a:srgbClr val="22E6A8"/>
                </a:solidFill>
                <a:latin typeface="Inter" pitchFamily="34" charset="0"/>
                <a:ea typeface="Inter" pitchFamily="34" charset="-122"/>
                <a:cs typeface="Inter" pitchFamily="34" charset="-120"/>
              </a:rPr>
              <a:t>◆</a:t>
            </a:r>
            <a:endParaRPr lang="en-US" sz="500" dirty="0"/>
          </a:p>
        </p:txBody>
      </p:sp>
      <p:sp>
        <p:nvSpPr>
          <p:cNvPr id="35" name="Text 31"/>
          <p:cNvSpPr/>
          <p:nvPr/>
        </p:nvSpPr>
        <p:spPr>
          <a:xfrm>
            <a:off x="3467091" y="3507581"/>
            <a:ext cx="55364" cy="91418"/>
          </a:xfrm>
          <a:prstGeom prst="rect">
            <a:avLst/>
          </a:prstGeom>
          <a:noFill/>
          <a:ln/>
        </p:spPr>
        <p:txBody>
          <a:bodyPr wrap="none" lIns="0" tIns="0" rIns="0" bIns="0" rtlCol="0" anchor="t">
            <a:spAutoFit/>
          </a:bodyPr>
          <a:lstStyle/>
          <a:p>
            <a:pPr marL="0" indent="0" algn="l">
              <a:lnSpc>
                <a:spcPct val="102400"/>
              </a:lnSpc>
              <a:buNone/>
            </a:pPr>
            <a:r>
              <a:rPr lang="en-US" sz="500" dirty="0">
                <a:solidFill>
                  <a:srgbClr val="22E6A8"/>
                </a:solidFill>
                <a:latin typeface="Inter" pitchFamily="34" charset="0"/>
                <a:ea typeface="Inter" pitchFamily="34" charset="-122"/>
                <a:cs typeface="Inter" pitchFamily="34" charset="-120"/>
              </a:rPr>
              <a:t>◆</a:t>
            </a:r>
            <a:endParaRPr lang="en-US" sz="500" dirty="0"/>
          </a:p>
        </p:txBody>
      </p:sp>
      <p:sp>
        <p:nvSpPr>
          <p:cNvPr id="36" name="Text 32"/>
          <p:cNvSpPr/>
          <p:nvPr/>
        </p:nvSpPr>
        <p:spPr>
          <a:xfrm>
            <a:off x="3467091" y="3871578"/>
            <a:ext cx="55364" cy="91418"/>
          </a:xfrm>
          <a:prstGeom prst="rect">
            <a:avLst/>
          </a:prstGeom>
          <a:noFill/>
          <a:ln/>
        </p:spPr>
        <p:txBody>
          <a:bodyPr wrap="none" lIns="0" tIns="0" rIns="0" bIns="0" rtlCol="0" anchor="t">
            <a:spAutoFit/>
          </a:bodyPr>
          <a:lstStyle/>
          <a:p>
            <a:pPr marL="0" indent="0" algn="l">
              <a:lnSpc>
                <a:spcPct val="102400"/>
              </a:lnSpc>
              <a:buNone/>
            </a:pPr>
            <a:r>
              <a:rPr lang="en-US" sz="500" dirty="0">
                <a:solidFill>
                  <a:srgbClr val="22E6A8"/>
                </a:solidFill>
                <a:latin typeface="Inter" pitchFamily="34" charset="0"/>
                <a:ea typeface="Inter" pitchFamily="34" charset="-122"/>
                <a:cs typeface="Inter" pitchFamily="34" charset="-120"/>
              </a:rPr>
              <a:t>◆</a:t>
            </a:r>
            <a:endParaRPr lang="en-US" sz="500" dirty="0"/>
          </a:p>
        </p:txBody>
      </p:sp>
      <p:sp>
        <p:nvSpPr>
          <p:cNvPr id="37" name="Shape 33"/>
          <p:cNvSpPr/>
          <p:nvPr/>
        </p:nvSpPr>
        <p:spPr>
          <a:xfrm rot="2700000">
            <a:off x="6276956" y="2030946"/>
            <a:ext cx="271463" cy="271463"/>
          </a:xfrm>
          <a:prstGeom prst="rect">
            <a:avLst/>
          </a:prstGeom>
          <a:solidFill>
            <a:srgbClr val="07111F"/>
          </a:solidFill>
          <a:ln w="18288">
            <a:solidFill>
              <a:srgbClr val="00D4FF"/>
            </a:solidFill>
            <a:prstDash val="solid"/>
          </a:ln>
        </p:spPr>
      </p:sp>
      <p:sp>
        <p:nvSpPr>
          <p:cNvPr id="38" name="Text 34"/>
          <p:cNvSpPr/>
          <p:nvPr/>
        </p:nvSpPr>
        <p:spPr>
          <a:xfrm>
            <a:off x="6287059" y="2035131"/>
            <a:ext cx="271463" cy="242888"/>
          </a:xfrm>
          <a:prstGeom prst="rect">
            <a:avLst/>
          </a:prstGeom>
          <a:noFill/>
          <a:ln/>
        </p:spPr>
        <p:txBody>
          <a:bodyPr wrap="none" lIns="0" tIns="0" rIns="0" bIns="0" rtlCol="0" anchor="t">
            <a:spAutoFit/>
          </a:bodyPr>
          <a:lstStyle/>
          <a:p>
            <a:pPr marL="0" indent="0" algn="ctr">
              <a:lnSpc>
                <a:spcPct val="209231"/>
              </a:lnSpc>
              <a:buNone/>
            </a:pPr>
            <a:r>
              <a:rPr lang="en-US" sz="650" b="1" dirty="0">
                <a:solidFill>
                  <a:srgbClr val="E6FBFF"/>
                </a:solidFill>
                <a:latin typeface="Space Grotesk Bold" pitchFamily="34" charset="0"/>
                <a:ea typeface="Space Grotesk Bold" pitchFamily="34" charset="-122"/>
                <a:cs typeface="Space Grotesk Bold" pitchFamily="34" charset="-120"/>
              </a:rPr>
              <a:t>3</a:t>
            </a:r>
            <a:endParaRPr lang="en-US" sz="650" dirty="0"/>
          </a:p>
        </p:txBody>
      </p:sp>
      <p:sp>
        <p:nvSpPr>
          <p:cNvPr id="39" name="Text 35"/>
          <p:cNvSpPr/>
          <p:nvPr/>
        </p:nvSpPr>
        <p:spPr>
          <a:xfrm>
            <a:off x="6262669" y="2609590"/>
            <a:ext cx="2238394" cy="112514"/>
          </a:xfrm>
          <a:prstGeom prst="rect">
            <a:avLst/>
          </a:prstGeom>
          <a:noFill/>
          <a:ln/>
        </p:spPr>
        <p:txBody>
          <a:bodyPr wrap="square" lIns="0" tIns="0" rIns="0" bIns="0" rtlCol="0" anchor="t">
            <a:spAutoFit/>
          </a:bodyPr>
          <a:lstStyle/>
          <a:p>
            <a:pPr marL="0" indent="0" algn="l">
              <a:buNone/>
            </a:pPr>
            <a:r>
              <a:rPr lang="en-US" sz="650" b="1" kern="0" spc="1" dirty="0">
                <a:solidFill>
                  <a:srgbClr val="22E6A8"/>
                </a:solidFill>
                <a:latin typeface="Inter ExtraBold" pitchFamily="34" charset="0"/>
                <a:ea typeface="Inter ExtraBold" pitchFamily="34" charset="-122"/>
                <a:cs typeface="Inter ExtraBold" pitchFamily="34" charset="-120"/>
              </a:rPr>
              <a:t>LARGO PLAZO</a:t>
            </a:r>
            <a:endParaRPr lang="en-US" sz="650" dirty="0"/>
          </a:p>
        </p:txBody>
      </p:sp>
      <p:sp>
        <p:nvSpPr>
          <p:cNvPr id="40" name="Text 36"/>
          <p:cNvSpPr/>
          <p:nvPr/>
        </p:nvSpPr>
        <p:spPr>
          <a:xfrm>
            <a:off x="6262669" y="2836404"/>
            <a:ext cx="2238394" cy="192881"/>
          </a:xfrm>
          <a:prstGeom prst="rect">
            <a:avLst/>
          </a:prstGeom>
          <a:noFill/>
          <a:ln/>
        </p:spPr>
        <p:txBody>
          <a:bodyPr wrap="none" lIns="0" tIns="0" rIns="0" bIns="0" rtlCol="0" anchor="t">
            <a:spAutoFit/>
          </a:bodyPr>
          <a:lstStyle/>
          <a:p>
            <a:pPr marL="0" indent="0" algn="l">
              <a:lnSpc>
                <a:spcPct val="86400"/>
              </a:lnSpc>
              <a:buNone/>
            </a:pPr>
            <a:r>
              <a:rPr lang="en-US" sz="1250" b="1" dirty="0">
                <a:solidFill>
                  <a:srgbClr val="E6FBFF"/>
                </a:solidFill>
                <a:latin typeface="Space Grotesk Bold" pitchFamily="34" charset="0"/>
                <a:ea typeface="Space Grotesk Bold" pitchFamily="34" charset="-122"/>
                <a:cs typeface="Space Grotesk Bold" pitchFamily="34" charset="-120"/>
              </a:rPr>
              <a:t>Escalar el ecosistema</a:t>
            </a:r>
            <a:endParaRPr lang="en-US" sz="1250" dirty="0"/>
          </a:p>
        </p:txBody>
      </p:sp>
      <p:sp>
        <p:nvSpPr>
          <p:cNvPr id="41" name="Text 37"/>
          <p:cNvSpPr/>
          <p:nvPr/>
        </p:nvSpPr>
        <p:spPr>
          <a:xfrm>
            <a:off x="6262669" y="3143585"/>
            <a:ext cx="2238394" cy="146279"/>
          </a:xfrm>
          <a:prstGeom prst="rect">
            <a:avLst/>
          </a:prstGeom>
          <a:noFill/>
          <a:ln/>
        </p:spPr>
        <p:txBody>
          <a:bodyPr wrap="none" lIns="153035"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Marketplace de agentes verificables.</a:t>
            </a:r>
            <a:endParaRPr lang="en-US" sz="850" dirty="0"/>
          </a:p>
        </p:txBody>
      </p:sp>
      <p:sp>
        <p:nvSpPr>
          <p:cNvPr id="42" name="Text 38"/>
          <p:cNvSpPr/>
          <p:nvPr/>
        </p:nvSpPr>
        <p:spPr>
          <a:xfrm>
            <a:off x="6262669" y="3361302"/>
            <a:ext cx="2238394" cy="146279"/>
          </a:xfrm>
          <a:prstGeom prst="rect">
            <a:avLst/>
          </a:prstGeom>
          <a:noFill/>
          <a:ln/>
        </p:spPr>
        <p:txBody>
          <a:bodyPr wrap="none" lIns="153035"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App móvil nativa para gestión.</a:t>
            </a:r>
            <a:endParaRPr lang="en-US" sz="850" dirty="0"/>
          </a:p>
        </p:txBody>
      </p:sp>
      <p:sp>
        <p:nvSpPr>
          <p:cNvPr id="43" name="Text 39"/>
          <p:cNvSpPr/>
          <p:nvPr/>
        </p:nvSpPr>
        <p:spPr>
          <a:xfrm>
            <a:off x="6262669" y="3579019"/>
            <a:ext cx="2238394" cy="292559"/>
          </a:xfrm>
          <a:prstGeom prst="rect">
            <a:avLst/>
          </a:prstGeom>
          <a:noFill/>
          <a:ln/>
        </p:spPr>
        <p:txBody>
          <a:bodyPr wrap="square" lIns="153035" tIns="0" rIns="0" bIns="0" rtlCol="0" anchor="t">
            <a:spAutoFit/>
          </a:bodyPr>
          <a:lstStyle/>
          <a:p>
            <a:pPr marL="0" indent="0" algn="l">
              <a:lnSpc>
                <a:spcPct val="102400"/>
              </a:lnSpc>
              <a:buNone/>
            </a:pPr>
            <a:r>
              <a:rPr lang="en-US" sz="850" dirty="0">
                <a:solidFill>
                  <a:srgbClr val="B7C8D9"/>
                </a:solidFill>
                <a:latin typeface="Inter" pitchFamily="34" charset="0"/>
                <a:ea typeface="Inter" pitchFamily="34" charset="-122"/>
                <a:cs typeface="Inter" pitchFamily="34" charset="-120"/>
              </a:rPr>
              <a:t>RAG avanzado y escalabilidad horizontal.</a:t>
            </a:r>
            <a:endParaRPr lang="en-US" sz="850" dirty="0"/>
          </a:p>
        </p:txBody>
      </p:sp>
      <p:sp>
        <p:nvSpPr>
          <p:cNvPr id="44" name="Text 40"/>
          <p:cNvSpPr/>
          <p:nvPr/>
        </p:nvSpPr>
        <p:spPr>
          <a:xfrm>
            <a:off x="6262669" y="3143585"/>
            <a:ext cx="55364" cy="91418"/>
          </a:xfrm>
          <a:prstGeom prst="rect">
            <a:avLst/>
          </a:prstGeom>
          <a:noFill/>
          <a:ln/>
        </p:spPr>
        <p:txBody>
          <a:bodyPr wrap="none" lIns="0" tIns="0" rIns="0" bIns="0" rtlCol="0" anchor="t">
            <a:spAutoFit/>
          </a:bodyPr>
          <a:lstStyle/>
          <a:p>
            <a:pPr marL="0" indent="0" algn="l">
              <a:lnSpc>
                <a:spcPct val="102400"/>
              </a:lnSpc>
              <a:buNone/>
            </a:pPr>
            <a:r>
              <a:rPr lang="en-US" sz="500" dirty="0">
                <a:solidFill>
                  <a:srgbClr val="00D4FF"/>
                </a:solidFill>
                <a:latin typeface="Inter" pitchFamily="34" charset="0"/>
                <a:ea typeface="Inter" pitchFamily="34" charset="-122"/>
                <a:cs typeface="Inter" pitchFamily="34" charset="-120"/>
              </a:rPr>
              <a:t>◆</a:t>
            </a:r>
            <a:endParaRPr lang="en-US" sz="500" dirty="0"/>
          </a:p>
        </p:txBody>
      </p:sp>
      <p:sp>
        <p:nvSpPr>
          <p:cNvPr id="45" name="Text 41"/>
          <p:cNvSpPr/>
          <p:nvPr/>
        </p:nvSpPr>
        <p:spPr>
          <a:xfrm>
            <a:off x="6262669" y="3361302"/>
            <a:ext cx="55364" cy="91418"/>
          </a:xfrm>
          <a:prstGeom prst="rect">
            <a:avLst/>
          </a:prstGeom>
          <a:noFill/>
          <a:ln/>
        </p:spPr>
        <p:txBody>
          <a:bodyPr wrap="none" lIns="0" tIns="0" rIns="0" bIns="0" rtlCol="0" anchor="t">
            <a:spAutoFit/>
          </a:bodyPr>
          <a:lstStyle/>
          <a:p>
            <a:pPr marL="0" indent="0" algn="l">
              <a:lnSpc>
                <a:spcPct val="102400"/>
              </a:lnSpc>
              <a:buNone/>
            </a:pPr>
            <a:r>
              <a:rPr lang="en-US" sz="500" dirty="0">
                <a:solidFill>
                  <a:srgbClr val="00D4FF"/>
                </a:solidFill>
                <a:latin typeface="Inter" pitchFamily="34" charset="0"/>
                <a:ea typeface="Inter" pitchFamily="34" charset="-122"/>
                <a:cs typeface="Inter" pitchFamily="34" charset="-120"/>
              </a:rPr>
              <a:t>◆</a:t>
            </a:r>
            <a:endParaRPr lang="en-US" sz="500" dirty="0"/>
          </a:p>
        </p:txBody>
      </p:sp>
      <p:sp>
        <p:nvSpPr>
          <p:cNvPr id="46" name="Text 42"/>
          <p:cNvSpPr/>
          <p:nvPr/>
        </p:nvSpPr>
        <p:spPr>
          <a:xfrm>
            <a:off x="6262669" y="3579019"/>
            <a:ext cx="55364" cy="91418"/>
          </a:xfrm>
          <a:prstGeom prst="rect">
            <a:avLst/>
          </a:prstGeom>
          <a:noFill/>
          <a:ln/>
        </p:spPr>
        <p:txBody>
          <a:bodyPr wrap="none" lIns="0" tIns="0" rIns="0" bIns="0" rtlCol="0" anchor="t">
            <a:spAutoFit/>
          </a:bodyPr>
          <a:lstStyle/>
          <a:p>
            <a:pPr marL="0" indent="0" algn="l">
              <a:lnSpc>
                <a:spcPct val="102400"/>
              </a:lnSpc>
              <a:buNone/>
            </a:pPr>
            <a:r>
              <a:rPr lang="en-US" sz="500" dirty="0">
                <a:solidFill>
                  <a:srgbClr val="00D4FF"/>
                </a:solidFill>
                <a:latin typeface="Inter" pitchFamily="34" charset="0"/>
                <a:ea typeface="Inter" pitchFamily="34" charset="-122"/>
                <a:cs typeface="Inter" pitchFamily="34" charset="-120"/>
              </a:rPr>
              <a:t>◆</a:t>
            </a:r>
            <a:endParaRPr lang="en-US" sz="500" dirty="0"/>
          </a:p>
        </p:txBody>
      </p:sp>
      <p:sp>
        <p:nvSpPr>
          <p:cNvPr id="47" name="Text 43"/>
          <p:cNvSpPr/>
          <p:nvPr/>
        </p:nvSpPr>
        <p:spPr>
          <a:xfrm>
            <a:off x="500063" y="4665929"/>
            <a:ext cx="1607344" cy="180715"/>
          </a:xfrm>
          <a:prstGeom prst="rect">
            <a:avLst/>
          </a:prstGeom>
          <a:noFill/>
          <a:ln/>
        </p:spPr>
        <p:txBody>
          <a:bodyPr wrap="none" lIns="0" tIns="0" rIns="0" bIns="0" rtlCol="0" anchor="t">
            <a:spAutoFit/>
          </a:bodyPr>
          <a:lstStyle/>
          <a:p>
            <a:pPr marL="0" indent="0" algn="l">
              <a:lnSpc>
                <a:spcPct val="88000"/>
              </a:lnSpc>
              <a:buNone/>
            </a:pPr>
            <a:r>
              <a:rPr lang="en-US" sz="1200" dirty="0">
                <a:solidFill>
                  <a:srgbClr val="00D4FF"/>
                </a:solidFill>
                <a:latin typeface="Space Grotesk Medium" pitchFamily="34" charset="0"/>
                <a:ea typeface="Space Grotesk Medium" pitchFamily="34" charset="-122"/>
                <a:cs typeface="Space Grotesk Medium" pitchFamily="34" charset="-120"/>
              </a:rPr>
              <a:t>Impacto potencial</a:t>
            </a:r>
            <a:endParaRPr lang="en-US" sz="1200" dirty="0"/>
          </a:p>
        </p:txBody>
      </p:sp>
      <p:sp>
        <p:nvSpPr>
          <p:cNvPr id="48" name="Text 44"/>
          <p:cNvSpPr/>
          <p:nvPr/>
        </p:nvSpPr>
        <p:spPr>
          <a:xfrm>
            <a:off x="2307431" y="4473411"/>
            <a:ext cx="4564856" cy="565752"/>
          </a:xfrm>
          <a:prstGeom prst="rect">
            <a:avLst/>
          </a:prstGeom>
          <a:noFill/>
          <a:ln/>
        </p:spPr>
        <p:txBody>
          <a:bodyPr wrap="square" lIns="0" tIns="0" rIns="0" bIns="0" rtlCol="0" anchor="t">
            <a:spAutoFit/>
          </a:bodyPr>
          <a:lstStyle/>
          <a:p>
            <a:pPr marL="0" indent="0" algn="l">
              <a:lnSpc>
                <a:spcPct val="105600"/>
              </a:lnSpc>
              <a:buNone/>
            </a:pPr>
            <a:r>
              <a:rPr lang="en-US" sz="1050" dirty="0">
                <a:solidFill>
                  <a:srgbClr val="B7C8D9"/>
                </a:solidFill>
                <a:latin typeface="Inter" pitchFamily="34" charset="0"/>
                <a:ea typeface="Inter" pitchFamily="34" charset="-122"/>
                <a:cs typeface="Inter" pitchFamily="34" charset="-120"/>
              </a:rPr>
              <a:t>Si cualquier profesional puede tener su agente verificable en 10 minutos, Hologram/Verana puede crecer de </a:t>
            </a:r>
            <a:r>
              <a:rPr lang="en-US" sz="1000" b="1" dirty="0">
                <a:solidFill>
                  <a:srgbClr val="E6FBFF"/>
                </a:solidFill>
                <a:latin typeface="Inter Bold" pitchFamily="34" charset="0"/>
                <a:ea typeface="Inter Bold" pitchFamily="34" charset="-122"/>
                <a:cs typeface="Inter Bold" pitchFamily="34" charset="-120"/>
              </a:rPr>
              <a:t>decenas a miles de agentes</a:t>
            </a:r>
            <a:r>
              <a:rPr lang="en-US" sz="1050" dirty="0">
                <a:solidFill>
                  <a:srgbClr val="B7C8D9"/>
                </a:solidFill>
                <a:latin typeface="Inter" pitchFamily="34" charset="0"/>
                <a:ea typeface="Inter" pitchFamily="34" charset="-122"/>
                <a:cs typeface="Inter" pitchFamily="34" charset="-120"/>
              </a:rPr>
              <a:t>.</a:t>
            </a:r>
            <a:endParaRPr lang="en-US" sz="1050" dirty="0"/>
          </a:p>
        </p:txBody>
      </p:sp>
      <p:sp>
        <p:nvSpPr>
          <p:cNvPr id="49" name="Text 45"/>
          <p:cNvSpPr/>
          <p:nvPr/>
        </p:nvSpPr>
        <p:spPr>
          <a:xfrm>
            <a:off x="7072313" y="4525566"/>
            <a:ext cx="1571625" cy="461442"/>
          </a:xfrm>
          <a:prstGeom prst="rect">
            <a:avLst/>
          </a:prstGeom>
          <a:noFill/>
          <a:ln/>
        </p:spPr>
        <p:txBody>
          <a:bodyPr wrap="square" lIns="0" tIns="0" rIns="0" bIns="0" rtlCol="0" anchor="t">
            <a:spAutoFit/>
          </a:bodyPr>
          <a:lstStyle/>
          <a:p>
            <a:pPr marL="0" indent="0" algn="r">
              <a:lnSpc>
                <a:spcPct val="76000"/>
              </a:lnSpc>
              <a:buNone/>
            </a:pPr>
            <a:r>
              <a:rPr lang="en-US" sz="1800" kern="0" spc="-1" dirty="0">
                <a:solidFill>
                  <a:srgbClr val="22E6A8"/>
                </a:solidFill>
                <a:latin typeface="Space Grotesk Medium" pitchFamily="34" charset="0"/>
                <a:ea typeface="Space Grotesk Medium" pitchFamily="34" charset="-122"/>
                <a:cs typeface="Space Grotesk Medium" pitchFamily="34" charset="-120"/>
              </a:rPr>
              <a:t>10 min
→ miles</a:t>
            </a:r>
            <a:endParaRPr lang="en-US" sz="1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rot="2700000">
            <a:off x="5800725" y="685800"/>
            <a:ext cx="2786063" cy="2786063"/>
          </a:xfrm>
          <a:prstGeom prst="rect">
            <a:avLst/>
          </a:prstGeom>
          <a:solidFill>
            <a:srgbClr val="22E6A8">
              <a:alpha val="4000"/>
            </a:srgbClr>
          </a:solidFill>
          <a:ln w="18288">
            <a:solidFill>
              <a:srgbClr val="00D4FF">
                <a:alpha val="30000"/>
              </a:srgbClr>
            </a:solidFill>
            <a:prstDash val="solid"/>
          </a:ln>
        </p:spPr>
      </p:sp>
      <p:sp>
        <p:nvSpPr>
          <p:cNvPr id="5" name="Shape 1"/>
          <p:cNvSpPr/>
          <p:nvPr/>
        </p:nvSpPr>
        <p:spPr>
          <a:xfrm>
            <a:off x="5718749" y="573516"/>
            <a:ext cx="2950014" cy="2950014"/>
          </a:xfrm>
          <a:prstGeom prst="rect">
            <a:avLst/>
          </a:prstGeom>
          <a:solidFill>
            <a:srgbClr val="000000">
              <a:alpha val="0"/>
            </a:srgbClr>
          </a:solidFill>
          <a:ln w="9144">
            <a:solidFill>
              <a:srgbClr val="22E6A8">
                <a:alpha val="36000"/>
              </a:srgbClr>
            </a:solidFill>
            <a:prstDash val="solid"/>
          </a:ln>
        </p:spPr>
      </p:sp>
      <p:sp>
        <p:nvSpPr>
          <p:cNvPr id="6" name="Shape 2"/>
          <p:cNvSpPr/>
          <p:nvPr/>
        </p:nvSpPr>
        <p:spPr>
          <a:xfrm>
            <a:off x="6183477" y="1038244"/>
            <a:ext cx="2020558" cy="2020558"/>
          </a:xfrm>
          <a:prstGeom prst="rect">
            <a:avLst/>
          </a:prstGeom>
          <a:solidFill>
            <a:srgbClr val="07111F">
              <a:alpha val="35000"/>
            </a:srgbClr>
          </a:solidFill>
          <a:ln w="9144">
            <a:solidFill>
              <a:srgbClr val="00D4FF">
                <a:alpha val="42000"/>
              </a:srgbClr>
            </a:solidFill>
            <a:prstDash val="solid"/>
          </a:ln>
        </p:spPr>
      </p:sp>
      <p:sp>
        <p:nvSpPr>
          <p:cNvPr id="7" name="Text 3"/>
          <p:cNvSpPr/>
          <p:nvPr/>
        </p:nvSpPr>
        <p:spPr>
          <a:xfrm rot="2700000">
            <a:off x="5800725" y="685800"/>
            <a:ext cx="2786063" cy="2786063"/>
          </a:xfrm>
          <a:prstGeom prst="rect">
            <a:avLst/>
          </a:prstGeom>
          <a:noFill/>
          <a:ln/>
        </p:spPr>
        <p:txBody>
          <a:bodyPr wrap="square" lIns="0" tIns="0" rIns="0" bIns="0" rtlCol="0" anchor="t">
            <a:spAutoFit/>
          </a:bodyPr>
          <a:lstStyle/>
          <a:p>
            <a:pPr marL="0" indent="0" algn="l">
              <a:buNone/>
            </a:pPr>
            <a:endParaRPr lang="en-US" dirty="0"/>
          </a:p>
        </p:txBody>
      </p:sp>
      <p:sp>
        <p:nvSpPr>
          <p:cNvPr id="8" name="Text 4"/>
          <p:cNvSpPr/>
          <p:nvPr/>
        </p:nvSpPr>
        <p:spPr>
          <a:xfrm>
            <a:off x="528638" y="471488"/>
            <a:ext cx="4357688" cy="128588"/>
          </a:xfrm>
          <a:prstGeom prst="rect">
            <a:avLst/>
          </a:prstGeom>
          <a:noFill/>
          <a:ln/>
        </p:spPr>
        <p:txBody>
          <a:bodyPr wrap="square" lIns="0" tIns="0" rIns="0" bIns="0" rtlCol="0" anchor="t">
            <a:spAutoFit/>
          </a:bodyPr>
          <a:lstStyle/>
          <a:p>
            <a:pPr marL="0" indent="0" algn="l">
              <a:buNone/>
            </a:pPr>
            <a:r>
              <a:rPr lang="en-US" sz="750" b="1" kern="0" spc="2" dirty="0">
                <a:solidFill>
                  <a:srgbClr val="22E6A8"/>
                </a:solidFill>
                <a:latin typeface="Inter ExtraBold" pitchFamily="34" charset="0"/>
                <a:ea typeface="Inter ExtraBold" pitchFamily="34" charset="-122"/>
                <a:cs typeface="Inter ExtraBold" pitchFamily="34" charset="-120"/>
              </a:rPr>
              <a:t>CIERRE</a:t>
            </a:r>
            <a:endParaRPr lang="en-US" sz="750" dirty="0"/>
          </a:p>
        </p:txBody>
      </p:sp>
      <p:sp>
        <p:nvSpPr>
          <p:cNvPr id="9" name="Text 5"/>
          <p:cNvSpPr/>
          <p:nvPr/>
        </p:nvSpPr>
        <p:spPr>
          <a:xfrm>
            <a:off x="528638" y="785813"/>
            <a:ext cx="4357688" cy="604624"/>
          </a:xfrm>
          <a:prstGeom prst="rect">
            <a:avLst/>
          </a:prstGeom>
          <a:noFill/>
          <a:ln/>
        </p:spPr>
        <p:txBody>
          <a:bodyPr wrap="none" lIns="0" tIns="0" rIns="0" bIns="0" rtlCol="0" anchor="t">
            <a:spAutoFit/>
          </a:bodyPr>
          <a:lstStyle/>
          <a:p>
            <a:pPr marL="0" indent="0" algn="l">
              <a:lnSpc>
                <a:spcPct val="73600"/>
              </a:lnSpc>
              <a:buNone/>
            </a:pPr>
            <a:r>
              <a:rPr lang="en-US" sz="4750" b="1" kern="0" spc="-4" dirty="0">
                <a:solidFill>
                  <a:srgbClr val="E6FBFF"/>
                </a:solidFill>
                <a:latin typeface="Space Grotesk Bold" pitchFamily="34" charset="0"/>
                <a:ea typeface="Space Grotesk Bold" pitchFamily="34" charset="-122"/>
                <a:cs typeface="Space Grotesk Bold" pitchFamily="34" charset="-120"/>
              </a:rPr>
              <a:t>Gracias</a:t>
            </a:r>
            <a:endParaRPr lang="en-US" sz="4750" dirty="0"/>
          </a:p>
        </p:txBody>
      </p:sp>
      <p:sp>
        <p:nvSpPr>
          <p:cNvPr id="10" name="Text 6"/>
          <p:cNvSpPr/>
          <p:nvPr/>
        </p:nvSpPr>
        <p:spPr>
          <a:xfrm>
            <a:off x="528638" y="1633324"/>
            <a:ext cx="4357688" cy="770604"/>
          </a:xfrm>
          <a:prstGeom prst="rect">
            <a:avLst/>
          </a:prstGeom>
          <a:noFill/>
          <a:ln/>
        </p:spPr>
        <p:txBody>
          <a:bodyPr wrap="square" lIns="0" tIns="0" rIns="0" bIns="0" rtlCol="0" anchor="t">
            <a:spAutoFit/>
          </a:bodyPr>
          <a:lstStyle/>
          <a:p>
            <a:pPr marL="0" indent="0" algn="l">
              <a:lnSpc>
                <a:spcPct val="92800"/>
              </a:lnSpc>
              <a:buNone/>
            </a:pPr>
            <a:r>
              <a:rPr lang="en-US" sz="1650" dirty="0">
                <a:solidFill>
                  <a:srgbClr val="22E6A8"/>
                </a:solidFill>
                <a:latin typeface="Space Grotesk Medium" pitchFamily="34" charset="0"/>
                <a:ea typeface="Space Grotesk Medium" pitchFamily="34" charset="-122"/>
                <a:cs typeface="Space Grotesk Medium" pitchFamily="34" charset="-120"/>
              </a:rPr>
              <a:t>NextAgent — porque la confianza digital no debería requerir un doctorado en tecnología.</a:t>
            </a:r>
            <a:endParaRPr lang="en-US" sz="1650" dirty="0"/>
          </a:p>
        </p:txBody>
      </p:sp>
      <p:sp>
        <p:nvSpPr>
          <p:cNvPr id="11" name="Text 7"/>
          <p:cNvSpPr/>
          <p:nvPr/>
        </p:nvSpPr>
        <p:spPr>
          <a:xfrm>
            <a:off x="528638" y="2923161"/>
            <a:ext cx="4067746" cy="520720"/>
          </a:xfrm>
          <a:prstGeom prst="rect">
            <a:avLst/>
          </a:prstGeom>
          <a:noFill/>
          <a:ln/>
        </p:spPr>
        <p:txBody>
          <a:bodyPr wrap="square" lIns="0" tIns="0" rIns="0" bIns="0" rtlCol="0" anchor="t">
            <a:spAutoFit/>
          </a:bodyPr>
          <a:lstStyle/>
          <a:p>
            <a:pPr>
              <a:lnSpc>
                <a:spcPct val="94400"/>
              </a:lnSpc>
            </a:pPr>
            <a:r>
              <a:rPr lang="en-US" sz="1200" b="1" dirty="0" err="1">
                <a:solidFill>
                  <a:srgbClr val="38BDF8"/>
                </a:solidFill>
                <a:latin typeface="Outfit Bold" pitchFamily="34" charset="0"/>
                <a:ea typeface="Outfit Bold" pitchFamily="34" charset="-122"/>
                <a:cs typeface="Outfit Bold" pitchFamily="34" charset="-120"/>
              </a:rPr>
              <a:t>NextAgent</a:t>
            </a:r>
            <a:r>
              <a:rPr lang="en-US" sz="1200" b="1" dirty="0">
                <a:solidFill>
                  <a:srgbClr val="38BDF8"/>
                </a:solidFill>
                <a:latin typeface="Outfit Bold" pitchFamily="34" charset="0"/>
                <a:ea typeface="Outfit Bold" pitchFamily="34" charset="-122"/>
                <a:cs typeface="Outfit Bold" pitchFamily="34" charset="-120"/>
              </a:rPr>
              <a:t>: </a:t>
            </a:r>
            <a:r>
              <a:rPr lang="en-US" sz="1200" b="1" dirty="0" err="1">
                <a:solidFill>
                  <a:srgbClr val="38BDF8"/>
                </a:solidFill>
                <a:latin typeface="Outfit Bold" pitchFamily="34" charset="0"/>
                <a:ea typeface="Outfit Bold" pitchFamily="34" charset="-122"/>
                <a:cs typeface="Outfit Bold" pitchFamily="34" charset="-120"/>
              </a:rPr>
              <a:t>Porque</a:t>
            </a:r>
            <a:r>
              <a:rPr lang="en-US" sz="1200" b="1" dirty="0">
                <a:solidFill>
                  <a:srgbClr val="38BDF8"/>
                </a:solidFill>
                <a:latin typeface="Outfit Bold" pitchFamily="34" charset="0"/>
                <a:ea typeface="Outfit Bold" pitchFamily="34" charset="-122"/>
                <a:cs typeface="Outfit Bold" pitchFamily="34" charset="-120"/>
              </a:rPr>
              <a:t> la </a:t>
            </a:r>
            <a:r>
              <a:rPr lang="en-US" sz="1200" b="1" dirty="0" err="1">
                <a:solidFill>
                  <a:srgbClr val="38BDF8"/>
                </a:solidFill>
                <a:latin typeface="Outfit Bold" pitchFamily="34" charset="0"/>
                <a:ea typeface="Outfit Bold" pitchFamily="34" charset="-122"/>
                <a:cs typeface="Outfit Bold" pitchFamily="34" charset="-120"/>
              </a:rPr>
              <a:t>confianza</a:t>
            </a:r>
            <a:r>
              <a:rPr lang="en-US" sz="1200" b="1" dirty="0">
                <a:solidFill>
                  <a:srgbClr val="38BDF8"/>
                </a:solidFill>
                <a:latin typeface="Outfit Bold" pitchFamily="34" charset="0"/>
                <a:ea typeface="Outfit Bold" pitchFamily="34" charset="-122"/>
                <a:cs typeface="Outfit Bold" pitchFamily="34" charset="-120"/>
              </a:rPr>
              <a:t> digital no </a:t>
            </a:r>
            <a:r>
              <a:rPr lang="en-US" sz="1200" b="1" dirty="0" err="1">
                <a:solidFill>
                  <a:srgbClr val="38BDF8"/>
                </a:solidFill>
                <a:latin typeface="Outfit Bold" pitchFamily="34" charset="0"/>
                <a:ea typeface="Outfit Bold" pitchFamily="34" charset="-122"/>
                <a:cs typeface="Outfit Bold" pitchFamily="34" charset="-120"/>
              </a:rPr>
              <a:t>debería</a:t>
            </a:r>
            <a:r>
              <a:rPr lang="en-US" sz="1200" b="1" dirty="0">
                <a:solidFill>
                  <a:srgbClr val="38BDF8"/>
                </a:solidFill>
                <a:latin typeface="Outfit Bold" pitchFamily="34" charset="0"/>
                <a:ea typeface="Outfit Bold" pitchFamily="34" charset="-122"/>
                <a:cs typeface="Outfit Bold" pitchFamily="34" charset="-120"/>
              </a:rPr>
              <a:t> </a:t>
            </a:r>
            <a:r>
              <a:rPr lang="en-US" sz="1200" b="1" dirty="0" err="1">
                <a:solidFill>
                  <a:srgbClr val="38BDF8"/>
                </a:solidFill>
                <a:latin typeface="Outfit Bold" pitchFamily="34" charset="0"/>
                <a:ea typeface="Outfit Bold" pitchFamily="34" charset="-122"/>
                <a:cs typeface="Outfit Bold" pitchFamily="34" charset="-120"/>
              </a:rPr>
              <a:t>requerir</a:t>
            </a:r>
            <a:r>
              <a:rPr lang="en-US" sz="1200" b="1" dirty="0">
                <a:solidFill>
                  <a:srgbClr val="38BDF8"/>
                </a:solidFill>
                <a:latin typeface="Outfit Bold" pitchFamily="34" charset="0"/>
                <a:ea typeface="Outfit Bold" pitchFamily="34" charset="-122"/>
                <a:cs typeface="Outfit Bold" pitchFamily="34" charset="-120"/>
              </a:rPr>
              <a:t> un </a:t>
            </a:r>
            <a:r>
              <a:rPr lang="en-US" sz="1200" b="1" dirty="0" err="1">
                <a:solidFill>
                  <a:srgbClr val="38BDF8"/>
                </a:solidFill>
                <a:latin typeface="Outfit Bold" pitchFamily="34" charset="0"/>
                <a:ea typeface="Outfit Bold" pitchFamily="34" charset="-122"/>
                <a:cs typeface="Outfit Bold" pitchFamily="34" charset="-120"/>
              </a:rPr>
              <a:t>doctorado</a:t>
            </a:r>
            <a:r>
              <a:rPr lang="en-US" sz="1200" b="1" dirty="0">
                <a:solidFill>
                  <a:srgbClr val="38BDF8"/>
                </a:solidFill>
                <a:latin typeface="Outfit Bold" pitchFamily="34" charset="0"/>
                <a:ea typeface="Outfit Bold" pitchFamily="34" charset="-122"/>
                <a:cs typeface="Outfit Bold" pitchFamily="34" charset="-120"/>
              </a:rPr>
              <a:t> </a:t>
            </a:r>
            <a:r>
              <a:rPr lang="en-US" sz="1200" b="1" dirty="0" err="1">
                <a:solidFill>
                  <a:srgbClr val="38BDF8"/>
                </a:solidFill>
                <a:latin typeface="Outfit Bold" pitchFamily="34" charset="0"/>
                <a:ea typeface="Outfit Bold" pitchFamily="34" charset="-122"/>
                <a:cs typeface="Outfit Bold" pitchFamily="34" charset="-120"/>
              </a:rPr>
              <a:t>en</a:t>
            </a:r>
            <a:r>
              <a:rPr lang="en-US" sz="1200" b="1" dirty="0">
                <a:solidFill>
                  <a:srgbClr val="38BDF8"/>
                </a:solidFill>
                <a:latin typeface="Outfit Bold" pitchFamily="34" charset="0"/>
                <a:ea typeface="Outfit Bold" pitchFamily="34" charset="-122"/>
                <a:cs typeface="Outfit Bold" pitchFamily="34" charset="-120"/>
              </a:rPr>
              <a:t> </a:t>
            </a:r>
            <a:r>
              <a:rPr lang="en-US" sz="1200" b="1" dirty="0" err="1">
                <a:solidFill>
                  <a:srgbClr val="38BDF8"/>
                </a:solidFill>
                <a:latin typeface="Outfit Bold" pitchFamily="34" charset="0"/>
                <a:ea typeface="Outfit Bold" pitchFamily="34" charset="-122"/>
                <a:cs typeface="Outfit Bold" pitchFamily="34" charset="-120"/>
              </a:rPr>
              <a:t>tecnología</a:t>
            </a:r>
            <a:r>
              <a:rPr lang="en-US" sz="1200" b="1" dirty="0">
                <a:solidFill>
                  <a:srgbClr val="38BDF8"/>
                </a:solidFill>
                <a:latin typeface="Outfit Bold" pitchFamily="34" charset="0"/>
                <a:ea typeface="Outfit Bold" pitchFamily="34" charset="-122"/>
                <a:cs typeface="Outfit Bold" pitchFamily="34" charset="-120"/>
              </a:rPr>
              <a:t>.</a:t>
            </a:r>
            <a:endParaRPr lang="en-US" sz="1200" dirty="0"/>
          </a:p>
          <a:p>
            <a:pPr marL="0" indent="0" algn="l">
              <a:lnSpc>
                <a:spcPct val="94400"/>
              </a:lnSpc>
              <a:buNone/>
            </a:pPr>
            <a:r>
              <a:rPr lang="en-US" sz="1200" b="1" dirty="0" smtClean="0">
                <a:solidFill>
                  <a:srgbClr val="00D4FF"/>
                </a:solidFill>
                <a:latin typeface="Inter ExtraBold" pitchFamily="34" charset="0"/>
                <a:ea typeface="Inter ExtraBold" pitchFamily="34" charset="-122"/>
                <a:cs typeface="Inter ExtraBold" pitchFamily="34" charset="-120"/>
              </a:rPr>
              <a:t>.</a:t>
            </a:r>
            <a:endParaRPr lang="en-US" sz="1200" dirty="0"/>
          </a:p>
        </p:txBody>
      </p:sp>
      <p:sp>
        <p:nvSpPr>
          <p:cNvPr id="12" name="Shape 8"/>
          <p:cNvSpPr/>
          <p:nvPr/>
        </p:nvSpPr>
        <p:spPr>
          <a:xfrm>
            <a:off x="5272088" y="600075"/>
            <a:ext cx="3102090" cy="2893219"/>
          </a:xfrm>
          <a:prstGeom prst="rect">
            <a:avLst/>
          </a:prstGeom>
          <a:solidFill>
            <a:srgbClr val="07111F">
              <a:alpha val="2000"/>
            </a:srgbClr>
          </a:solidFill>
          <a:ln/>
        </p:spPr>
      </p:sp>
      <p:sp>
        <p:nvSpPr>
          <p:cNvPr id="13" name="Shape 9"/>
          <p:cNvSpPr/>
          <p:nvPr/>
        </p:nvSpPr>
        <p:spPr>
          <a:xfrm>
            <a:off x="5272088" y="600075"/>
            <a:ext cx="3102090" cy="14288"/>
          </a:xfrm>
          <a:prstGeom prst="rect">
            <a:avLst/>
          </a:prstGeom>
          <a:solidFill>
            <a:srgbClr val="52E2FF"/>
          </a:solidFill>
          <a:ln/>
        </p:spPr>
      </p:sp>
      <p:sp>
        <p:nvSpPr>
          <p:cNvPr id="14" name="Text 10"/>
          <p:cNvSpPr/>
          <p:nvPr/>
        </p:nvSpPr>
        <p:spPr>
          <a:xfrm>
            <a:off x="5472113" y="785813"/>
            <a:ext cx="2744902" cy="192881"/>
          </a:xfrm>
          <a:prstGeom prst="rect">
            <a:avLst/>
          </a:prstGeom>
          <a:noFill/>
          <a:ln/>
        </p:spPr>
        <p:txBody>
          <a:bodyPr wrap="none" lIns="0" tIns="0" rIns="0" bIns="0" rtlCol="0" anchor="t">
            <a:spAutoFit/>
          </a:bodyPr>
          <a:lstStyle/>
          <a:p>
            <a:pPr marL="0" indent="0" algn="l">
              <a:lnSpc>
                <a:spcPct val="86400"/>
              </a:lnSpc>
              <a:buNone/>
            </a:pPr>
            <a:r>
              <a:rPr lang="en-US" sz="1250" b="1" dirty="0">
                <a:solidFill>
                  <a:srgbClr val="00D4FF"/>
                </a:solidFill>
                <a:latin typeface="Space Grotesk Bold" pitchFamily="34" charset="0"/>
                <a:ea typeface="Space Grotesk Bold" pitchFamily="34" charset="-122"/>
                <a:cs typeface="Space Grotesk Bold" pitchFamily="34" charset="-120"/>
              </a:rPr>
              <a:t>Recursos para explorar</a:t>
            </a:r>
            <a:endParaRPr lang="en-US" sz="1250" dirty="0"/>
          </a:p>
        </p:txBody>
      </p:sp>
      <p:sp>
        <p:nvSpPr>
          <p:cNvPr id="15" name="Text 11"/>
          <p:cNvSpPr/>
          <p:nvPr/>
        </p:nvSpPr>
        <p:spPr>
          <a:xfrm>
            <a:off x="5472113" y="1335881"/>
            <a:ext cx="242888" cy="242888"/>
          </a:xfrm>
          <a:prstGeom prst="rect">
            <a:avLst/>
          </a:prstGeom>
          <a:noFill/>
          <a:ln/>
        </p:spPr>
        <p:txBody>
          <a:bodyPr wrap="none" lIns="0" tIns="0" rIns="0" bIns="0" rtlCol="0" anchor="ctr">
            <a:spAutoFit/>
          </a:bodyPr>
          <a:lstStyle/>
          <a:p>
            <a:pPr marL="0" indent="0" algn="ctr">
              <a:buNone/>
            </a:pPr>
            <a:r>
              <a:rPr lang="en-US" sz="900" b="1" dirty="0">
                <a:solidFill>
                  <a:srgbClr val="22E6A8"/>
                </a:solidFill>
                <a:latin typeface="Space Grotesk Bold" pitchFamily="34" charset="0"/>
                <a:ea typeface="Space Grotesk Bold" pitchFamily="34" charset="-122"/>
                <a:cs typeface="Space Grotesk Bold" pitchFamily="34" charset="-120"/>
              </a:rPr>
              <a:t>01</a:t>
            </a:r>
            <a:endParaRPr lang="en-US" sz="900" dirty="0"/>
          </a:p>
        </p:txBody>
      </p:sp>
      <p:sp>
        <p:nvSpPr>
          <p:cNvPr id="16" name="Text 12"/>
          <p:cNvSpPr/>
          <p:nvPr/>
        </p:nvSpPr>
        <p:spPr>
          <a:xfrm>
            <a:off x="5900738" y="1227916"/>
            <a:ext cx="2316277" cy="112514"/>
          </a:xfrm>
          <a:prstGeom prst="rect">
            <a:avLst/>
          </a:prstGeom>
          <a:noFill/>
          <a:ln/>
        </p:spPr>
        <p:txBody>
          <a:bodyPr wrap="square" lIns="0" tIns="0" rIns="0" bIns="0" rtlCol="0" anchor="t">
            <a:spAutoFit/>
          </a:bodyPr>
          <a:lstStyle/>
          <a:p>
            <a:pPr marL="0" indent="0" algn="l">
              <a:buNone/>
            </a:pPr>
            <a:r>
              <a:rPr lang="en-US" sz="650" b="1" kern="0" spc="1" dirty="0">
                <a:solidFill>
                  <a:srgbClr val="22E6A8"/>
                </a:solidFill>
                <a:latin typeface="Inter ExtraBold" pitchFamily="34" charset="0"/>
                <a:ea typeface="Inter ExtraBold" pitchFamily="34" charset="-122"/>
                <a:cs typeface="Inter ExtraBold" pitchFamily="34" charset="-120"/>
              </a:rPr>
              <a:t>PLATAFORMA EN VIVO</a:t>
            </a:r>
            <a:endParaRPr lang="en-US" sz="650" dirty="0"/>
          </a:p>
        </p:txBody>
      </p:sp>
      <p:sp>
        <p:nvSpPr>
          <p:cNvPr id="17" name="Text 13"/>
          <p:cNvSpPr/>
          <p:nvPr/>
        </p:nvSpPr>
        <p:spPr>
          <a:xfrm>
            <a:off x="5900738" y="1390436"/>
            <a:ext cx="2316277" cy="296298"/>
          </a:xfrm>
          <a:prstGeom prst="rect">
            <a:avLst/>
          </a:prstGeom>
          <a:noFill/>
          <a:ln/>
        </p:spPr>
        <p:txBody>
          <a:bodyPr wrap="square" lIns="0" tIns="0" rIns="0" bIns="0" rtlCol="0" anchor="t">
            <a:spAutoFit/>
          </a:bodyPr>
          <a:lstStyle/>
          <a:p>
            <a:pPr marL="0" indent="0" algn="l">
              <a:lnSpc>
                <a:spcPct val="97600"/>
              </a:lnSpc>
              <a:buNone/>
            </a:pPr>
            <a:r>
              <a:rPr lang="en-US" sz="900" dirty="0">
                <a:solidFill>
                  <a:srgbClr val="E6FBFF"/>
                </a:solidFill>
                <a:latin typeface="Space Grotesk Medium" pitchFamily="34" charset="0"/>
                <a:ea typeface="Space Grotesk Medium" pitchFamily="34" charset="-122"/>
                <a:cs typeface="Space Grotesk Medium" pitchFamily="34" charset="-120"/>
              </a:rPr>
              <a:t>persona-ai.team-g.teams.eafit.testnet.verana.network</a:t>
            </a:r>
            <a:endParaRPr lang="en-US" sz="900" dirty="0"/>
          </a:p>
        </p:txBody>
      </p:sp>
      <p:sp>
        <p:nvSpPr>
          <p:cNvPr id="18" name="Shape 14"/>
          <p:cNvSpPr/>
          <p:nvPr/>
        </p:nvSpPr>
        <p:spPr>
          <a:xfrm>
            <a:off x="5472113" y="1764506"/>
            <a:ext cx="2744902" cy="614363"/>
          </a:xfrm>
          <a:prstGeom prst="rect">
            <a:avLst/>
          </a:prstGeom>
          <a:solidFill>
            <a:srgbClr val="000000">
              <a:alpha val="0"/>
            </a:srgbClr>
          </a:solidFill>
          <a:ln/>
        </p:spPr>
      </p:sp>
      <p:sp>
        <p:nvSpPr>
          <p:cNvPr id="19" name="Shape 15"/>
          <p:cNvSpPr/>
          <p:nvPr/>
        </p:nvSpPr>
        <p:spPr>
          <a:xfrm>
            <a:off x="5472113" y="1764506"/>
            <a:ext cx="2744902" cy="7144"/>
          </a:xfrm>
          <a:prstGeom prst="rect">
            <a:avLst/>
          </a:prstGeom>
          <a:solidFill>
            <a:srgbClr val="F3F6F9"/>
          </a:solidFill>
          <a:ln/>
        </p:spPr>
      </p:sp>
      <p:sp>
        <p:nvSpPr>
          <p:cNvPr id="20" name="Text 16"/>
          <p:cNvSpPr/>
          <p:nvPr/>
        </p:nvSpPr>
        <p:spPr>
          <a:xfrm>
            <a:off x="5472113" y="1950244"/>
            <a:ext cx="242888" cy="242888"/>
          </a:xfrm>
          <a:prstGeom prst="rect">
            <a:avLst/>
          </a:prstGeom>
          <a:noFill/>
          <a:ln/>
        </p:spPr>
        <p:txBody>
          <a:bodyPr wrap="none" lIns="0" tIns="0" rIns="0" bIns="0" rtlCol="0" anchor="ctr">
            <a:spAutoFit/>
          </a:bodyPr>
          <a:lstStyle/>
          <a:p>
            <a:pPr marL="0" indent="0" algn="ctr">
              <a:buNone/>
            </a:pPr>
            <a:r>
              <a:rPr lang="en-US" sz="900" b="1" dirty="0">
                <a:solidFill>
                  <a:srgbClr val="22E6A8"/>
                </a:solidFill>
                <a:latin typeface="Space Grotesk Bold" pitchFamily="34" charset="0"/>
                <a:ea typeface="Space Grotesk Bold" pitchFamily="34" charset="-122"/>
                <a:cs typeface="Space Grotesk Bold" pitchFamily="34" charset="-120"/>
              </a:rPr>
              <a:t>02</a:t>
            </a:r>
            <a:endParaRPr lang="en-US" sz="900" dirty="0"/>
          </a:p>
        </p:txBody>
      </p:sp>
      <p:sp>
        <p:nvSpPr>
          <p:cNvPr id="21" name="Text 17"/>
          <p:cNvSpPr/>
          <p:nvPr/>
        </p:nvSpPr>
        <p:spPr>
          <a:xfrm>
            <a:off x="5900738" y="1842278"/>
            <a:ext cx="2316277" cy="112514"/>
          </a:xfrm>
          <a:prstGeom prst="rect">
            <a:avLst/>
          </a:prstGeom>
          <a:noFill/>
          <a:ln/>
        </p:spPr>
        <p:txBody>
          <a:bodyPr wrap="square" lIns="0" tIns="0" rIns="0" bIns="0" rtlCol="0" anchor="t">
            <a:spAutoFit/>
          </a:bodyPr>
          <a:lstStyle/>
          <a:p>
            <a:pPr marL="0" indent="0" algn="l">
              <a:buNone/>
            </a:pPr>
            <a:r>
              <a:rPr lang="en-US" sz="650" b="1" kern="0" spc="1" dirty="0">
                <a:solidFill>
                  <a:srgbClr val="22E6A8"/>
                </a:solidFill>
                <a:latin typeface="Inter ExtraBold" pitchFamily="34" charset="0"/>
                <a:ea typeface="Inter ExtraBold" pitchFamily="34" charset="-122"/>
                <a:cs typeface="Inter ExtraBold" pitchFamily="34" charset="-120"/>
              </a:rPr>
              <a:t>CÓDIGO FUENTE</a:t>
            </a:r>
            <a:endParaRPr lang="en-US" sz="650" dirty="0"/>
          </a:p>
        </p:txBody>
      </p:sp>
      <p:sp>
        <p:nvSpPr>
          <p:cNvPr id="22" name="Text 18"/>
          <p:cNvSpPr/>
          <p:nvPr/>
        </p:nvSpPr>
        <p:spPr>
          <a:xfrm>
            <a:off x="5900738" y="2004799"/>
            <a:ext cx="2316277" cy="296298"/>
          </a:xfrm>
          <a:prstGeom prst="rect">
            <a:avLst/>
          </a:prstGeom>
          <a:noFill/>
          <a:ln/>
        </p:spPr>
        <p:txBody>
          <a:bodyPr wrap="square" lIns="0" tIns="0" rIns="0" bIns="0" rtlCol="0" anchor="t">
            <a:spAutoFit/>
          </a:bodyPr>
          <a:lstStyle/>
          <a:p>
            <a:pPr marL="0" indent="0" algn="l">
              <a:lnSpc>
                <a:spcPct val="97600"/>
              </a:lnSpc>
              <a:buNone/>
            </a:pPr>
            <a:r>
              <a:rPr lang="en-US" sz="900" dirty="0">
                <a:solidFill>
                  <a:srgbClr val="E6FBFF"/>
                </a:solidFill>
                <a:latin typeface="Space Grotesk Medium" pitchFamily="34" charset="0"/>
                <a:ea typeface="Space Grotesk Medium" pitchFamily="34" charset="-122"/>
                <a:cs typeface="Space Grotesk Medium" pitchFamily="34" charset="-120"/>
              </a:rPr>
              <a:t>github.com/alejopp/agent-challenge-eafit</a:t>
            </a:r>
            <a:endParaRPr lang="en-US" sz="900" dirty="0"/>
          </a:p>
        </p:txBody>
      </p:sp>
      <p:sp>
        <p:nvSpPr>
          <p:cNvPr id="24" name="Shape 20"/>
          <p:cNvSpPr/>
          <p:nvPr/>
        </p:nvSpPr>
        <p:spPr>
          <a:xfrm>
            <a:off x="5472113" y="2378869"/>
            <a:ext cx="2744902" cy="7144"/>
          </a:xfrm>
          <a:prstGeom prst="rect">
            <a:avLst/>
          </a:prstGeom>
          <a:solidFill>
            <a:srgbClr val="F3F6F9"/>
          </a:solidFill>
          <a:ln/>
        </p:spPr>
      </p:sp>
      <p:sp>
        <p:nvSpPr>
          <p:cNvPr id="28" name="Text 24"/>
          <p:cNvSpPr/>
          <p:nvPr/>
        </p:nvSpPr>
        <p:spPr>
          <a:xfrm>
            <a:off x="528638" y="4037642"/>
            <a:ext cx="5093494" cy="183226"/>
          </a:xfrm>
          <a:prstGeom prst="rect">
            <a:avLst/>
          </a:prstGeom>
          <a:noFill/>
          <a:ln/>
        </p:spPr>
        <p:txBody>
          <a:bodyPr wrap="none" lIns="0" tIns="0" rIns="0" bIns="0" rtlCol="0" anchor="t">
            <a:spAutoFit/>
          </a:bodyPr>
          <a:lstStyle/>
          <a:p>
            <a:pPr marL="0" indent="0" algn="l">
              <a:lnSpc>
                <a:spcPct val="108000"/>
              </a:lnSpc>
              <a:buNone/>
            </a:pPr>
            <a:r>
              <a:rPr lang="en-US" sz="950" b="1" dirty="0">
                <a:solidFill>
                  <a:srgbClr val="E6FBFF"/>
                </a:solidFill>
                <a:latin typeface="Inter ExtraBold" pitchFamily="34" charset="0"/>
                <a:ea typeface="Inter ExtraBold" pitchFamily="34" charset="-122"/>
                <a:cs typeface="Inter ExtraBold" pitchFamily="34" charset="-120"/>
              </a:rPr>
              <a:t>Oscar David Rojas Bedoya · Yesid Alejandro Peláez Posada</a:t>
            </a:r>
            <a:endParaRPr lang="en-US" sz="950" dirty="0"/>
          </a:p>
        </p:txBody>
      </p:sp>
      <p:sp>
        <p:nvSpPr>
          <p:cNvPr id="29" name="Text 25"/>
          <p:cNvSpPr/>
          <p:nvPr/>
        </p:nvSpPr>
        <p:spPr>
          <a:xfrm>
            <a:off x="528638" y="4249443"/>
            <a:ext cx="5093494" cy="163943"/>
          </a:xfrm>
          <a:prstGeom prst="rect">
            <a:avLst/>
          </a:prstGeom>
          <a:noFill/>
          <a:ln/>
        </p:spPr>
        <p:txBody>
          <a:bodyPr wrap="none" lIns="0" tIns="0" rIns="0" bIns="0" rtlCol="0" anchor="t">
            <a:spAutoFit/>
          </a:bodyPr>
          <a:lstStyle/>
          <a:p>
            <a:pPr marL="0" indent="0" algn="l">
              <a:lnSpc>
                <a:spcPct val="108000"/>
              </a:lnSpc>
              <a:buNone/>
            </a:pPr>
            <a:r>
              <a:rPr lang="en-US" sz="900" dirty="0">
                <a:solidFill>
                  <a:srgbClr val="B7C8D9"/>
                </a:solidFill>
                <a:latin typeface="Inter" pitchFamily="34" charset="0"/>
                <a:ea typeface="Inter" pitchFamily="34" charset="-122"/>
                <a:cs typeface="Inter" pitchFamily="34" charset="-120"/>
              </a:rPr>
              <a:t>Beca IA Ser ANDI · NODO EAFIT · Verana Foundation · Mayo 2026</a:t>
            </a:r>
            <a:endParaRPr lang="en-US" sz="900" dirty="0"/>
          </a:p>
        </p:txBody>
      </p:sp>
      <p:sp>
        <p:nvSpPr>
          <p:cNvPr id="30" name="Shape 26"/>
          <p:cNvSpPr/>
          <p:nvPr/>
        </p:nvSpPr>
        <p:spPr>
          <a:xfrm>
            <a:off x="5893594" y="4068366"/>
            <a:ext cx="2750344" cy="314325"/>
          </a:xfrm>
          <a:prstGeom prst="rect">
            <a:avLst/>
          </a:prstGeom>
          <a:solidFill>
            <a:srgbClr val="22E6A8"/>
          </a:solidFill>
          <a:ln/>
        </p:spPr>
      </p:sp>
      <p:sp>
        <p:nvSpPr>
          <p:cNvPr id="31" name="Text 27"/>
          <p:cNvSpPr/>
          <p:nvPr/>
        </p:nvSpPr>
        <p:spPr>
          <a:xfrm>
            <a:off x="5893594" y="4068366"/>
            <a:ext cx="2750344" cy="314325"/>
          </a:xfrm>
          <a:prstGeom prst="rect">
            <a:avLst/>
          </a:prstGeom>
          <a:noFill/>
          <a:ln/>
        </p:spPr>
        <p:txBody>
          <a:bodyPr wrap="square" lIns="0" tIns="0" rIns="0" bIns="0" rtlCol="0" anchor="ctr">
            <a:spAutoFit/>
          </a:bodyPr>
          <a:lstStyle/>
          <a:p>
            <a:pPr marL="0" indent="0" algn="ctr">
              <a:buNone/>
            </a:pPr>
            <a:r>
              <a:rPr lang="en-US" sz="900" b="1" dirty="0">
                <a:solidFill>
                  <a:srgbClr val="07111F"/>
                </a:solidFill>
                <a:latin typeface="Space Grotesk Bold" pitchFamily="34" charset="0"/>
                <a:ea typeface="Space Grotesk Bold" pitchFamily="34" charset="-122"/>
                <a:cs typeface="Space Grotesk Bold" pitchFamily="34" charset="-120"/>
              </a:rPr>
              <a:t>Agentes IA verificables</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2915</Words>
  <Application>Microsoft Office PowerPoint</Application>
  <PresentationFormat>Presentación en pantalla (16:9)</PresentationFormat>
  <Paragraphs>273</Paragraphs>
  <Slides>11</Slides>
  <Notes>11</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11</vt:i4>
      </vt:variant>
    </vt:vector>
  </HeadingPairs>
  <TitlesOfParts>
    <vt:vector size="21" baseType="lpstr">
      <vt:lpstr>Arial</vt:lpstr>
      <vt:lpstr>Calibri</vt:lpstr>
      <vt:lpstr>Inter</vt:lpstr>
      <vt:lpstr>Inter Bold</vt:lpstr>
      <vt:lpstr>Inter ExtraBold</vt:lpstr>
      <vt:lpstr>Inter Medium</vt:lpstr>
      <vt:lpstr>Outfit Bold</vt:lpstr>
      <vt:lpstr>Space Grotesk Bold</vt:lpstr>
      <vt:lpstr>Space Grotesk Medium</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Oscar Rojas</cp:lastModifiedBy>
  <cp:revision>4</cp:revision>
  <dcterms:created xsi:type="dcterms:W3CDTF">2026-05-12T04:58:56Z</dcterms:created>
  <dcterms:modified xsi:type="dcterms:W3CDTF">2026-05-13T04:02:51Z</dcterms:modified>
</cp:coreProperties>
</file>